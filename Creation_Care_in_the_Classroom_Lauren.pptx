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1.jpg" ContentType="image/jpg"/>
  <Override PartName="/ppt/media/image-11-1.jpg" ContentType="image/jpg"/>
  <Override PartName="/ppt/media/image-16-1.jpg" ContentType="image/jpg"/>
  <Override PartName="/ppt/media/image-24-1.jpg" ContentType="image/jp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84" r:id="rId35"/>
    <p:sldId id="265" r:id="rId11"/>
    <p:sldId id="266" r:id="rId12"/>
    <p:sldId id="281" r:id="rId32"/>
    <p:sldId id="267" r:id="rId13"/>
    <p:sldId id="268" r:id="rId14"/>
    <p:sldId id="269" r:id="rId15"/>
    <p:sldId id="270" r:id="rId16"/>
    <p:sldId id="271" r:id="rId17"/>
    <p:sldId id="272" r:id="rId18"/>
    <p:sldId id="273" r:id="rId19"/>
    <p:sldId id="274" r:id="rId20"/>
    <p:sldId id="275" r:id="rId21"/>
    <p:sldId id="276" r:id="rId22"/>
    <p:sldId id="285" r:id="rId36"/>
    <p:sldId id="277" r:id="rId23"/>
    <p:sldId id="278" r:id="rId24"/>
    <p:sldId id="282" r:id="rId33"/>
    <p:sldId id="279" r:id="rId25"/>
    <p:sldId id="280" r:id="rId26"/>
    <p:sldId id="283" r:id="rId34"/>
  </p:sldIdLst>
  <p:notesMasterIdLst>
    <p:notesMasterId r:id="rId27"/>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1.xml"/><Relationship Id="rId12" Type="http://schemas.openxmlformats.org/officeDocument/2006/relationships/slide" Target="slides/slide12.xml"/><Relationship Id="rId13" Type="http://schemas.openxmlformats.org/officeDocument/2006/relationships/slide" Target="slides/slide14.xml"/><Relationship Id="rId14" Type="http://schemas.openxmlformats.org/officeDocument/2006/relationships/slide" Target="slides/slide15.xml"/><Relationship Id="rId15" Type="http://schemas.openxmlformats.org/officeDocument/2006/relationships/slide" Target="slides/slide16.xml"/><Relationship Id="rId16" Type="http://schemas.openxmlformats.org/officeDocument/2006/relationships/slide" Target="slides/slide17.xml"/><Relationship Id="rId17" Type="http://schemas.openxmlformats.org/officeDocument/2006/relationships/slide" Target="slides/slide18.xml"/><Relationship Id="rId18" Type="http://schemas.openxmlformats.org/officeDocument/2006/relationships/slide" Target="slides/slide19.xml"/><Relationship Id="rId19" Type="http://schemas.openxmlformats.org/officeDocument/2006/relationships/slide" Target="slides/slide20.xml"/><Relationship Id="rId20" Type="http://schemas.openxmlformats.org/officeDocument/2006/relationships/slide" Target="slides/slide21.xml"/><Relationship Id="rId21" Type="http://schemas.openxmlformats.org/officeDocument/2006/relationships/slide" Target="slides/slide22.xml"/><Relationship Id="rId22" Type="http://schemas.openxmlformats.org/officeDocument/2006/relationships/slide" Target="slides/slide23.xml"/><Relationship Id="rId23" Type="http://schemas.openxmlformats.org/officeDocument/2006/relationships/slide" Target="slides/slide25.xml"/><Relationship Id="rId24" Type="http://schemas.openxmlformats.org/officeDocument/2006/relationships/slide" Target="slides/slide26.xml"/><Relationship Id="rId25" Type="http://schemas.openxmlformats.org/officeDocument/2006/relationships/slide" Target="slides/slide28.xml"/><Relationship Id="rId26" Type="http://schemas.openxmlformats.org/officeDocument/2006/relationships/slide" Target="slides/slide29.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 Id="rId32" Type="http://schemas.openxmlformats.org/officeDocument/2006/relationships/slide" Target="slides/slide13.xml"/><Relationship Id="rId33" Type="http://schemas.openxmlformats.org/officeDocument/2006/relationships/slide" Target="slides/slide27.xml"/><Relationship Id="rId34" Type="http://schemas.openxmlformats.org/officeDocument/2006/relationships/slide" Target="slides/slide30.xml"/><Relationship Id="rId35" Type="http://schemas.openxmlformats.org/officeDocument/2006/relationships/slide" Target="slides/slide10.xml"/><Relationship Id="rId36" Type="http://schemas.openxmlformats.org/officeDocument/2006/relationships/slide" Target="slides/slide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MAC PRESENTER VIEW
PowerPoint for Mac: Slide Show → Presenter View  (or Option + Return). Notes appear on the laptop; slides go to the projector.
Keynote: Open the .pptx, then Play → Play Slideshow in Presenter Display. Prefer keeping this file in PowerPoint if she has Microsoft 365.
OPENING (0:00–1:00)
Welcome colleagues. Introduce yourself briefly. Do not read the title slide. Say:
"This year the Church has given us a rare gift: a special Jubilee Year of St. Francis. We are going to spend the next 50 minutes turning that gift into something we can actually use on Monday morning with K–5 children."
Then invite them to stand or remain seated for a short prayer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PRAYER (1:00–3:30)
Read the Song slowly. Pause after each stanza. Invite a one-sentence silent thank-you for something created that each teacher noticed this week.
Close with the short prayer on the slide.
Point out: Francis wrote this while ill and nearly blind. Praise was not a luxury for him. It was how he saw the world.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OUTCOMES (3:30–5:00)
Read the four outcomes quickly. Emphasize the last one: this is not a science unit bolted onto religion. It is Catholic formation. Creation care is a virtue, not an extracurricular.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AGENDA (5:00–6:00)
Tell teachers they will talk, not only listen. There are two short turn-and-talks later. Invite them to jot one idea they can try this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JUBILEE (6:00–9:00)
Keep this short. Teachers need the hook, not a history lecture.
Key line to say: "This is not an environmental awareness week. It is a year the Church has set aside so we can become more like Francis—poor in spirit, at peace, and at home with God’s creatures."
Mention Oct 4, 2026: Feast of St. Francis and the 800th anniversary of his passing. Perfect school liturgy 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FRANCIS'S VISION (9:00–12:00)
Tell one child-ready story: preaching to the birds, or the wolf of Gubbio as a story of making peace.
Caution: do not turn Francis into a garden gnome. He was a radical disciple of Jesus. His love of creatures flowed from his love of the Crucified.
Turn-and-talk (60 seconds): "Which of these four is already alive in your classroom?"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THREAD (12:00–15:00)
Read LS 217 aloud. This is the warrant for the whole session.
Mention the new Mass for the Care of Creation, confirmed in English in August 2026. Schools can ask pastors about using it during Season of Creation.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BEST PRACTICE (15:00–18:00)
Name sources lightly: USCCB on stewardship, NCEA guidance on sustainability education, Catholic Climate Covenant, Alliance for Catholic Education (Notre Dame).
The distinctive Catholic contribution is theological: creation is gift, the human person has dignity, the poor suffer first, and hope is a virtue.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PEDAGOGY (18:00–21:00)
This is the spine of the rest of the session. Every activity later maps to one of these four.
Example: a first-grade nature walk is Wonder. The thank-you prayer on the rug is Gratitude. Watering the class plant is Stewardship. Making a seed bomb for a bare patch is 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SEVEN GOALS (21:00–23:00)
Do not teach all seven to kindergartners by name. Teachers use the framework; children meet it as stories and habits.
For K–2 emphasize 1, 5, and 6. For 3–5 add 2 and 4. Goals 3 and 7 belong more to faculty and school leadership, with student voice.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K–2 (23:00–27:00)
Spend time here. Most teachers over-explain and under-experience.
Practical: a "creation shelf" with pinecones, shells, seed pods, a small plant, and a card that says "God looked at it and saw that it was good."
Avoid graphic climate imagery with this 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GRADES 3–5 (27:00–31:00)
Upper elementary can handle cause and effect. They still need beauty first.
Good project: a two-week water inquiry during September. Map school water use. Interview the custodian. Write a class covenant. Present at assembly on Oct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ROUTINES (31:00–33:30)
The point: teachers are already busy. Do not add a new program. Attach creation care to rituals that already exist.
Ask: "Which daily ritual in your room could carry one sentence of praise or one act of care?"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CROSS-CURRICULAR (33:30–36:00)
Give one concrete example per subject if time is short.
Math: 25 children leave the tap running 10 extra seconds. That is a measurable, moral, and mathematical problem.
Religion: an examination of conscience can include "Did I treat God’s world as a gift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PRAYER (36:00–38:00)
This is often the missing piece in "green school" programs. Catholic schools already have the language.
Offer a sample petition: "For Sister Water, that we may keep her clean and share her with those who thirst, we pray to the Lord."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SEASON OF CREATION (38:00–40:30)
This is the most time-sensitive slide. Season of Creation begins September 1.
Give teachers a 4-week skeleton they can drop into September plans.
Scripture: Ezekiel 47 — water from the temple growing deeper, bringing life. Jesus as living water in John 4 can be used with grades 3–5.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LOW COST (40:30–42:00)
Relieve the objection "we do not have money or a garden." Francis had neither. He had attention.
The repair corner is surprisingly powerful with 3–5. It teaches resistance to throwaway culture in a way a poster cannot.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FAMILIES (42:00–43:30)
Pastoral tone matters. Some families are already stretched. Creation care at home must feel like a gift, not a grade.
Offer a sample newsletter paragraph in Q&amp;A if asked.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GUARDRAILS (43:30–45:00)
This slide earns trust. Teachers have seen programs that felt ideological or unsustainable.
Say plainly: Catholic creation care is older than the modern environmental movement. It is Genesis, the Psalms, Francis, and the social encyclicals.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BANK (45:00–46:00)
Do not read every row. Point to two: Sister Water tray for primary, Living Water map for 3–5. Invite teachers to star one 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30-DAY PLAN (46:00–47:00)
This is the "do this after the workshop" slide. Encourage teachers to pair up across grade levels so K–2 and 3–5 share a feast-day moment on Oct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RESOURCES (47:00–47:45)</a:t>
            </a:r>
          </a:p>
          <a:p>
            <a:r>
              <a:t>All six titles and web addresses on this slide are live links. After the session, send the PowerPoint file so teachers can click through.</a:t>
            </a:r>
          </a:p>
          <a:p>
            <a:r>
              <a:t>Mention two by name: God’s Creation Waits (printable, grades 2–5) and the New York Archdiocese plans (already grade-banded).</a:t>
            </a:r>
          </a:p>
          <a:p>
            <a:r>
              <a:t>Links:</a:t>
            </a:r>
          </a:p>
          <a:p>
            <a:r>
              <a:t>Catholic Climate Covenant — https://catholicclimatecovenant.org/resources/gods-creation-waits/</a:t>
            </a:r>
          </a:p>
          <a:p>
            <a:r>
              <a:t>Archdiocese of New York — https://www.archny.org/caring-for-creation</a:t>
            </a:r>
          </a:p>
          <a:p>
            <a:r>
              <a:t>ACE Notre Dame — https://ace.nd.edu/blog/how-incorporate-popes-encyclical-laudato-si-your-classroom</a:t>
            </a:r>
          </a:p>
          <a:p>
            <a:r>
              <a:t>Caritas primary LS Goals — https://www.caritas.org.au/resources/school-resources/the-laudato-si-goals-primary/</a:t>
            </a:r>
          </a:p>
          <a:p>
            <a:r>
              <a:t>USCCB Mass texts — https://www.usccb.org/resources/mass-for-the-care-of-creation</a:t>
            </a:r>
          </a:p>
          <a:p>
            <a:r>
              <a:t>Season of Creation 2026 — https://seasonofcreation.org/resources/</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PLEDGE (47:45–48:30)
This is adapted from the Catholic Climate Covenant St. Francis Pledge into child language.
Invite teachers to copy it, illustrate it with the class, and sign it on Oct 4.
Adult version for faculty: pray, learn, assess, act, advocate.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(48:30–49:15)
Read the title line. Pause. Then the last paragraph.
If time, ask each teacher to write one sentence: "By the Feast of St. Francis my class will…" and pair-share.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Q&amp;A (49:15–50:00+)</a:t>
            </a:r>
          </a:p>
          <a:p>
            <a:r>
              <a:t>Hold questions here. If none come, prompt:</a:t>
            </a:r>
          </a:p>
          <a:p>
            <a:r>
              <a:t>- What is one barrier in your room?</a:t>
            </a:r>
          </a:p>
          <a:p>
            <a:r>
              <a:t>- How might specials teachers join this?</a:t>
            </a:r>
          </a:p>
          <a:p>
            <a:r>
              <a:t>- What would Oct 4 look like schoolwide?</a:t>
            </a:r>
          </a:p>
          <a:p>
            <a:r>
              <a:t>Thank them. End on the verse, not on logistics.</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SCHOOL GARDEN (show 60–90 seconds)</a:t>
            </a:r>
          </a:p>
          <a:p>
            <a:r>
              <a:t>These photographs are from Lauren’s campus this week — planting, watering, and composting.</a:t>
            </a:r>
          </a:p>
          <a:p>
            <a:r>
              <a:t>Do not narrate every photo. Say: "This is what Wonder, Stewardship, and Action look like with real children, in a real Catholic school garden."</a:t>
            </a:r>
          </a:p>
          <a:p>
            <a:r>
              <a:t>Invite teachers to notice the painted planter boxes, the gloves, the mixed ages. Culture is visible.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QUOTE (45 seconds)</a:t>
            </a:r>
          </a:p>
          <a:p>
            <a:r>
              <a:t>Lauren asked for this line. Read it once. Then the bridge sentence.</a:t>
            </a:r>
          </a:p>
          <a:p>
            <a:r>
              <a:t>The point is action now — the fourth movement of the pedagogy.</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SURVEY CLOSE</a:t>
            </a:r>
          </a:p>
          <a:p>
            <a:r>
              <a:t>Leave this slide up. Do not click away until people have scanned.</a:t>
            </a:r>
          </a:p>
          <a:p>
            <a:r>
              <a:t>Say: Thank you. Before you go, please take the session survey. Scan the code or tap the link if you have the file.</a:t>
            </a:r>
          </a:p>
          <a:p>
            <a:r>
              <a:t>One minute. Then we are done.</a:t>
            </a:r>
          </a:p>
          <a:p>
            <a:r>
              <a:t>URL: https://docs.google.com/forms/d/e/1FAIpQLSd5lC1_X4yT2Uja4ZbCoZG7He5HpTSp-irsQlJRoglL8VqGHA/viewform</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 Id="rId4" Type="http://schemas.openxmlformats.org/officeDocument/2006/relationships/image" Target="../media/image1.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jpg"/><Relationship Id="rId3" Type="http://schemas.openxmlformats.org/officeDocument/2006/relationships/image" Target="../media/image5.jpg"/><Relationship Id="rId4" Type="http://schemas.openxmlformats.org/officeDocument/2006/relationships/image" Target="../media/image6.jpg"/><Relationship Id="rId5" Type="http://schemas.openxmlformats.org/officeDocument/2006/relationships/image" Target="../media/image7.jpg"/><Relationship Id="rId6" Type="http://schemas.openxmlformats.org/officeDocument/2006/relationships/image" Target="../media/image8.jpg"/><Relationship Id="rId7" Type="http://schemas.openxmlformats.org/officeDocument/2006/relationships/image" Target="../media/image9.jpg"/><Relationship Id="rId8" Type="http://schemas.openxmlformats.org/officeDocument/2006/relationships/notesSlide" Target="../notesSlides/notesSlide26.xml"/><Relationship Id="rId9" Type="http://schemas.openxmlformats.org/officeDocument/2006/relationships/image" Target="../media/image11.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slideLayout" Target="../slideLayouts/slideLayout1.xml"/><Relationship Id="rId8" Type="http://schemas.openxmlformats.org/officeDocument/2006/relationships/notesSlide" Target="../notesSlides/notesSlide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8.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1.xml"/><Relationship Id="rId3" Type="http://schemas.openxmlformats.org/officeDocument/2006/relationships/notesSlide" Target="../notesSlides/notesSlide16.xml"/><Relationship Id="rId4" Type="http://schemas.openxmlformats.org/officeDocument/2006/relationships/image" Target="../media/image2.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docs.google.com/document/d/1lxKnUV3jAje_Xp5rDhezzMrhcH8zLNHFr1CAe7uhkCI/edit?usp=sharing" TargetMode="External"/><Relationship Id="rId3" Type="http://schemas.openxmlformats.org/officeDocument/2006/relationships/hyperlink" Target="https://drive.google.com/file/d/1ZarUcRrpQJpT_nyO3-cE_l_VhTiPBwKM/view?usp=sharing"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hyperlink" Target="https://catholicclimatecovenant.org/resources/gods-creation-waits/" TargetMode="External"/><Relationship Id="rId4" Type="http://schemas.openxmlformats.org/officeDocument/2006/relationships/hyperlink" Target="https://www.archny.org/caring-for-creation" TargetMode="External"/><Relationship Id="rId5" Type="http://schemas.openxmlformats.org/officeDocument/2006/relationships/hyperlink" Target="https://ace.nd.edu/blog/how-incorporate-popes-encyclical-laudato-si-your-classroom" TargetMode="External"/><Relationship Id="rId6" Type="http://schemas.openxmlformats.org/officeDocument/2006/relationships/hyperlink" Target="https://www.caritas.org.au/resources/school-resources/the-laudato-si-goals-primary/" TargetMode="External"/><Relationship Id="rId7" Type="http://schemas.openxmlformats.org/officeDocument/2006/relationships/hyperlink" Target="https://www.usccb.org/resources/mass-for-the-care-of-creation" TargetMode="External"/><Relationship Id="rId8" Type="http://schemas.openxmlformats.org/officeDocument/2006/relationships/hyperlink" Target="https://seasonofcreation.org/resources/"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0.jpg"/><Relationship Id="rId3" Type="http://schemas.openxmlformats.org/officeDocument/2006/relationships/notesSlide" Target="../notesSlides/notesSlide27.xml"/><Relationship Id="rId4" Type="http://schemas.openxmlformats.org/officeDocument/2006/relationships/image" Target="../media/image12.jpg"/></Relationships>
</file>

<file path=ppt/slides/_rels/slide28.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1.xml"/><Relationship Id="rId3" Type="http://schemas.openxmlformats.org/officeDocument/2006/relationships/notesSlide" Target="../notesSlides/notesSlide24.xml"/><Relationship Id="rId4" Type="http://schemas.openxmlformats.org/officeDocument/2006/relationships/image" Target="../media/image3.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docs.google.com/forms/d/e/1FAIpQLSd5lC1_X4yT2Uja4ZbCoZG7He5HpTSp-irsQlJRoglL8VqGHA/viewform" TargetMode="External"/><Relationship Id="rId3" Type="http://schemas.openxmlformats.org/officeDocument/2006/relationships/image" Target="../media/image13.png"/><Relationship Id="rId4"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261C"/>
        </a:solidFill>
      </p:bgPr>
    </p:bg>
    <p:spTree>
      <p:nvGrpSpPr>
        <p:cNvPr id="1" name=""/>
        <p:cNvGrpSpPr/>
        <p:nvPr/>
      </p:nvGrpSpPr>
      <p:grpSpPr>
        <a:xfrm>
          <a:off x="0" y="0"/>
          <a:ext cx="0" cy="0"/>
          <a:chOff x="0" y="0"/>
          <a:chExt cx="0" cy="0"/>
        </a:xfrm>
      </p:grpSpPr>
      <p:pic>
        <p:nvPicPr>
          <p:cNvPr id="2" name="Image 0" descr="/home/workdir/artifacts/imagine_images/5VZhd.jpg">    </p:cNvPr>
          <p:cNvPicPr>
            <a:picLocks noChangeAspect="1"/>
          </p:cNvPicPr>
          <p:nvPr/>
        </p:nvPicPr>
        <p:blipFill>
          <a:blip r:embed="rId1"/>
          <a:srcRect l="0" r="0" t="0" b="0"/>
          <a:stretch/>
        </p:blipFill>
        <p:spPr>
          <a:xfrm>
            <a:off x="6537960" y="0"/>
            <a:ext cx="5653735" cy="6858000"/>
          </a:xfrm>
          <a:prstGeom prst="rect">
            <a:avLst/>
          </a:prstGeom>
        </p:spPr>
      </p:pic>
      <p:sp>
        <p:nvSpPr>
          <p:cNvPr id="3" name="Shape 0"/>
          <p:cNvSpPr/>
          <p:nvPr/>
        </p:nvSpPr>
        <p:spPr>
          <a:xfrm>
            <a:off x="0" y="0"/>
            <a:ext cx="7040880" cy="6858000"/>
          </a:xfrm>
          <a:prstGeom prst="rect">
            <a:avLst/>
          </a:prstGeom>
          <a:solidFill>
            <a:srgbClr val="12261C"/>
          </a:solidFill>
          <a:ln/>
        </p:spPr>
        <p:txBody>
          <a:bodyPr/>
          <a:p/>
        </p:txBody>
      </p:sp>
      <p:sp>
        <p:nvSpPr>
          <p:cNvPr id="4" name="Text 1"/>
          <p:cNvSpPr/>
          <p:nvPr/>
        </p:nvSpPr>
        <p:spPr>
          <a:xfrm>
            <a:off x="548640" y="1051560"/>
            <a:ext cx="6126480" cy="256032"/>
          </a:xfrm>
          <a:prstGeom prst="rect">
            <a:avLst/>
          </a:prstGeom>
          <a:noFill/>
          <a:ln/>
        </p:spPr>
        <p:txBody>
          <a:bodyPr wrap="square" lIns="0" tIns="0" rIns="0" bIns="0" rtlCol="0" anchor="ctr"/>
          <a:lstStyle/>
          <a:p>
            <a:pPr indent="0" marL="0">
              <a:buNone/>
            </a:pPr>
            <a:r>
              <a:rPr lang="en-US" sz="1200" b="1" spc="180" kern="0" dirty="0">
                <a:solidFill>
                  <a:srgbClr val="C4A35A"/>
                </a:solidFill>
                <a:latin typeface="Arial" pitchFamily="34" charset="0"/>
                <a:ea typeface="Arial" pitchFamily="34" charset="-122"/>
                <a:cs typeface="Arial" pitchFamily="34" charset="-120"/>
              </a:rPr>
              <a:t>JUBILEE YEAR OF ST. FRANCIS  ·  2026–2027</a:t>
            </a:r>
            <a:endParaRPr lang="en-US" sz="1200" dirty="0"/>
          </a:p>
        </p:txBody>
      </p:sp>
      <p:sp>
        <p:nvSpPr>
          <p:cNvPr id="5" name="Text 2"/>
          <p:cNvSpPr/>
          <p:nvPr/>
        </p:nvSpPr>
        <p:spPr>
          <a:xfrm>
            <a:off x="548640" y="1417320"/>
            <a:ext cx="6217920" cy="1965960"/>
          </a:xfrm>
          <a:prstGeom prst="rect">
            <a:avLst/>
          </a:prstGeom>
          <a:noFill/>
          <a:ln/>
        </p:spPr>
        <p:txBody>
          <a:bodyPr wrap="square" lIns="0" tIns="0" rIns="0" bIns="0" rtlCol="0" anchor="ctr"/>
          <a:lstStyle/>
          <a:p>
            <a:pPr indent="0" marL="0">
              <a:buNone/>
            </a:pPr>
            <a:r>
              <a:rPr lang="en-US" sz="4200" dirty="0">
                <a:solidFill>
                  <a:srgbClr val="F4EFE2"/>
                </a:solidFill>
                <a:latin typeface="Georgia" pitchFamily="34" charset="0"/>
                <a:ea typeface="Georgia" pitchFamily="34" charset="-122"/>
                <a:cs typeface="Georgia" pitchFamily="34" charset="-120"/>
              </a:rPr>
              <a:t>Creation Care</a:t>
            </a:r>
            <a:endParaRPr lang="en-US" sz="4200" dirty="0"/>
          </a:p>
          <a:p>
            <a:pPr indent="0" marL="0">
              <a:buNone/>
            </a:pPr>
            <a:r>
              <a:rPr lang="en-US" sz="4200" dirty="0">
                <a:solidFill>
                  <a:srgbClr val="F4EFE2"/>
                </a:solidFill>
                <a:latin typeface="Georgia" pitchFamily="34" charset="0"/>
                <a:ea typeface="Georgia" pitchFamily="34" charset="-122"/>
                <a:cs typeface="Georgia" pitchFamily="34" charset="-120"/>
              </a:rPr>
              <a:t>in the Classroom</a:t>
            </a:r>
            <a:endParaRPr lang="en-US" sz="4200" dirty="0"/>
          </a:p>
        </p:txBody>
      </p:sp>
      <p:sp>
        <p:nvSpPr>
          <p:cNvPr id="6" name="Text 3"/>
          <p:cNvSpPr/>
          <p:nvPr/>
        </p:nvSpPr>
        <p:spPr>
          <a:xfrm>
            <a:off x="548640" y="3520440"/>
            <a:ext cx="5943600" cy="640080"/>
          </a:xfrm>
          <a:prstGeom prst="rect">
            <a:avLst/>
          </a:prstGeom>
          <a:noFill/>
          <a:ln/>
        </p:spPr>
        <p:txBody>
          <a:bodyPr wrap="square" lIns="0" tIns="0" rIns="0" bIns="0" rtlCol="0" anchor="ctr"/>
          <a:lstStyle/>
          <a:p>
            <a:pPr indent="0" marL="0">
              <a:buNone/>
            </a:pPr>
            <a:r>
              <a:rPr lang="en-US" sz="1600" dirty="0">
                <a:solidFill>
                  <a:srgbClr val="D9CFAE"/>
                </a:solidFill>
                <a:latin typeface="Arial" pitchFamily="34" charset="0"/>
                <a:ea typeface="Arial" pitchFamily="34" charset="-122"/>
                <a:cs typeface="Arial" pitchFamily="34" charset="-120"/>
              </a:rPr>
              <a:t>Tips and strategies for Catholic teachers of grades K–5.</a:t>
            </a:r>
            <a:endParaRPr lang="en-US" sz="1600" dirty="0"/>
          </a:p>
          <a:p>
            <a:pPr indent="0" marL="0">
              <a:buNone/>
            </a:pPr>
            <a:r>
              <a:rPr lang="en-US" sz="1600" dirty="0">
                <a:solidFill>
                  <a:srgbClr val="D9CFAE"/>
                </a:solidFill>
                <a:latin typeface="Arial" pitchFamily="34" charset="0"/>
                <a:ea typeface="Arial" pitchFamily="34" charset="-122"/>
                <a:cs typeface="Arial" pitchFamily="34" charset="-120"/>
              </a:rPr>
              <a:t>A 50-minute professional learning session.</a:t>
            </a:r>
            <a:endParaRPr lang="en-US" sz="1600" dirty="0"/>
          </a:p>
        </p:txBody>
      </p:sp>
      <p:sp>
        <p:nvSpPr>
          <p:cNvPr id="7" name="Shape 4"/>
          <p:cNvSpPr/>
          <p:nvPr/>
        </p:nvSpPr>
        <p:spPr>
          <a:xfrm>
            <a:off x="548640" y="4343400"/>
            <a:ext cx="1280160" cy="45720"/>
          </a:xfrm>
          <a:prstGeom prst="rect">
            <a:avLst/>
          </a:prstGeom>
          <a:solidFill>
            <a:srgbClr val="C4A35A"/>
          </a:solidFill>
          <a:ln/>
        </p:spPr>
        <p:txBody>
          <a:bodyPr/>
          <a:p/>
        </p:txBody>
      </p:sp>
      <p:sp>
        <p:nvSpPr>
          <p:cNvPr id="8" name="Text 5"/>
          <p:cNvSpPr/>
          <p:nvPr/>
        </p:nvSpPr>
        <p:spPr>
          <a:xfrm>
            <a:off x="548640" y="4617720"/>
            <a:ext cx="5943600" cy="274320"/>
          </a:xfrm>
          <a:prstGeom prst="rect">
            <a:avLst/>
          </a:prstGeom>
          <a:noFill/>
          <a:ln/>
        </p:spPr>
        <p:txBody>
          <a:bodyPr wrap="square" lIns="0" tIns="0" rIns="0" bIns="0" rtlCol="0" anchor="ctr"/>
          <a:lstStyle/>
          <a:p>
            <a:pPr indent="0" marL="0">
              <a:buNone/>
            </a:pPr>
            <a:r>
              <a:rPr lang="en-US" sz="1500" dirty="0">
                <a:solidFill>
                  <a:srgbClr val="F4EFE2"/>
                </a:solidFill>
                <a:latin typeface="Arial" pitchFamily="34" charset="0"/>
                <a:ea typeface="Arial" pitchFamily="34" charset="-122"/>
                <a:cs typeface="Arial" pitchFamily="34" charset="-120"/>
              </a:rPr>
              <a:t>Presented by Lauren Sebastian</a:t>
            </a:r>
            <a:endParaRPr lang="en-US" sz="1500" dirty="0"/>
          </a:p>
        </p:txBody>
      </p:sp>
      <p:sp>
        <p:nvSpPr>
          <p:cNvPr id="9" name="Text 6"/>
          <p:cNvSpPr/>
          <p:nvPr/>
        </p:nvSpPr>
        <p:spPr>
          <a:xfrm>
            <a:off x="548640" y="4919472"/>
            <a:ext cx="5943600" cy="256032"/>
          </a:xfrm>
          <a:prstGeom prst="rect">
            <a:avLst/>
          </a:prstGeom>
          <a:noFill/>
          <a:ln/>
        </p:spPr>
        <p:txBody>
          <a:bodyPr wrap="square" lIns="0" tIns="0" rIns="0" bIns="0" rtlCol="0" anchor="ctr"/>
          <a:lstStyle/>
          <a:p>
            <a:pPr indent="0" marL="0">
              <a:buNone/>
            </a:pPr>
            <a:r>
              <a:rPr lang="en-US" sz="1300" i="1" dirty="0">
                <a:solidFill>
                  <a:srgbClr val="6B8F71"/>
                </a:solidFill>
                <a:latin typeface="Arial" pitchFamily="34" charset="0"/>
                <a:ea typeface="Arial" pitchFamily="34" charset="-122"/>
                <a:cs typeface="Arial" pitchFamily="34" charset="-120"/>
              </a:rPr>
              <a:t>Inspired by the 800th anniversary of St. Francis of Assisi</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EFE2"/>
        </a:solidFill>
      </p:bgPr>
    </p:bg>
    <p:spTree>
      <p:nvGrpSpPr>
        <p:cNvPr id="1" name=""/>
        <p:cNvGrpSpPr/>
        <p:nvPr/>
      </p:nvGrpSpPr>
      <p:grpSpPr>
        <a:xfrm>
          <a:off x="0" y="0"/>
          <a:ext cx="0" cy="0"/>
          <a:chOff x="0" y="0"/>
          <a:chExt cx="0" cy="0"/>
        </a:xfrm>
      </p:grpSpPr>
      <p:sp>
        <p:nvSpPr>
          <p:cNvPr id="2" name="Text 0"/>
          <p:cNvSpPr/>
          <p:nvPr/>
        </p:nvSpPr>
        <p:spPr>
          <a:xfrm>
            <a:off x="502920" y="256032"/>
            <a:ext cx="11155680" cy="219456"/>
          </a:xfrm>
          <a:prstGeom prst="rect">
            <a:avLst/>
          </a:prstGeom>
          <a:noFill/>
          <a:ln/>
        </p:spPr>
        <p:txBody>
          <a:bodyPr wrap="square" lIns="0" tIns="0" rIns="0" bIns="0" rtlCol="0" anchor="ctr"/>
          <a:lstStyle/>
          <a:p>
            <a:pPr indent="0" marL="0">
              <a:buNone/>
            </a:pPr>
            <a:r>
              <a:rPr lang="en-US" sz="1100" b="1" spc="220" kern="0" dirty="0">
                <a:solidFill>
                  <a:srgbClr val="4F7A5C"/>
                </a:solidFill>
                <a:latin typeface="Arial" pitchFamily="34" charset="0"/>
                <a:ea typeface="Arial" pitchFamily="34" charset="-122"/>
                <a:cs typeface="Arial" pitchFamily="34" charset="-120"/>
              </a:rPr>
              <a:t>01  ·  BEGIN IN PRAISE</a:t>
            </a:r>
            <a:endParaRPr lang="en-US" sz="1100" dirty="0"/>
          </a:p>
        </p:txBody>
      </p:sp>
      <p:sp>
        <p:nvSpPr>
          <p:cNvPr id="3" name="Text 1"/>
          <p:cNvSpPr/>
          <p:nvPr/>
        </p:nvSpPr>
        <p:spPr>
          <a:xfrm>
            <a:off x="502920" y="475488"/>
            <a:ext cx="11155680" cy="475488"/>
          </a:xfrm>
          <a:prstGeom prst="rect">
            <a:avLst/>
          </a:prstGeom>
          <a:noFill/>
          <a:ln/>
        </p:spPr>
        <p:txBody>
          <a:bodyPr wrap="square" lIns="0" tIns="0" rIns="0" bIns="0" rtlCol="0" anchor="ctr"/>
          <a:lstStyle/>
          <a:p>
            <a:pPr indent="0" marL="0">
              <a:buNone/>
            </a:pPr>
            <a:r>
              <a:rPr lang="en-US" sz="2600" dirty="0">
                <a:solidFill>
                  <a:srgbClr val="1B3A2A"/>
                </a:solidFill>
                <a:latin typeface="Georgia" pitchFamily="34" charset="0"/>
                <a:ea typeface="Georgia" pitchFamily="34" charset="-122"/>
                <a:cs typeface="Georgia" pitchFamily="34" charset="-120"/>
              </a:rPr>
              <a:t>A word from the Song</a:t>
            </a:r>
            <a:endParaRPr lang="en-US" sz="2600" dirty="0"/>
          </a:p>
        </p:txBody>
      </p:sp>
      <p:sp>
        <p:nvSpPr>
          <p:cNvPr id="4" name="Shape 2"/>
          <p:cNvSpPr/>
          <p:nvPr/>
        </p:nvSpPr>
        <p:spPr>
          <a:xfrm>
            <a:off x="502920" y="1143000"/>
            <a:ext cx="11183112" cy="5074920"/>
          </a:xfrm>
          <a:prstGeom prst="roundRect">
            <a:avLst>
              <a:gd name="adj" fmla="val 1441"/>
            </a:avLst>
          </a:prstGeom>
          <a:solidFill>
            <a:srgbClr val="1B3A2A"/>
          </a:solidFill>
          <a:ln/>
        </p:spPr>
        <p:txBody>
          <a:bodyPr/>
          <a:p/>
        </p:txBody>
      </p:sp>
      <p:pic>
        <p:nvPicPr>
          <p:cNvPr id="5" name="Image 0" descr="preencoded.png">    </p:cNvPr>
          <p:cNvPicPr>
            <a:picLocks noChangeAspect="1"/>
          </p:cNvPicPr>
          <p:nvPr/>
        </p:nvPicPr>
        <p:blipFill>
          <a:blip r:embed="rId1"/>
          <a:stretch>
            <a:fillRect/>
          </a:stretch>
        </p:blipFill>
        <p:spPr>
          <a:xfrm>
            <a:off x="777240" y="1371600"/>
            <a:ext cx="347472" cy="347472"/>
          </a:xfrm>
          <a:prstGeom prst="rect">
            <a:avLst/>
          </a:prstGeom>
        </p:spPr>
      </p:pic>
      <p:sp>
        <p:nvSpPr>
          <p:cNvPr id="6" name="Text 3"/>
          <p:cNvSpPr/>
          <p:nvPr/>
        </p:nvSpPr>
        <p:spPr>
          <a:xfrm>
            <a:off x="1234440" y="1417320"/>
            <a:ext cx="9875520" cy="292608"/>
          </a:xfrm>
          <a:prstGeom prst="rect">
            <a:avLst/>
          </a:prstGeom>
          <a:noFill/>
          <a:ln/>
        </p:spPr>
        <p:txBody>
          <a:bodyPr wrap="square" lIns="0" tIns="0" rIns="0" bIns="0" rtlCol="0" anchor="ctr"/>
          <a:lstStyle/>
          <a:p>
            <a:pPr indent="0" marL="0">
              <a:buNone/>
            </a:pPr>
            <a:r>
              <a:rPr lang="en-US" sz="1300" dirty="0">
                <a:solidFill>
                  <a:srgbClr val="C4A35A"/>
                </a:solidFill>
                <a:latin typeface="Arial" pitchFamily="34" charset="0"/>
                <a:ea typeface="Arial" pitchFamily="34" charset="-122"/>
                <a:cs typeface="Arial" pitchFamily="34" charset="-120"/>
              </a:rPr>
              <a:t>From the Song of the Creatures, St. Francis of Assisi, 1225</a:t>
            </a:r>
            <a:endParaRPr lang="en-US" sz="1300" dirty="0"/>
          </a:p>
        </p:txBody>
      </p:sp>
      <p:sp>
        <p:nvSpPr>
          <p:cNvPr id="7" name="Text 4"/>
          <p:cNvSpPr/>
          <p:nvPr/>
        </p:nvSpPr>
        <p:spPr>
          <a:xfrm>
            <a:off x="868680" y="1920240"/>
            <a:ext cx="10424160" cy="3246120"/>
          </a:xfrm>
          <a:prstGeom prst="rect">
            <a:avLst/>
          </a:prstGeom>
          <a:noFill/>
          <a:ln/>
        </p:spPr>
        <p:txBody>
          <a:bodyPr wrap="square" lIns="0" tIns="0" rIns="0" bIns="0" rtlCol="0" anchor="ctr"/>
          <a:lstStyle/>
          <a:p>
            <a:pPr indent="0" marL="0">
              <a:buNone/>
            </a:pPr>
            <a:r>
              <a:rPr lang="en-US" sz="2000" i="1" dirty="0">
                <a:solidFill>
                  <a:srgbClr val="F4EFE2"/>
                </a:solidFill>
                <a:latin typeface="Georgia" pitchFamily="34" charset="0"/>
                <a:ea typeface="Georgia" pitchFamily="34" charset="-122"/>
                <a:cs typeface="Georgia" pitchFamily="34" charset="-120"/>
              </a:rPr>
              <a:t>Praised be You, my Lord, with all Your creatures,</a:t>
            </a:r>
            <a:endParaRPr lang="en-US" sz="2000" dirty="0"/>
          </a:p>
          <a:p>
            <a:pPr indent="0" marL="0">
              <a:buNone/>
            </a:pPr>
            <a:r>
              <a:rPr lang="en-US" sz="2000" i="1" dirty="0">
                <a:solidFill>
                  <a:srgbClr val="F4EFE2"/>
                </a:solidFill>
                <a:latin typeface="Georgia" pitchFamily="34" charset="0"/>
                <a:ea typeface="Georgia" pitchFamily="34" charset="-122"/>
                <a:cs typeface="Georgia" pitchFamily="34" charset="-120"/>
              </a:rPr>
              <a:t>especially Sir Brother Sun, who is the day</a:t>
            </a:r>
            <a:endParaRPr lang="en-US" sz="2000" dirty="0"/>
          </a:p>
          <a:p>
            <a:pPr indent="0" marL="0">
              <a:buNone/>
            </a:pPr>
            <a:r>
              <a:rPr lang="en-US" sz="2000" i="1" dirty="0">
                <a:solidFill>
                  <a:srgbClr val="F4EFE2"/>
                </a:solidFill>
                <a:latin typeface="Georgia" pitchFamily="34" charset="0"/>
                <a:ea typeface="Georgia" pitchFamily="34" charset="-122"/>
                <a:cs typeface="Georgia" pitchFamily="34" charset="-120"/>
              </a:rPr>
              <a:t>and through whom You give us light.</a:t>
            </a:r>
            <a:endParaRPr lang="en-US" sz="2000" dirty="0"/>
          </a:p>
          <a:p>
            <a:pPr indent="0" marL="0">
              <a:buNone/>
            </a:pPr>
            <a:endParaRPr lang="en-US" sz="2000" dirty="0"/>
          </a:p>
          <a:p>
            <a:pPr indent="0" marL="0">
              <a:buNone/>
            </a:pPr>
            <a:r>
              <a:rPr lang="en-US" sz="2000" i="1" dirty="0">
                <a:solidFill>
                  <a:srgbClr val="F4EFE2"/>
                </a:solidFill>
                <a:latin typeface="Georgia" pitchFamily="34" charset="0"/>
                <a:ea typeface="Georgia" pitchFamily="34" charset="-122"/>
                <a:cs typeface="Georgia" pitchFamily="34" charset="-120"/>
              </a:rPr>
              <a:t>Praised be You, my Lord, through Sister Water,</a:t>
            </a:r>
            <a:endParaRPr lang="en-US" sz="2000" dirty="0"/>
          </a:p>
          <a:p>
            <a:pPr indent="0" marL="0">
              <a:buNone/>
            </a:pPr>
            <a:r>
              <a:rPr lang="en-US" sz="2000" i="1" dirty="0">
                <a:solidFill>
                  <a:srgbClr val="F4EFE2"/>
                </a:solidFill>
                <a:latin typeface="Georgia" pitchFamily="34" charset="0"/>
                <a:ea typeface="Georgia" pitchFamily="34" charset="-122"/>
                <a:cs typeface="Georgia" pitchFamily="34" charset="-120"/>
              </a:rPr>
              <a:t>who is very useful and humble and precious and chaste.</a:t>
            </a:r>
            <a:endParaRPr lang="en-US" sz="2000" dirty="0"/>
          </a:p>
          <a:p>
            <a:pPr indent="0" marL="0">
              <a:buNone/>
            </a:pPr>
            <a:endParaRPr lang="en-US" sz="2000" dirty="0"/>
          </a:p>
          <a:p>
            <a:pPr indent="0" marL="0">
              <a:buNone/>
            </a:pPr>
            <a:r>
              <a:rPr lang="en-US" sz="2000" i="1" dirty="0">
                <a:solidFill>
                  <a:srgbClr val="F4EFE2"/>
                </a:solidFill>
                <a:latin typeface="Georgia" pitchFamily="34" charset="0"/>
                <a:ea typeface="Georgia" pitchFamily="34" charset="-122"/>
                <a:cs typeface="Georgia" pitchFamily="34" charset="-120"/>
              </a:rPr>
              <a:t>Praised be You, my Lord, through our Sister Mother Earth,</a:t>
            </a:r>
            <a:endParaRPr lang="en-US" sz="2000" dirty="0"/>
          </a:p>
          <a:p>
            <a:pPr indent="0" marL="0">
              <a:buNone/>
            </a:pPr>
            <a:r>
              <a:rPr lang="en-US" sz="2000" i="1" dirty="0">
                <a:solidFill>
                  <a:srgbClr val="F4EFE2"/>
                </a:solidFill>
                <a:latin typeface="Georgia" pitchFamily="34" charset="0"/>
                <a:ea typeface="Georgia" pitchFamily="34" charset="-122"/>
                <a:cs typeface="Georgia" pitchFamily="34" charset="-120"/>
              </a:rPr>
              <a:t>who sustains and governs us,</a:t>
            </a:r>
            <a:endParaRPr lang="en-US" sz="2000" dirty="0"/>
          </a:p>
          <a:p>
            <a:pPr indent="0" marL="0">
              <a:buNone/>
            </a:pPr>
            <a:r>
              <a:rPr lang="en-US" sz="2000" i="1" dirty="0">
                <a:solidFill>
                  <a:srgbClr val="F4EFE2"/>
                </a:solidFill>
                <a:latin typeface="Georgia" pitchFamily="34" charset="0"/>
                <a:ea typeface="Georgia" pitchFamily="34" charset="-122"/>
                <a:cs typeface="Georgia" pitchFamily="34" charset="-120"/>
              </a:rPr>
              <a:t>and who produces various fruit with colored flowers and herbs.</a:t>
            </a:r>
            <a:endParaRPr lang="en-US" sz="2000" dirty="0"/>
          </a:p>
        </p:txBody>
      </p:sp>
      <p:sp>
        <p:nvSpPr>
          <p:cNvPr id="8" name="Text 5"/>
          <p:cNvSpPr/>
          <p:nvPr/>
        </p:nvSpPr>
        <p:spPr>
          <a:xfrm>
            <a:off x="868680" y="5303520"/>
            <a:ext cx="10424160" cy="640080"/>
          </a:xfrm>
          <a:prstGeom prst="rect">
            <a:avLst/>
          </a:prstGeom>
          <a:noFill/>
          <a:ln/>
        </p:spPr>
        <p:txBody>
          <a:bodyPr wrap="square" lIns="0" tIns="0" rIns="0" bIns="0" rtlCol="0" anchor="ctr"/>
          <a:lstStyle/>
          <a:p>
            <a:pPr indent="0" marL="0">
              <a:buNone/>
            </a:pPr>
            <a:r>
              <a:rPr lang="en-US" sz="1400" dirty="0">
                <a:solidFill>
                  <a:srgbClr val="D9CFAE"/>
                </a:solidFill>
                <a:latin typeface="Arial" pitchFamily="34" charset="0"/>
                <a:ea typeface="Arial" pitchFamily="34" charset="-122"/>
                <a:cs typeface="Arial" pitchFamily="34" charset="-120"/>
              </a:rPr>
              <a:t>Let us pray.  Lord, open our eyes to Your gift of creation, and make us teachers who help children love what You have made. Amen.</a:t>
            </a:r>
            <a:endParaRPr lang="en-US" sz="1400" dirty="0"/>
          </a:p>
        </p:txBody>
      </p:sp>
      <p:sp>
        <p:nvSpPr>
          <p:cNvPr id="9" name="Shape 6"/>
          <p:cNvSpPr/>
          <p:nvPr/>
        </p:nvSpPr>
        <p:spPr>
          <a:xfrm>
            <a:off x="502920" y="6510528"/>
            <a:ext cx="11183112" cy="0"/>
          </a:xfrm>
          <a:prstGeom prst="line">
            <a:avLst/>
          </a:prstGeom>
          <a:noFill/>
          <a:ln w="7620">
            <a:solidFill>
              <a:srgbClr val="C9C0A8"/>
            </a:solidFill>
            <a:prstDash val="solid"/>
          </a:ln>
        </p:spPr>
        <p:txBody>
          <a:bodyPr/>
          <a:p/>
        </p:txBody>
      </p:sp>
      <p:sp>
        <p:nvSpPr>
          <p:cNvPr id="10" name="Text 7"/>
          <p:cNvSpPr/>
          <p:nvPr/>
        </p:nvSpPr>
        <p:spPr>
          <a:xfrm>
            <a:off x="502920" y="6547104"/>
            <a:ext cx="8412480" cy="237744"/>
          </a:xfrm>
          <a:prstGeom prst="rect">
            <a:avLst/>
          </a:prstGeom>
          <a:noFill/>
          <a:ln/>
        </p:spPr>
        <p:txBody>
          <a:bodyPr wrap="square" lIns="0" tIns="0" rIns="0" bIns="0" rtlCol="0" anchor="ctr"/>
          <a:lstStyle/>
          <a:p>
            <a:pPr indent="0" marL="0">
              <a:buNone/>
            </a:pPr>
            <a:r>
              <a:rPr lang="en-US" sz="900" spc="120" kern="0" dirty="0">
                <a:solidFill>
                  <a:srgbClr val="6B736C"/>
                </a:solidFill>
                <a:latin typeface="Arial" pitchFamily="34" charset="0"/>
                <a:ea typeface="Arial" pitchFamily="34" charset="-122"/>
                <a:cs typeface="Arial" pitchFamily="34" charset="-120"/>
              </a:rPr>
              <a:t>CREATION CARE IN THE CLASSROOM  ·  K–5 CATHOLIC TEACHERS</a:t>
            </a:r>
            <a:endParaRPr lang="en-US" sz="900" dirty="0"/>
          </a:p>
        </p:txBody>
      </p:sp>
      <p:sp>
        <p:nvSpPr>
          <p:cNvPr id="11" name="Text 8"/>
          <p:cNvSpPr/>
          <p:nvPr/>
        </p:nvSpPr>
        <p:spPr>
          <a:xfrm>
            <a:off x="9509760" y="6547104"/>
            <a:ext cx="2176272" cy="237744"/>
          </a:xfrm>
          <a:prstGeom prst="rect">
            <a:avLst/>
          </a:prstGeom>
          <a:noFill/>
          <a:ln/>
        </p:spPr>
        <p:txBody>
          <a:bodyPr wrap="square" lIns="0" tIns="0" rIns="0" bIns="0" rtlCol="0" anchor="ctr"/>
          <a:lstStyle/>
          <a:p>
            <a:pPr algn="r" indent="0" marL="0">
              <a:buNone/>
            </a:pPr>
            <a:r>
              <a:rPr lang="en-US" sz="900" dirty="0">
                <a:solidFill>
                  <a:srgbClr val="6B736C"/>
                </a:solidFill>
                <a:latin typeface="Arial" pitchFamily="34" charset="0"/>
                <a:ea typeface="Arial" pitchFamily="34" charset="-122"/>
                <a:cs typeface="Arial" pitchFamily="34" charset="-120"/>
              </a:rPr>
              <a:t>02  /  30</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EFE2"/>
        </a:solidFill>
      </p:bgPr>
    </p:bg>
    <p:spTree>
      <p:nvGrpSpPr>
        <p:cNvPr id="1" name=""/>
        <p:cNvGrpSpPr/>
        <p:nvPr/>
      </p:nvGrpSpPr>
      <p:grpSpPr>
        <a:xfrm>
          <a:off x="0" y="0"/>
          <a:ext cx="0" cy="0"/>
          <a:chOff x="0" y="0"/>
          <a:chExt cx="0" cy="0"/>
        </a:xfrm>
      </p:grpSpPr>
      <p:sp>
        <p:nvSpPr>
          <p:cNvPr id="2" name="Text 0"/>
          <p:cNvSpPr/>
          <p:nvPr/>
        </p:nvSpPr>
        <p:spPr>
          <a:xfrm>
            <a:off x="502920" y="256032"/>
            <a:ext cx="11155680" cy="219456"/>
          </a:xfrm>
          <a:prstGeom prst="rect">
            <a:avLst/>
          </a:prstGeom>
          <a:noFill/>
          <a:ln/>
        </p:spPr>
        <p:txBody>
          <a:bodyPr wrap="square" lIns="0" tIns="0" rIns="0" bIns="0" rtlCol="0" anchor="ctr"/>
          <a:lstStyle/>
          <a:p>
            <a:pPr indent="0" marL="0">
              <a:buNone/>
            </a:pPr>
            <a:r>
              <a:rPr lang="en-US" sz="1100" b="1" spc="220" kern="0" dirty="0">
                <a:solidFill>
                  <a:srgbClr val="4F7A5C"/>
                </a:solidFill>
                <a:latin typeface="Arial" pitchFamily="34" charset="0"/>
                <a:ea typeface="Arial" pitchFamily="34" charset="-122"/>
                <a:cs typeface="Arial" pitchFamily="34" charset="-120"/>
              </a:rPr>
              <a:t>02  ·  PURPOSE</a:t>
            </a:r>
            <a:endParaRPr lang="en-US" sz="1100" dirty="0"/>
          </a:p>
        </p:txBody>
      </p:sp>
      <p:sp>
        <p:nvSpPr>
          <p:cNvPr id="3" name="Text 1"/>
          <p:cNvSpPr/>
          <p:nvPr/>
        </p:nvSpPr>
        <p:spPr>
          <a:xfrm>
            <a:off x="502920" y="475488"/>
            <a:ext cx="11155680" cy="475488"/>
          </a:xfrm>
          <a:prstGeom prst="rect">
            <a:avLst/>
          </a:prstGeom>
          <a:noFill/>
          <a:ln/>
        </p:spPr>
        <p:txBody>
          <a:bodyPr wrap="square" lIns="0" tIns="0" rIns="0" bIns="0" rtlCol="0" anchor="ctr"/>
          <a:lstStyle/>
          <a:p>
            <a:pPr indent="0" marL="0">
              <a:buNone/>
            </a:pPr>
            <a:r>
              <a:rPr lang="en-US" sz="2600" dirty="0">
                <a:solidFill>
                  <a:srgbClr val="1B3A2A"/>
                </a:solidFill>
                <a:latin typeface="Georgia" pitchFamily="34" charset="0"/>
                <a:ea typeface="Georgia" pitchFamily="34" charset="-122"/>
                <a:cs typeface="Georgia" pitchFamily="34" charset="-120"/>
              </a:rPr>
              <a:t>What you will leave with today</a:t>
            </a:r>
            <a:endParaRPr lang="en-US" sz="2600" dirty="0"/>
          </a:p>
        </p:txBody>
      </p:sp>
      <p:sp>
        <p:nvSpPr>
          <p:cNvPr id="4" name="Shape 2"/>
          <p:cNvSpPr/>
          <p:nvPr/>
        </p:nvSpPr>
        <p:spPr>
          <a:xfrm>
            <a:off x="502920" y="1170432"/>
            <a:ext cx="5440680" cy="2286000"/>
          </a:xfrm>
          <a:prstGeom prst="roundRect">
            <a:avLst>
              <a:gd name="adj" fmla="val 3200"/>
            </a:avLst>
          </a:prstGeom>
          <a:solidFill>
            <a:srgbClr val="FFFBF3"/>
          </a:solidFill>
          <a:ln/>
          <a:effectLst>
            <a:outerShdw sx="100000" sy="100000" kx="0" ky="0" algn="bl" rotWithShape="0" blurRad="101600" dist="25400" dir="8100000">
              <a:srgbClr val="000000">
                <a:alpha val="8000"/>
              </a:srgbClr>
            </a:outerShdw>
          </a:effectLst>
        </p:spPr>
        <p:txBody>
          <a:bodyPr/>
          <a:p/>
        </p:txBody>
      </p:sp>
      <p:sp>
        <p:nvSpPr>
          <p:cNvPr id="5" name="Shape 3"/>
          <p:cNvSpPr/>
          <p:nvPr/>
        </p:nvSpPr>
        <p:spPr>
          <a:xfrm>
            <a:off x="758952" y="1463040"/>
            <a:ext cx="475488" cy="475488"/>
          </a:xfrm>
          <a:prstGeom prst="ellipse">
            <a:avLst/>
          </a:prstGeom>
          <a:solidFill>
            <a:srgbClr val="EBE4D4"/>
          </a:solidFill>
          <a:ln/>
        </p:spPr>
        <p:txBody>
          <a:bodyPr/>
          <a:p/>
        </p:txBody>
      </p:sp>
      <p:pic>
        <p:nvPicPr>
          <p:cNvPr id="6" name="Image 0" descr="preencoded.png">    </p:cNvPr>
          <p:cNvPicPr>
            <a:picLocks noChangeAspect="1"/>
          </p:cNvPicPr>
          <p:nvPr/>
        </p:nvPicPr>
        <p:blipFill>
          <a:blip r:embed="rId1"/>
          <a:stretch>
            <a:fillRect/>
          </a:stretch>
        </p:blipFill>
        <p:spPr>
          <a:xfrm>
            <a:off x="841248" y="1545336"/>
            <a:ext cx="310896" cy="310896"/>
          </a:xfrm>
          <a:prstGeom prst="rect">
            <a:avLst/>
          </a:prstGeom>
        </p:spPr>
      </p:pic>
      <p:sp>
        <p:nvSpPr>
          <p:cNvPr id="7" name="Text 4"/>
          <p:cNvSpPr/>
          <p:nvPr/>
        </p:nvSpPr>
        <p:spPr>
          <a:xfrm>
            <a:off x="1371600" y="1499616"/>
            <a:ext cx="4297680" cy="384048"/>
          </a:xfrm>
          <a:prstGeom prst="rect">
            <a:avLst/>
          </a:prstGeom>
          <a:noFill/>
          <a:ln/>
        </p:spPr>
        <p:txBody>
          <a:bodyPr wrap="square" lIns="0" tIns="0" rIns="0" bIns="0" rtlCol="0" anchor="ctr"/>
          <a:lstStyle/>
          <a:p>
            <a:pPr indent="0" marL="0">
              <a:buNone/>
            </a:pPr>
            <a:r>
              <a:rPr lang="en-US" sz="2000" dirty="0">
                <a:solidFill>
                  <a:srgbClr val="1B3A2A"/>
                </a:solidFill>
                <a:latin typeface="Georgia" pitchFamily="34" charset="0"/>
                <a:ea typeface="Georgia" pitchFamily="34" charset="-122"/>
                <a:cs typeface="Georgia" pitchFamily="34" charset="-120"/>
              </a:rPr>
              <a:t>A Franciscan why</a:t>
            </a:r>
            <a:endParaRPr lang="en-US" sz="2000" dirty="0"/>
          </a:p>
        </p:txBody>
      </p:sp>
      <p:sp>
        <p:nvSpPr>
          <p:cNvPr id="8" name="Text 5"/>
          <p:cNvSpPr/>
          <p:nvPr/>
        </p:nvSpPr>
        <p:spPr>
          <a:xfrm>
            <a:off x="758952" y="2130552"/>
            <a:ext cx="4937760" cy="1051560"/>
          </a:xfrm>
          <a:prstGeom prst="rect">
            <a:avLst/>
          </a:prstGeom>
          <a:noFill/>
          <a:ln/>
        </p:spPr>
        <p:txBody>
          <a:bodyPr wrap="square" lIns="0" tIns="0" rIns="0" bIns="0" rtlCol="0" anchor="ctr"/>
          <a:lstStyle/>
          <a:p>
            <a:pPr indent="0" marL="0">
              <a:buNone/>
            </a:pPr>
            <a:r>
              <a:rPr lang="en-US" sz="1500" dirty="0">
                <a:solidFill>
                  <a:srgbClr val="4A554C"/>
                </a:solidFill>
                <a:latin typeface="Arial" pitchFamily="34" charset="0"/>
                <a:ea typeface="Arial" pitchFamily="34" charset="-122"/>
                <a:cs typeface="Arial" pitchFamily="34" charset="-120"/>
              </a:rPr>
              <a:t>Connect the Jubilee Year of St. Francis to the daily work of a K–5 Catholic classroom.</a:t>
            </a:r>
            <a:endParaRPr lang="en-US" sz="1500" dirty="0"/>
          </a:p>
        </p:txBody>
      </p:sp>
      <p:sp>
        <p:nvSpPr>
          <p:cNvPr id="9" name="Shape 6"/>
          <p:cNvSpPr/>
          <p:nvPr/>
        </p:nvSpPr>
        <p:spPr>
          <a:xfrm>
            <a:off x="6172200" y="1170432"/>
            <a:ext cx="5440680" cy="2286000"/>
          </a:xfrm>
          <a:prstGeom prst="roundRect">
            <a:avLst>
              <a:gd name="adj" fmla="val 3200"/>
            </a:avLst>
          </a:prstGeom>
          <a:solidFill>
            <a:srgbClr val="FFFBF3"/>
          </a:solidFill>
          <a:ln/>
          <a:effectLst>
            <a:outerShdw sx="100000" sy="100000" kx="0" ky="0" algn="bl" rotWithShape="0" blurRad="101600" dist="25400" dir="8100000">
              <a:srgbClr val="000000">
                <a:alpha val="8000"/>
              </a:srgbClr>
            </a:outerShdw>
          </a:effectLst>
        </p:spPr>
        <p:txBody>
          <a:bodyPr/>
          <a:p/>
        </p:txBody>
      </p:sp>
      <p:sp>
        <p:nvSpPr>
          <p:cNvPr id="10" name="Shape 7"/>
          <p:cNvSpPr/>
          <p:nvPr/>
        </p:nvSpPr>
        <p:spPr>
          <a:xfrm>
            <a:off x="6428232" y="1463040"/>
            <a:ext cx="475488" cy="475488"/>
          </a:xfrm>
          <a:prstGeom prst="ellipse">
            <a:avLst/>
          </a:prstGeom>
          <a:solidFill>
            <a:srgbClr val="EBE4D4"/>
          </a:solidFill>
          <a:ln/>
        </p:spPr>
        <p:txBody>
          <a:bodyPr/>
          <a:p/>
        </p:txBody>
      </p:sp>
      <p:pic>
        <p:nvPicPr>
          <p:cNvPr id="11" name="Image 1" descr="preencoded.png">    </p:cNvPr>
          <p:cNvPicPr>
            <a:picLocks noChangeAspect="1"/>
          </p:cNvPicPr>
          <p:nvPr/>
        </p:nvPicPr>
        <p:blipFill>
          <a:blip r:embed="rId2"/>
          <a:stretch>
            <a:fillRect/>
          </a:stretch>
        </p:blipFill>
        <p:spPr>
          <a:xfrm>
            <a:off x="6510528" y="1545336"/>
            <a:ext cx="310896" cy="310896"/>
          </a:xfrm>
          <a:prstGeom prst="rect">
            <a:avLst/>
          </a:prstGeom>
        </p:spPr>
      </p:pic>
      <p:sp>
        <p:nvSpPr>
          <p:cNvPr id="12" name="Text 8"/>
          <p:cNvSpPr/>
          <p:nvPr/>
        </p:nvSpPr>
        <p:spPr>
          <a:xfrm>
            <a:off x="7040880" y="1499616"/>
            <a:ext cx="4297680" cy="384048"/>
          </a:xfrm>
          <a:prstGeom prst="rect">
            <a:avLst/>
          </a:prstGeom>
          <a:noFill/>
          <a:ln/>
        </p:spPr>
        <p:txBody>
          <a:bodyPr wrap="square" lIns="0" tIns="0" rIns="0" bIns="0" rtlCol="0" anchor="ctr"/>
          <a:lstStyle/>
          <a:p>
            <a:pPr indent="0" marL="0">
              <a:buNone/>
            </a:pPr>
            <a:r>
              <a:rPr lang="en-US" sz="2000" dirty="0">
                <a:solidFill>
                  <a:srgbClr val="1B3A2A"/>
                </a:solidFill>
                <a:latin typeface="Georgia" pitchFamily="34" charset="0"/>
                <a:ea typeface="Georgia" pitchFamily="34" charset="-122"/>
                <a:cs typeface="Georgia" pitchFamily="34" charset="-120"/>
              </a:rPr>
              <a:t>A simple pedagogy</a:t>
            </a:r>
            <a:endParaRPr lang="en-US" sz="2000" dirty="0"/>
          </a:p>
        </p:txBody>
      </p:sp>
      <p:sp>
        <p:nvSpPr>
          <p:cNvPr id="13" name="Text 9"/>
          <p:cNvSpPr/>
          <p:nvPr/>
        </p:nvSpPr>
        <p:spPr>
          <a:xfrm>
            <a:off x="6428232" y="2130552"/>
            <a:ext cx="4937760" cy="1051560"/>
          </a:xfrm>
          <a:prstGeom prst="rect">
            <a:avLst/>
          </a:prstGeom>
          <a:noFill/>
          <a:ln/>
        </p:spPr>
        <p:txBody>
          <a:bodyPr wrap="square" lIns="0" tIns="0" rIns="0" bIns="0" rtlCol="0" anchor="ctr"/>
          <a:lstStyle/>
          <a:p>
            <a:pPr indent="0" marL="0">
              <a:buNone/>
            </a:pPr>
            <a:r>
              <a:rPr lang="en-US" sz="1500" dirty="0">
                <a:solidFill>
                  <a:srgbClr val="4A554C"/>
                </a:solidFill>
                <a:latin typeface="Arial" pitchFamily="34" charset="0"/>
                <a:ea typeface="Arial" pitchFamily="34" charset="-122"/>
                <a:cs typeface="Arial" pitchFamily="34" charset="-120"/>
              </a:rPr>
              <a:t>Use four movements—Wonder, Gratitude, Stewardship, Action—that scale from kindergarten to fifth grade.</a:t>
            </a:r>
            <a:endParaRPr lang="en-US" sz="1500" dirty="0"/>
          </a:p>
        </p:txBody>
      </p:sp>
      <p:sp>
        <p:nvSpPr>
          <p:cNvPr id="14" name="Shape 10"/>
          <p:cNvSpPr/>
          <p:nvPr/>
        </p:nvSpPr>
        <p:spPr>
          <a:xfrm>
            <a:off x="502920" y="3639312"/>
            <a:ext cx="5440680" cy="2286000"/>
          </a:xfrm>
          <a:prstGeom prst="roundRect">
            <a:avLst>
              <a:gd name="adj" fmla="val 3200"/>
            </a:avLst>
          </a:prstGeom>
          <a:solidFill>
            <a:srgbClr val="FFFBF3"/>
          </a:solidFill>
          <a:ln/>
          <a:effectLst>
            <a:outerShdw sx="100000" sy="100000" kx="0" ky="0" algn="bl" rotWithShape="0" blurRad="101600" dist="25400" dir="8100000">
              <a:srgbClr val="000000">
                <a:alpha val="8000"/>
              </a:srgbClr>
            </a:outerShdw>
          </a:effectLst>
        </p:spPr>
        <p:txBody>
          <a:bodyPr/>
          <a:p/>
        </p:txBody>
      </p:sp>
      <p:sp>
        <p:nvSpPr>
          <p:cNvPr id="15" name="Shape 11"/>
          <p:cNvSpPr/>
          <p:nvPr/>
        </p:nvSpPr>
        <p:spPr>
          <a:xfrm>
            <a:off x="758952" y="3931920"/>
            <a:ext cx="475488" cy="475488"/>
          </a:xfrm>
          <a:prstGeom prst="ellipse">
            <a:avLst/>
          </a:prstGeom>
          <a:solidFill>
            <a:srgbClr val="EBE4D4"/>
          </a:solidFill>
          <a:ln/>
        </p:spPr>
        <p:txBody>
          <a:bodyPr/>
          <a:p/>
        </p:txBody>
      </p:sp>
      <p:pic>
        <p:nvPicPr>
          <p:cNvPr id="16" name="Image 2" descr="preencoded.png">    </p:cNvPr>
          <p:cNvPicPr>
            <a:picLocks noChangeAspect="1"/>
          </p:cNvPicPr>
          <p:nvPr/>
        </p:nvPicPr>
        <p:blipFill>
          <a:blip r:embed="rId3"/>
          <a:stretch>
            <a:fillRect/>
          </a:stretch>
        </p:blipFill>
        <p:spPr>
          <a:xfrm>
            <a:off x="841248" y="4014216"/>
            <a:ext cx="310896" cy="310896"/>
          </a:xfrm>
          <a:prstGeom prst="rect">
            <a:avLst/>
          </a:prstGeom>
        </p:spPr>
      </p:pic>
      <p:sp>
        <p:nvSpPr>
          <p:cNvPr id="17" name="Text 12"/>
          <p:cNvSpPr/>
          <p:nvPr/>
        </p:nvSpPr>
        <p:spPr>
          <a:xfrm>
            <a:off x="1371600" y="3968496"/>
            <a:ext cx="4297680" cy="384048"/>
          </a:xfrm>
          <a:prstGeom prst="rect">
            <a:avLst/>
          </a:prstGeom>
          <a:noFill/>
          <a:ln/>
        </p:spPr>
        <p:txBody>
          <a:bodyPr wrap="square" lIns="0" tIns="0" rIns="0" bIns="0" rtlCol="0" anchor="ctr"/>
          <a:lstStyle/>
          <a:p>
            <a:pPr indent="0" marL="0">
              <a:buNone/>
            </a:pPr>
            <a:r>
              <a:rPr lang="en-US" sz="2000" dirty="0">
                <a:solidFill>
                  <a:srgbClr val="1B3A2A"/>
                </a:solidFill>
                <a:latin typeface="Georgia" pitchFamily="34" charset="0"/>
                <a:ea typeface="Georgia" pitchFamily="34" charset="-122"/>
                <a:cs typeface="Georgia" pitchFamily="34" charset="-120"/>
              </a:rPr>
              <a:t>Ready strategies</a:t>
            </a:r>
            <a:endParaRPr lang="en-US" sz="2000" dirty="0"/>
          </a:p>
        </p:txBody>
      </p:sp>
      <p:sp>
        <p:nvSpPr>
          <p:cNvPr id="18" name="Text 13"/>
          <p:cNvSpPr/>
          <p:nvPr/>
        </p:nvSpPr>
        <p:spPr>
          <a:xfrm>
            <a:off x="758952" y="4599432"/>
            <a:ext cx="4937760" cy="1051560"/>
          </a:xfrm>
          <a:prstGeom prst="rect">
            <a:avLst/>
          </a:prstGeom>
          <a:noFill/>
          <a:ln/>
        </p:spPr>
        <p:txBody>
          <a:bodyPr wrap="square" lIns="0" tIns="0" rIns="0" bIns="0" rtlCol="0" anchor="ctr"/>
          <a:lstStyle/>
          <a:p>
            <a:pPr indent="0" marL="0">
              <a:buNone/>
            </a:pPr>
            <a:r>
              <a:rPr lang="en-US" sz="1500" dirty="0">
                <a:solidFill>
                  <a:srgbClr val="4A554C"/>
                </a:solidFill>
                <a:latin typeface="Arial" pitchFamily="34" charset="0"/>
                <a:ea typeface="Arial" pitchFamily="34" charset="-122"/>
                <a:cs typeface="Arial" pitchFamily="34" charset="-120"/>
              </a:rPr>
              <a:t>Walk away with routines, grade-banded activities, and a 30-day starter plan you can begin next week.</a:t>
            </a:r>
            <a:endParaRPr lang="en-US" sz="1500" dirty="0"/>
          </a:p>
        </p:txBody>
      </p:sp>
      <p:sp>
        <p:nvSpPr>
          <p:cNvPr id="19" name="Shape 14"/>
          <p:cNvSpPr/>
          <p:nvPr/>
        </p:nvSpPr>
        <p:spPr>
          <a:xfrm>
            <a:off x="6172200" y="3639312"/>
            <a:ext cx="5440680" cy="2286000"/>
          </a:xfrm>
          <a:prstGeom prst="roundRect">
            <a:avLst>
              <a:gd name="adj" fmla="val 3200"/>
            </a:avLst>
          </a:prstGeom>
          <a:solidFill>
            <a:srgbClr val="FFFBF3"/>
          </a:solidFill>
          <a:ln/>
          <a:effectLst>
            <a:outerShdw sx="100000" sy="100000" kx="0" ky="0" algn="bl" rotWithShape="0" blurRad="101600" dist="25400" dir="8100000">
              <a:srgbClr val="000000">
                <a:alpha val="8000"/>
              </a:srgbClr>
            </a:outerShdw>
          </a:effectLst>
        </p:spPr>
        <p:txBody>
          <a:bodyPr/>
          <a:p/>
        </p:txBody>
      </p:sp>
      <p:sp>
        <p:nvSpPr>
          <p:cNvPr id="20" name="Shape 15"/>
          <p:cNvSpPr/>
          <p:nvPr/>
        </p:nvSpPr>
        <p:spPr>
          <a:xfrm>
            <a:off x="6428232" y="3931920"/>
            <a:ext cx="475488" cy="475488"/>
          </a:xfrm>
          <a:prstGeom prst="ellipse">
            <a:avLst/>
          </a:prstGeom>
          <a:solidFill>
            <a:srgbClr val="EBE4D4"/>
          </a:solidFill>
          <a:ln/>
        </p:spPr>
        <p:txBody>
          <a:bodyPr/>
          <a:p/>
        </p:txBody>
      </p:sp>
      <p:pic>
        <p:nvPicPr>
          <p:cNvPr id="21" name="Image 3" descr="preencoded.png">    </p:cNvPr>
          <p:cNvPicPr>
            <a:picLocks noChangeAspect="1"/>
          </p:cNvPicPr>
          <p:nvPr/>
        </p:nvPicPr>
        <p:blipFill>
          <a:blip r:embed="rId4"/>
          <a:stretch>
            <a:fillRect/>
          </a:stretch>
        </p:blipFill>
        <p:spPr>
          <a:xfrm>
            <a:off x="6510528" y="4014216"/>
            <a:ext cx="310896" cy="310896"/>
          </a:xfrm>
          <a:prstGeom prst="rect">
            <a:avLst/>
          </a:prstGeom>
        </p:spPr>
      </p:pic>
      <p:sp>
        <p:nvSpPr>
          <p:cNvPr id="22" name="Text 16"/>
          <p:cNvSpPr/>
          <p:nvPr/>
        </p:nvSpPr>
        <p:spPr>
          <a:xfrm>
            <a:off x="7040880" y="3968496"/>
            <a:ext cx="4297680" cy="384048"/>
          </a:xfrm>
          <a:prstGeom prst="rect">
            <a:avLst/>
          </a:prstGeom>
          <a:noFill/>
          <a:ln/>
        </p:spPr>
        <p:txBody>
          <a:bodyPr wrap="square" lIns="0" tIns="0" rIns="0" bIns="0" rtlCol="0" anchor="ctr"/>
          <a:lstStyle/>
          <a:p>
            <a:pPr indent="0" marL="0">
              <a:buNone/>
            </a:pPr>
            <a:r>
              <a:rPr lang="en-US" sz="2000" dirty="0">
                <a:solidFill>
                  <a:srgbClr val="1B3A2A"/>
                </a:solidFill>
                <a:latin typeface="Georgia" pitchFamily="34" charset="0"/>
                <a:ea typeface="Georgia" pitchFamily="34" charset="-122"/>
                <a:cs typeface="Georgia" pitchFamily="34" charset="-120"/>
              </a:rPr>
              <a:t>A Catholic frame</a:t>
            </a:r>
            <a:endParaRPr lang="en-US" sz="2000" dirty="0"/>
          </a:p>
        </p:txBody>
      </p:sp>
      <p:sp>
        <p:nvSpPr>
          <p:cNvPr id="23" name="Text 17"/>
          <p:cNvSpPr/>
          <p:nvPr/>
        </p:nvSpPr>
        <p:spPr>
          <a:xfrm>
            <a:off x="6428232" y="4599432"/>
            <a:ext cx="4937760" cy="1051560"/>
          </a:xfrm>
          <a:prstGeom prst="rect">
            <a:avLst/>
          </a:prstGeom>
          <a:noFill/>
          <a:ln/>
        </p:spPr>
        <p:txBody>
          <a:bodyPr wrap="square" lIns="0" tIns="0" rIns="0" bIns="0" rtlCol="0" anchor="ctr"/>
          <a:lstStyle/>
          <a:p>
            <a:pPr indent="0" marL="0">
              <a:buNone/>
            </a:pPr>
            <a:r>
              <a:rPr lang="en-US" sz="1500" dirty="0">
                <a:solidFill>
                  <a:srgbClr val="4A554C"/>
                </a:solidFill>
                <a:latin typeface="Arial" pitchFamily="34" charset="0"/>
                <a:ea typeface="Arial" pitchFamily="34" charset="-122"/>
                <a:cs typeface="Arial" pitchFamily="34" charset="-120"/>
              </a:rPr>
              <a:t>Root the work in Church teaching, liturgy, and best practice—not in slogans or one-off Earth Day lessons.</a:t>
            </a:r>
            <a:endParaRPr lang="en-US" sz="1500" dirty="0"/>
          </a:p>
        </p:txBody>
      </p:sp>
      <p:sp>
        <p:nvSpPr>
          <p:cNvPr id="24" name="Shape 18"/>
          <p:cNvSpPr/>
          <p:nvPr/>
        </p:nvSpPr>
        <p:spPr>
          <a:xfrm>
            <a:off x="502920" y="6510528"/>
            <a:ext cx="11183112" cy="0"/>
          </a:xfrm>
          <a:prstGeom prst="line">
            <a:avLst/>
          </a:prstGeom>
          <a:noFill/>
          <a:ln w="7620">
            <a:solidFill>
              <a:srgbClr val="C9C0A8"/>
            </a:solidFill>
            <a:prstDash val="solid"/>
          </a:ln>
        </p:spPr>
        <p:txBody>
          <a:bodyPr/>
          <a:p/>
        </p:txBody>
      </p:sp>
      <p:sp>
        <p:nvSpPr>
          <p:cNvPr id="25" name="Text 19"/>
          <p:cNvSpPr/>
          <p:nvPr/>
        </p:nvSpPr>
        <p:spPr>
          <a:xfrm>
            <a:off x="502920" y="6547104"/>
            <a:ext cx="8412480" cy="237744"/>
          </a:xfrm>
          <a:prstGeom prst="rect">
            <a:avLst/>
          </a:prstGeom>
          <a:noFill/>
          <a:ln/>
        </p:spPr>
        <p:txBody>
          <a:bodyPr wrap="square" lIns="0" tIns="0" rIns="0" bIns="0" rtlCol="0" anchor="ctr"/>
          <a:lstStyle/>
          <a:p>
            <a:pPr indent="0" marL="0">
              <a:buNone/>
            </a:pPr>
            <a:r>
              <a:rPr lang="en-US" sz="900" spc="120" kern="0" dirty="0">
                <a:solidFill>
                  <a:srgbClr val="6B736C"/>
                </a:solidFill>
                <a:latin typeface="Arial" pitchFamily="34" charset="0"/>
                <a:ea typeface="Arial" pitchFamily="34" charset="-122"/>
                <a:cs typeface="Arial" pitchFamily="34" charset="-120"/>
              </a:rPr>
              <a:t>CREATION CARE IN THE CLASSROOM  ·  K–5 CATHOLIC TEACHERS</a:t>
            </a:r>
            <a:endParaRPr lang="en-US" sz="900" dirty="0"/>
          </a:p>
        </p:txBody>
      </p:sp>
      <p:sp>
        <p:nvSpPr>
          <p:cNvPr id="26" name="Text 20"/>
          <p:cNvSpPr/>
          <p:nvPr/>
        </p:nvSpPr>
        <p:spPr>
          <a:xfrm>
            <a:off x="9509760" y="6547104"/>
            <a:ext cx="2176272" cy="237744"/>
          </a:xfrm>
          <a:prstGeom prst="rect">
            <a:avLst/>
          </a:prstGeom>
          <a:noFill/>
          <a:ln/>
        </p:spPr>
        <p:txBody>
          <a:bodyPr wrap="square" lIns="0" tIns="0" rIns="0" bIns="0" rtlCol="0" anchor="ctr"/>
          <a:lstStyle/>
          <a:p>
            <a:pPr algn="r" indent="0" marL="0">
              <a:buNone/>
            </a:pPr>
            <a:r>
              <a:rPr lang="en-US" sz="900" dirty="0">
                <a:solidFill>
                  <a:srgbClr val="6B736C"/>
                </a:solidFill>
                <a:latin typeface="Arial" pitchFamily="34" charset="0"/>
                <a:ea typeface="Arial" pitchFamily="34" charset="-122"/>
                <a:cs typeface="Arial" pitchFamily="34" charset="-120"/>
              </a:rPr>
              <a:t>03  /  30</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EFE2"/>
        </a:solidFill>
      </p:bgPr>
    </p:bg>
    <p:spTree>
      <p:nvGrpSpPr>
        <p:cNvPr id="1" name=""/>
        <p:cNvGrpSpPr/>
        <p:nvPr/>
      </p:nvGrpSpPr>
      <p:grpSpPr>
        <a:xfrm>
          <a:off x="0" y="0"/>
          <a:ext cx="0" cy="0"/>
          <a:chOff x="0" y="0"/>
          <a:chExt cx="0" cy="0"/>
        </a:xfrm>
      </p:grpSpPr>
      <p:sp>
        <p:nvSpPr>
          <p:cNvPr id="2" name="Text 0"/>
          <p:cNvSpPr/>
          <p:nvPr/>
        </p:nvSpPr>
        <p:spPr>
          <a:xfrm>
            <a:off x="502920" y="256032"/>
            <a:ext cx="11155680" cy="219456"/>
          </a:xfrm>
          <a:prstGeom prst="rect">
            <a:avLst/>
          </a:prstGeom>
          <a:noFill/>
          <a:ln/>
        </p:spPr>
        <p:txBody>
          <a:bodyPr wrap="square" lIns="0" tIns="0" rIns="0" bIns="0" rtlCol="0" anchor="ctr"/>
          <a:lstStyle/>
          <a:p>
            <a:pPr indent="0" marL="0">
              <a:buNone/>
            </a:pPr>
            <a:r>
              <a:rPr lang="en-US" sz="1100" b="1" spc="220" kern="0" dirty="0">
                <a:solidFill>
                  <a:srgbClr val="4F7A5C"/>
                </a:solidFill>
                <a:latin typeface="Arial" pitchFamily="34" charset="0"/>
                <a:ea typeface="Arial" pitchFamily="34" charset="-122"/>
                <a:cs typeface="Arial" pitchFamily="34" charset="-120"/>
              </a:rPr>
              <a:t>03  ·  HOW WE WILL USE 50 MINUTES</a:t>
            </a:r>
            <a:endParaRPr lang="en-US" sz="1100" dirty="0"/>
          </a:p>
        </p:txBody>
      </p:sp>
      <p:sp>
        <p:nvSpPr>
          <p:cNvPr id="3" name="Text 1"/>
          <p:cNvSpPr/>
          <p:nvPr/>
        </p:nvSpPr>
        <p:spPr>
          <a:xfrm>
            <a:off x="502920" y="475488"/>
            <a:ext cx="11155680" cy="475488"/>
          </a:xfrm>
          <a:prstGeom prst="rect">
            <a:avLst/>
          </a:prstGeom>
          <a:noFill/>
          <a:ln/>
        </p:spPr>
        <p:txBody>
          <a:bodyPr wrap="square" lIns="0" tIns="0" rIns="0" bIns="0" rtlCol="0" anchor="ctr"/>
          <a:lstStyle/>
          <a:p>
            <a:pPr indent="0" marL="0">
              <a:buNone/>
            </a:pPr>
            <a:r>
              <a:rPr lang="en-US" sz="2600" dirty="0">
                <a:solidFill>
                  <a:srgbClr val="1B3A2A"/>
                </a:solidFill>
                <a:latin typeface="Georgia" pitchFamily="34" charset="0"/>
                <a:ea typeface="Georgia" pitchFamily="34" charset="-122"/>
                <a:cs typeface="Georgia" pitchFamily="34" charset="-120"/>
              </a:rPr>
              <a:t>A working session, not a lecture</a:t>
            </a:r>
            <a:endParaRPr lang="en-US" sz="2600" dirty="0"/>
          </a:p>
        </p:txBody>
      </p:sp>
      <p:sp>
        <p:nvSpPr>
          <p:cNvPr id="4" name="Shape 2"/>
          <p:cNvSpPr/>
          <p:nvPr/>
        </p:nvSpPr>
        <p:spPr>
          <a:xfrm>
            <a:off x="502920" y="1143000"/>
            <a:ext cx="11183112" cy="877824"/>
          </a:xfrm>
          <a:prstGeom prst="roundRect">
            <a:avLst>
              <a:gd name="adj" fmla="val 6250"/>
            </a:avLst>
          </a:prstGeom>
          <a:solidFill>
            <a:srgbClr val="FFFBF3"/>
          </a:solidFill>
          <a:ln/>
        </p:spPr>
        <p:txBody>
          <a:bodyPr/>
          <a:p/>
        </p:txBody>
      </p:sp>
      <p:sp>
        <p:nvSpPr>
          <p:cNvPr id="5" name="Shape 3"/>
          <p:cNvSpPr/>
          <p:nvPr/>
        </p:nvSpPr>
        <p:spPr>
          <a:xfrm>
            <a:off x="640080" y="1344168"/>
            <a:ext cx="1554480" cy="475488"/>
          </a:xfrm>
          <a:prstGeom prst="roundRect">
            <a:avLst>
              <a:gd name="adj" fmla="val 11538"/>
            </a:avLst>
          </a:prstGeom>
          <a:solidFill>
            <a:srgbClr val="1B3A2A"/>
          </a:solidFill>
          <a:ln/>
        </p:spPr>
        <p:txBody>
          <a:bodyPr/>
          <a:p/>
        </p:txBody>
      </p:sp>
      <p:sp>
        <p:nvSpPr>
          <p:cNvPr id="6" name="Text 4"/>
          <p:cNvSpPr/>
          <p:nvPr/>
        </p:nvSpPr>
        <p:spPr>
          <a:xfrm>
            <a:off x="640080" y="1344168"/>
            <a:ext cx="1554480" cy="475488"/>
          </a:xfrm>
          <a:prstGeom prst="rect">
            <a:avLst/>
          </a:prstGeom>
          <a:noFill/>
          <a:ln/>
        </p:spPr>
        <p:txBody>
          <a:bodyPr wrap="square" lIns="0" tIns="0" rIns="0" bIns="0" rtlCol="0" anchor="ctr"/>
          <a:lstStyle/>
          <a:p>
            <a:pPr algn="ctr" indent="0" marL="0">
              <a:buNone/>
            </a:pPr>
            <a:r>
              <a:rPr sz="1200" b="1">
                <a:solidFill>
                  <a:srgbClr val="F4EFE2"/>
                </a:solidFill>
                <a:latin typeface="Arial"/>
              </a:rPr>
              <a:t>0–7 min</a:t>
            </a:r>
            <a:endParaRPr lang="en-US" sz="1200" dirty="0"/>
          </a:p>
        </p:txBody>
      </p:sp>
      <p:sp>
        <p:nvSpPr>
          <p:cNvPr id="7" name="Text 5"/>
          <p:cNvSpPr/>
          <p:nvPr/>
        </p:nvSpPr>
        <p:spPr>
          <a:xfrm>
            <a:off x="2377440" y="1271016"/>
            <a:ext cx="2926080" cy="621792"/>
          </a:xfrm>
          <a:prstGeom prst="rect">
            <a:avLst/>
          </a:prstGeom>
          <a:noFill/>
          <a:ln/>
        </p:spPr>
        <p:txBody>
          <a:bodyPr wrap="square" lIns="0" tIns="0" rIns="0" bIns="0" rtlCol="0" anchor="ctr"/>
          <a:lstStyle/>
          <a:p>
            <a:pPr indent="0" marL="0">
              <a:buNone/>
            </a:pPr>
            <a:r>
              <a:rPr lang="en-US" sz="1800" dirty="0">
                <a:solidFill>
                  <a:srgbClr val="1B3A2A"/>
                </a:solidFill>
                <a:latin typeface="Georgia" pitchFamily="34" charset="0"/>
                <a:ea typeface="Georgia" pitchFamily="34" charset="-122"/>
                <a:cs typeface="Georgia" pitchFamily="34" charset="-120"/>
              </a:rPr>
              <a:t>Foundation</a:t>
            </a:r>
            <a:endParaRPr lang="en-US" sz="1800" dirty="0"/>
          </a:p>
        </p:txBody>
      </p:sp>
      <p:sp>
        <p:nvSpPr>
          <p:cNvPr id="8" name="Text 6"/>
          <p:cNvSpPr/>
          <p:nvPr/>
        </p:nvSpPr>
        <p:spPr>
          <a:xfrm>
            <a:off x="5394960" y="1271016"/>
            <a:ext cx="6035040" cy="621792"/>
          </a:xfrm>
          <a:prstGeom prst="rect">
            <a:avLst/>
          </a:prstGeom>
          <a:noFill/>
          <a:ln/>
        </p:spPr>
        <p:txBody>
          <a:bodyPr wrap="square" lIns="0" tIns="0" rIns="0" bIns="0" rtlCol="0" anchor="ctr"/>
          <a:lstStyle/>
          <a:p>
            <a:pPr indent="0" marL="0">
              <a:buNone/>
            </a:pPr>
            <a:r>
              <a:rPr lang="en-US" sz="1500" dirty="0">
                <a:solidFill>
                  <a:srgbClr val="4A554C"/>
                </a:solidFill>
                <a:latin typeface="Arial" pitchFamily="34" charset="0"/>
                <a:ea typeface="Arial" pitchFamily="34" charset="-122"/>
                <a:cs typeface="Arial" pitchFamily="34" charset="-120"/>
              </a:rPr>
              <a:t>Prayer, the Jubilee Year, and why Francis still teaches children.</a:t>
            </a:r>
            <a:endParaRPr lang="en-US" sz="1500" dirty="0"/>
          </a:p>
        </p:txBody>
      </p:sp>
      <p:sp>
        <p:nvSpPr>
          <p:cNvPr id="9" name="Shape 7"/>
          <p:cNvSpPr/>
          <p:nvPr/>
        </p:nvSpPr>
        <p:spPr>
          <a:xfrm>
            <a:off x="502920" y="2130552"/>
            <a:ext cx="11183112" cy="877824"/>
          </a:xfrm>
          <a:prstGeom prst="roundRect">
            <a:avLst>
              <a:gd name="adj" fmla="val 6250"/>
            </a:avLst>
          </a:prstGeom>
          <a:solidFill>
            <a:srgbClr val="EBE4D4"/>
          </a:solidFill>
          <a:ln/>
        </p:spPr>
        <p:txBody>
          <a:bodyPr/>
          <a:p/>
        </p:txBody>
      </p:sp>
      <p:sp>
        <p:nvSpPr>
          <p:cNvPr id="10" name="Shape 8"/>
          <p:cNvSpPr/>
          <p:nvPr/>
        </p:nvSpPr>
        <p:spPr>
          <a:xfrm>
            <a:off x="640080" y="2331720"/>
            <a:ext cx="1554480" cy="475488"/>
          </a:xfrm>
          <a:prstGeom prst="roundRect">
            <a:avLst>
              <a:gd name="adj" fmla="val 11538"/>
            </a:avLst>
          </a:prstGeom>
          <a:solidFill>
            <a:srgbClr val="1B3A2A"/>
          </a:solidFill>
          <a:ln/>
        </p:spPr>
        <p:txBody>
          <a:bodyPr/>
          <a:p/>
        </p:txBody>
      </p:sp>
      <p:sp>
        <p:nvSpPr>
          <p:cNvPr id="11" name="Text 9"/>
          <p:cNvSpPr/>
          <p:nvPr/>
        </p:nvSpPr>
        <p:spPr>
          <a:xfrm>
            <a:off x="640080" y="2331720"/>
            <a:ext cx="1554480" cy="475488"/>
          </a:xfrm>
          <a:prstGeom prst="rect">
            <a:avLst/>
          </a:prstGeom>
          <a:noFill/>
          <a:ln/>
        </p:spPr>
        <p:txBody>
          <a:bodyPr wrap="square" lIns="0" tIns="0" rIns="0" bIns="0" rtlCol="0" anchor="ctr"/>
          <a:lstStyle/>
          <a:p>
            <a:pPr algn="ctr" indent="0" marL="0">
              <a:buNone/>
            </a:pPr>
            <a:r>
              <a:rPr sz="1200" b="1">
                <a:solidFill>
                  <a:srgbClr val="F4EFE2"/>
                </a:solidFill>
                <a:latin typeface="Arial"/>
              </a:rPr>
              <a:t>7–15 min</a:t>
            </a:r>
            <a:endParaRPr lang="en-US" sz="1200" dirty="0"/>
          </a:p>
        </p:txBody>
      </p:sp>
      <p:sp>
        <p:nvSpPr>
          <p:cNvPr id="12" name="Text 10"/>
          <p:cNvSpPr/>
          <p:nvPr/>
        </p:nvSpPr>
        <p:spPr>
          <a:xfrm>
            <a:off x="2377440" y="2258568"/>
            <a:ext cx="2926080" cy="621792"/>
          </a:xfrm>
          <a:prstGeom prst="rect">
            <a:avLst/>
          </a:prstGeom>
          <a:noFill/>
          <a:ln/>
        </p:spPr>
        <p:txBody>
          <a:bodyPr wrap="square" lIns="0" tIns="0" rIns="0" bIns="0" rtlCol="0" anchor="ctr"/>
          <a:lstStyle/>
          <a:p>
            <a:pPr indent="0" marL="0">
              <a:buNone/>
            </a:pPr>
            <a:r>
              <a:rPr lang="en-US" sz="1800" dirty="0">
                <a:solidFill>
                  <a:srgbClr val="1B3A2A"/>
                </a:solidFill>
                <a:latin typeface="Georgia" pitchFamily="34" charset="0"/>
                <a:ea typeface="Georgia" pitchFamily="34" charset="-122"/>
                <a:cs typeface="Georgia" pitchFamily="34" charset="-120"/>
              </a:rPr>
              <a:t>Catholic frame</a:t>
            </a:r>
            <a:endParaRPr lang="en-US" sz="1800" dirty="0"/>
          </a:p>
        </p:txBody>
      </p:sp>
      <p:sp>
        <p:nvSpPr>
          <p:cNvPr id="13" name="Text 11"/>
          <p:cNvSpPr/>
          <p:nvPr/>
        </p:nvSpPr>
        <p:spPr>
          <a:xfrm>
            <a:off x="5394960" y="2258568"/>
            <a:ext cx="6035040" cy="621792"/>
          </a:xfrm>
          <a:prstGeom prst="rect">
            <a:avLst/>
          </a:prstGeom>
          <a:noFill/>
          <a:ln/>
        </p:spPr>
        <p:txBody>
          <a:bodyPr wrap="square" lIns="0" tIns="0" rIns="0" bIns="0" rtlCol="0" anchor="ctr"/>
          <a:lstStyle/>
          <a:p>
            <a:pPr indent="0" marL="0">
              <a:buNone/>
            </a:pPr>
            <a:r>
              <a:rPr lang="en-US" sz="1500" dirty="0">
                <a:solidFill>
                  <a:srgbClr val="4A554C"/>
                </a:solidFill>
                <a:latin typeface="Arial" pitchFamily="34" charset="0"/>
                <a:ea typeface="Arial" pitchFamily="34" charset="-122"/>
                <a:cs typeface="Arial" pitchFamily="34" charset="-120"/>
              </a:rPr>
              <a:t>Best practice in Catholic schools and a four-movement pedagogy.</a:t>
            </a:r>
            <a:endParaRPr lang="en-US" sz="1500" dirty="0"/>
          </a:p>
        </p:txBody>
      </p:sp>
      <p:sp>
        <p:nvSpPr>
          <p:cNvPr id="14" name="Shape 12"/>
          <p:cNvSpPr/>
          <p:nvPr/>
        </p:nvSpPr>
        <p:spPr>
          <a:xfrm>
            <a:off x="502920" y="3118104"/>
            <a:ext cx="11183112" cy="877824"/>
          </a:xfrm>
          <a:prstGeom prst="roundRect">
            <a:avLst>
              <a:gd name="adj" fmla="val 6250"/>
            </a:avLst>
          </a:prstGeom>
          <a:solidFill>
            <a:srgbClr val="FFFBF3"/>
          </a:solidFill>
          <a:ln/>
        </p:spPr>
        <p:txBody>
          <a:bodyPr/>
          <a:p/>
        </p:txBody>
      </p:sp>
      <p:sp>
        <p:nvSpPr>
          <p:cNvPr id="15" name="Shape 13"/>
          <p:cNvSpPr/>
          <p:nvPr/>
        </p:nvSpPr>
        <p:spPr>
          <a:xfrm>
            <a:off x="640080" y="3319272"/>
            <a:ext cx="1554480" cy="475488"/>
          </a:xfrm>
          <a:prstGeom prst="roundRect">
            <a:avLst>
              <a:gd name="adj" fmla="val 11538"/>
            </a:avLst>
          </a:prstGeom>
          <a:solidFill>
            <a:srgbClr val="1B3A2A"/>
          </a:solidFill>
          <a:ln/>
        </p:spPr>
        <p:txBody>
          <a:bodyPr/>
          <a:p/>
        </p:txBody>
      </p:sp>
      <p:sp>
        <p:nvSpPr>
          <p:cNvPr id="16" name="Text 14"/>
          <p:cNvSpPr/>
          <p:nvPr/>
        </p:nvSpPr>
        <p:spPr>
          <a:xfrm>
            <a:off x="640080" y="3319272"/>
            <a:ext cx="1554480" cy="475488"/>
          </a:xfrm>
          <a:prstGeom prst="rect">
            <a:avLst/>
          </a:prstGeom>
          <a:noFill/>
          <a:ln/>
        </p:spPr>
        <p:txBody>
          <a:bodyPr wrap="square" lIns="0" tIns="0" rIns="0" bIns="0" rtlCol="0" anchor="ctr"/>
          <a:lstStyle/>
          <a:p>
            <a:pPr algn="ctr" indent="0" marL="0">
              <a:buNone/>
            </a:pPr>
            <a:r>
              <a:rPr sz="1200" b="1">
                <a:solidFill>
                  <a:srgbClr val="F4EFE2"/>
                </a:solidFill>
                <a:latin typeface="Arial"/>
              </a:rPr>
              <a:t>15–23 min</a:t>
            </a:r>
            <a:endParaRPr lang="en-US" sz="1200" dirty="0"/>
          </a:p>
        </p:txBody>
      </p:sp>
      <p:sp>
        <p:nvSpPr>
          <p:cNvPr id="17" name="Text 15"/>
          <p:cNvSpPr/>
          <p:nvPr/>
        </p:nvSpPr>
        <p:spPr>
          <a:xfrm>
            <a:off x="2377440" y="3246120"/>
            <a:ext cx="2926080" cy="621792"/>
          </a:xfrm>
          <a:prstGeom prst="rect">
            <a:avLst/>
          </a:prstGeom>
          <a:noFill/>
          <a:ln/>
        </p:spPr>
        <p:txBody>
          <a:bodyPr wrap="square" lIns="0" tIns="0" rIns="0" bIns="0" rtlCol="0" anchor="ctr"/>
          <a:lstStyle/>
          <a:p>
            <a:pPr indent="0" marL="0">
              <a:buNone/>
            </a:pPr>
            <a:r>
              <a:rPr sz="1800">
                <a:solidFill>
                  <a:srgbClr val="1B3A2A"/>
                </a:solidFill>
                <a:latin typeface="Georgia"/>
              </a:rPr>
              <a:t>Move &amp; engage</a:t>
            </a:r>
            <a:endParaRPr lang="en-US" sz="1800" dirty="0"/>
          </a:p>
        </p:txBody>
      </p:sp>
      <p:sp>
        <p:nvSpPr>
          <p:cNvPr id="18" name="Text 16"/>
          <p:cNvSpPr/>
          <p:nvPr/>
        </p:nvSpPr>
        <p:spPr>
          <a:xfrm>
            <a:off x="5394960" y="3246120"/>
            <a:ext cx="6035040" cy="621792"/>
          </a:xfrm>
          <a:prstGeom prst="rect">
            <a:avLst/>
          </a:prstGeom>
          <a:noFill/>
          <a:ln/>
        </p:spPr>
        <p:txBody>
          <a:bodyPr wrap="square" lIns="0" tIns="0" rIns="0" bIns="0" rtlCol="0" anchor="ctr"/>
          <a:lstStyle/>
          <a:p>
            <a:pPr indent="0" marL="0">
              <a:buNone/>
            </a:pPr>
            <a:r>
              <a:rPr sz="1500">
                <a:solidFill>
                  <a:srgbClr val="4A554C"/>
                </a:solidFill>
                <a:latin typeface="Arial"/>
              </a:rPr>
              <a:t>Four Corners stand-up: pray, teach, habit, or go outside — then one try this month.</a:t>
            </a:r>
            <a:endParaRPr lang="en-US" sz="1500" dirty="0"/>
          </a:p>
        </p:txBody>
      </p:sp>
      <p:sp>
        <p:nvSpPr>
          <p:cNvPr id="19" name="Shape 17"/>
          <p:cNvSpPr/>
          <p:nvPr/>
        </p:nvSpPr>
        <p:spPr>
          <a:xfrm>
            <a:off x="502920" y="4105656"/>
            <a:ext cx="11183112" cy="877824"/>
          </a:xfrm>
          <a:prstGeom prst="roundRect">
            <a:avLst>
              <a:gd name="adj" fmla="val 6250"/>
            </a:avLst>
          </a:prstGeom>
          <a:solidFill>
            <a:srgbClr val="EBE4D4"/>
          </a:solidFill>
          <a:ln/>
        </p:spPr>
        <p:txBody>
          <a:bodyPr/>
          <a:p/>
        </p:txBody>
      </p:sp>
      <p:sp>
        <p:nvSpPr>
          <p:cNvPr id="20" name="Shape 18"/>
          <p:cNvSpPr/>
          <p:nvPr/>
        </p:nvSpPr>
        <p:spPr>
          <a:xfrm>
            <a:off x="640080" y="4306824"/>
            <a:ext cx="1554480" cy="475488"/>
          </a:xfrm>
          <a:prstGeom prst="roundRect">
            <a:avLst>
              <a:gd name="adj" fmla="val 11538"/>
            </a:avLst>
          </a:prstGeom>
          <a:solidFill>
            <a:srgbClr val="1B3A2A"/>
          </a:solidFill>
          <a:ln/>
        </p:spPr>
        <p:txBody>
          <a:bodyPr/>
          <a:p/>
        </p:txBody>
      </p:sp>
      <p:sp>
        <p:nvSpPr>
          <p:cNvPr id="21" name="Text 19"/>
          <p:cNvSpPr/>
          <p:nvPr/>
        </p:nvSpPr>
        <p:spPr>
          <a:xfrm>
            <a:off x="640080" y="4306824"/>
            <a:ext cx="1554480" cy="475488"/>
          </a:xfrm>
          <a:prstGeom prst="rect">
            <a:avLst/>
          </a:prstGeom>
          <a:noFill/>
          <a:ln/>
        </p:spPr>
        <p:txBody>
          <a:bodyPr wrap="square" lIns="0" tIns="0" rIns="0" bIns="0" rtlCol="0" anchor="ctr"/>
          <a:lstStyle/>
          <a:p>
            <a:pPr algn="ctr" indent="0" marL="0">
              <a:buNone/>
            </a:pPr>
            <a:r>
              <a:rPr sz="1200" b="1">
                <a:solidFill>
                  <a:srgbClr val="F4EFE2"/>
                </a:solidFill>
                <a:latin typeface="Arial"/>
              </a:rPr>
              <a:t>23–38 min</a:t>
            </a:r>
            <a:endParaRPr lang="en-US" sz="1200" dirty="0"/>
          </a:p>
        </p:txBody>
      </p:sp>
      <p:sp>
        <p:nvSpPr>
          <p:cNvPr id="22" name="Text 20"/>
          <p:cNvSpPr/>
          <p:nvPr/>
        </p:nvSpPr>
        <p:spPr>
          <a:xfrm>
            <a:off x="2377440" y="4233672"/>
            <a:ext cx="2926080" cy="621792"/>
          </a:xfrm>
          <a:prstGeom prst="rect">
            <a:avLst/>
          </a:prstGeom>
          <a:noFill/>
          <a:ln/>
        </p:spPr>
        <p:txBody>
          <a:bodyPr wrap="square" lIns="0" tIns="0" rIns="0" bIns="0" rtlCol="0" anchor="ctr"/>
          <a:lstStyle/>
          <a:p>
            <a:pPr indent="0" marL="0">
              <a:buNone/>
            </a:pPr>
            <a:r>
              <a:rPr sz="1800">
                <a:solidFill>
                  <a:srgbClr val="1B3A2A"/>
                </a:solidFill>
                <a:latin typeface="Georgia"/>
              </a:rPr>
              <a:t>Classroom craft</a:t>
            </a:r>
            <a:endParaRPr lang="en-US" sz="1800" dirty="0"/>
          </a:p>
        </p:txBody>
      </p:sp>
      <p:sp>
        <p:nvSpPr>
          <p:cNvPr id="23" name="Text 21"/>
          <p:cNvSpPr/>
          <p:nvPr/>
        </p:nvSpPr>
        <p:spPr>
          <a:xfrm>
            <a:off x="5394960" y="4233672"/>
            <a:ext cx="6035040" cy="621792"/>
          </a:xfrm>
          <a:prstGeom prst="rect">
            <a:avLst/>
          </a:prstGeom>
          <a:noFill/>
          <a:ln/>
        </p:spPr>
        <p:txBody>
          <a:bodyPr wrap="square" lIns="0" tIns="0" rIns="0" bIns="0" rtlCol="0" anchor="ctr"/>
          <a:lstStyle/>
          <a:p>
            <a:pPr indent="0" marL="0">
              <a:buNone/>
            </a:pPr>
            <a:r>
              <a:rPr sz="1500">
                <a:solidFill>
                  <a:srgbClr val="4A554C"/>
                </a:solidFill>
                <a:latin typeface="Arial"/>
              </a:rPr>
              <a:t>K–2 and 3–5 strategies, routines, Season of Creation, families, guardrails.</a:t>
            </a:r>
            <a:endParaRPr lang="en-US" sz="1500" dirty="0"/>
          </a:p>
        </p:txBody>
      </p:sp>
      <p:sp>
        <p:nvSpPr>
          <p:cNvPr id="24" name="Shape 22"/>
          <p:cNvSpPr/>
          <p:nvPr/>
        </p:nvSpPr>
        <p:spPr>
          <a:xfrm>
            <a:off x="502920" y="5093208"/>
            <a:ext cx="11183112" cy="877824"/>
          </a:xfrm>
          <a:prstGeom prst="roundRect">
            <a:avLst>
              <a:gd name="adj" fmla="val 6250"/>
            </a:avLst>
          </a:prstGeom>
          <a:solidFill>
            <a:srgbClr val="FFFBF3"/>
          </a:solidFill>
          <a:ln/>
        </p:spPr>
        <p:txBody>
          <a:bodyPr/>
          <a:p/>
        </p:txBody>
      </p:sp>
      <p:sp>
        <p:nvSpPr>
          <p:cNvPr id="25" name="Shape 23"/>
          <p:cNvSpPr/>
          <p:nvPr/>
        </p:nvSpPr>
        <p:spPr>
          <a:xfrm>
            <a:off x="640080" y="5294376"/>
            <a:ext cx="1554480" cy="475488"/>
          </a:xfrm>
          <a:prstGeom prst="roundRect">
            <a:avLst>
              <a:gd name="adj" fmla="val 11538"/>
            </a:avLst>
          </a:prstGeom>
          <a:solidFill>
            <a:srgbClr val="1B3A2A"/>
          </a:solidFill>
          <a:ln/>
        </p:spPr>
        <p:txBody>
          <a:bodyPr/>
          <a:p/>
        </p:txBody>
      </p:sp>
      <p:sp>
        <p:nvSpPr>
          <p:cNvPr id="26" name="Text 24"/>
          <p:cNvSpPr/>
          <p:nvPr/>
        </p:nvSpPr>
        <p:spPr>
          <a:xfrm>
            <a:off x="640080" y="5294376"/>
            <a:ext cx="1554480" cy="475488"/>
          </a:xfrm>
          <a:prstGeom prst="rect">
            <a:avLst/>
          </a:prstGeom>
          <a:noFill/>
          <a:ln/>
        </p:spPr>
        <p:txBody>
          <a:bodyPr wrap="square" lIns="0" tIns="0" rIns="0" bIns="0" rtlCol="0" anchor="ctr"/>
          <a:lstStyle/>
          <a:p>
            <a:pPr algn="ctr" indent="0" marL="0">
              <a:buNone/>
            </a:pPr>
            <a:r>
              <a:rPr sz="1200" b="1">
                <a:solidFill>
                  <a:srgbClr val="F4EFE2"/>
                </a:solidFill>
                <a:latin typeface="Arial"/>
              </a:rPr>
              <a:t>38–50 min</a:t>
            </a:r>
            <a:endParaRPr lang="en-US" sz="1200" dirty="0"/>
          </a:p>
        </p:txBody>
      </p:sp>
      <p:sp>
        <p:nvSpPr>
          <p:cNvPr id="27" name="Text 25"/>
          <p:cNvSpPr/>
          <p:nvPr/>
        </p:nvSpPr>
        <p:spPr>
          <a:xfrm>
            <a:off x="2377440" y="5221224"/>
            <a:ext cx="2926080" cy="621792"/>
          </a:xfrm>
          <a:prstGeom prst="rect">
            <a:avLst/>
          </a:prstGeom>
          <a:noFill/>
          <a:ln/>
        </p:spPr>
        <p:txBody>
          <a:bodyPr wrap="square" lIns="0" tIns="0" rIns="0" bIns="0" rtlCol="0" anchor="ctr"/>
          <a:lstStyle/>
          <a:p>
            <a:pPr indent="0" marL="0">
              <a:buNone/>
            </a:pPr>
            <a:r>
              <a:rPr sz="1800">
                <a:solidFill>
                  <a:srgbClr val="1B3A2A"/>
                </a:solidFill>
                <a:latin typeface="Georgia"/>
              </a:rPr>
              <a:t>Commit &amp; close</a:t>
            </a:r>
            <a:endParaRPr lang="en-US" sz="1800" dirty="0"/>
          </a:p>
        </p:txBody>
      </p:sp>
      <p:sp>
        <p:nvSpPr>
          <p:cNvPr id="28" name="Text 26"/>
          <p:cNvSpPr/>
          <p:nvPr/>
        </p:nvSpPr>
        <p:spPr>
          <a:xfrm>
            <a:off x="5394960" y="5221224"/>
            <a:ext cx="6035040" cy="621792"/>
          </a:xfrm>
          <a:prstGeom prst="rect">
            <a:avLst/>
          </a:prstGeom>
          <a:noFill/>
          <a:ln/>
        </p:spPr>
        <p:txBody>
          <a:bodyPr wrap="square" lIns="0" tIns="0" rIns="0" bIns="0" rtlCol="0" anchor="ctr"/>
          <a:lstStyle/>
          <a:p>
            <a:pPr indent="0" marL="0">
              <a:buNone/>
            </a:pPr>
            <a:r>
              <a:rPr sz="1500">
                <a:solidFill>
                  <a:srgbClr val="4A554C"/>
                </a:solidFill>
                <a:latin typeface="Arial"/>
              </a:rPr>
              <a:t>30-day plan, school action plan + award, pledge, survey.</a:t>
            </a:r>
            <a:endParaRPr lang="en-US" sz="1500" dirty="0"/>
          </a:p>
        </p:txBody>
      </p:sp>
      <p:sp>
        <p:nvSpPr>
          <p:cNvPr id="29" name="Shape 27"/>
          <p:cNvSpPr/>
          <p:nvPr/>
        </p:nvSpPr>
        <p:spPr>
          <a:xfrm>
            <a:off x="502920" y="6510528"/>
            <a:ext cx="11183112" cy="0"/>
          </a:xfrm>
          <a:prstGeom prst="line">
            <a:avLst/>
          </a:prstGeom>
          <a:noFill/>
          <a:ln w="7620">
            <a:solidFill>
              <a:srgbClr val="C9C0A8"/>
            </a:solidFill>
            <a:prstDash val="solid"/>
          </a:ln>
        </p:spPr>
        <p:txBody>
          <a:bodyPr/>
          <a:p/>
        </p:txBody>
      </p:sp>
      <p:sp>
        <p:nvSpPr>
          <p:cNvPr id="30" name="Text 28"/>
          <p:cNvSpPr/>
          <p:nvPr/>
        </p:nvSpPr>
        <p:spPr>
          <a:xfrm>
            <a:off x="502920" y="6547104"/>
            <a:ext cx="8412480" cy="237744"/>
          </a:xfrm>
          <a:prstGeom prst="rect">
            <a:avLst/>
          </a:prstGeom>
          <a:noFill/>
          <a:ln/>
        </p:spPr>
        <p:txBody>
          <a:bodyPr wrap="square" lIns="0" tIns="0" rIns="0" bIns="0" rtlCol="0" anchor="ctr"/>
          <a:lstStyle/>
          <a:p>
            <a:pPr indent="0" marL="0">
              <a:buNone/>
            </a:pPr>
            <a:r>
              <a:rPr lang="en-US" sz="900" spc="120" kern="0" dirty="0">
                <a:solidFill>
                  <a:srgbClr val="6B736C"/>
                </a:solidFill>
                <a:latin typeface="Arial" pitchFamily="34" charset="0"/>
                <a:ea typeface="Arial" pitchFamily="34" charset="-122"/>
                <a:cs typeface="Arial" pitchFamily="34" charset="-120"/>
              </a:rPr>
              <a:t>CREATION CARE IN THE CLASSROOM  ·  K–5 CATHOLIC TEACHERS</a:t>
            </a:r>
            <a:endParaRPr lang="en-US" sz="900" dirty="0"/>
          </a:p>
        </p:txBody>
      </p:sp>
      <p:sp>
        <p:nvSpPr>
          <p:cNvPr id="31" name="Text 29"/>
          <p:cNvSpPr/>
          <p:nvPr/>
        </p:nvSpPr>
        <p:spPr>
          <a:xfrm>
            <a:off x="9509760" y="6547104"/>
            <a:ext cx="2176272" cy="237744"/>
          </a:xfrm>
          <a:prstGeom prst="rect">
            <a:avLst/>
          </a:prstGeom>
          <a:noFill/>
          <a:ln/>
        </p:spPr>
        <p:txBody>
          <a:bodyPr wrap="square" lIns="0" tIns="0" rIns="0" bIns="0" rtlCol="0" anchor="ctr"/>
          <a:lstStyle/>
          <a:p>
            <a:pPr algn="r" indent="0" marL="0">
              <a:buNone/>
            </a:pPr>
            <a:r>
              <a:rPr lang="en-US" sz="900" dirty="0">
                <a:solidFill>
                  <a:srgbClr val="6B736C"/>
                </a:solidFill>
                <a:latin typeface="Arial" pitchFamily="34" charset="0"/>
                <a:ea typeface="Arial" pitchFamily="34" charset="-122"/>
                <a:cs typeface="Arial" pitchFamily="34" charset="-120"/>
              </a:rPr>
              <a:t>04  /  30</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EFE2"/>
        </a:solidFill>
      </p:bgPr>
    </p:bg>
    <p:spTree>
      <p:nvGrpSpPr>
        <p:cNvPr id="1" name=""/>
        <p:cNvGrpSpPr/>
        <p:nvPr/>
      </p:nvGrpSpPr>
      <p:grpSpPr>
        <a:xfrm>
          <a:off x="0" y="0"/>
          <a:ext cx="0" cy="0"/>
          <a:chOff x="0" y="0"/>
          <a:chExt cx="0" cy="0"/>
        </a:xfrm>
      </p:grpSpPr>
      <p:sp>
        <p:nvSpPr>
          <p:cNvPr id="2" name="Text 0"/>
          <p:cNvSpPr/>
          <p:nvPr/>
        </p:nvSpPr>
        <p:spPr>
          <a:xfrm>
            <a:off x="502920" y="256032"/>
            <a:ext cx="11155680" cy="219456"/>
          </a:xfrm>
          <a:prstGeom prst="rect">
            <a:avLst/>
          </a:prstGeom>
          <a:noFill/>
          <a:ln/>
        </p:spPr>
        <p:txBody>
          <a:bodyPr wrap="square" lIns="0" tIns="0" rIns="0" bIns="0" rtlCol="0" anchor="ctr"/>
          <a:lstStyle/>
          <a:p>
            <a:pPr indent="0" marL="0">
              <a:buNone/>
            </a:pPr>
            <a:r>
              <a:rPr lang="en-US" sz="1100" b="1" spc="220" kern="0" dirty="0">
                <a:solidFill>
                  <a:srgbClr val="4F7A5C"/>
                </a:solidFill>
                <a:latin typeface="Arial" pitchFamily="34" charset="0"/>
                <a:ea typeface="Arial" pitchFamily="34" charset="-122"/>
                <a:cs typeface="Arial" pitchFamily="34" charset="-120"/>
              </a:rPr>
              <a:t>04  ·  WHY THIS YEAR IS DIFFERENT</a:t>
            </a:r>
            <a:endParaRPr lang="en-US" sz="1100" dirty="0"/>
          </a:p>
        </p:txBody>
      </p:sp>
      <p:sp>
        <p:nvSpPr>
          <p:cNvPr id="3" name="Text 1"/>
          <p:cNvSpPr/>
          <p:nvPr/>
        </p:nvSpPr>
        <p:spPr>
          <a:xfrm>
            <a:off x="502920" y="475488"/>
            <a:ext cx="11155680" cy="475488"/>
          </a:xfrm>
          <a:prstGeom prst="rect">
            <a:avLst/>
          </a:prstGeom>
          <a:noFill/>
          <a:ln/>
        </p:spPr>
        <p:txBody>
          <a:bodyPr wrap="square" lIns="0" tIns="0" rIns="0" bIns="0" rtlCol="0" anchor="ctr"/>
          <a:lstStyle/>
          <a:p>
            <a:pPr indent="0" marL="0">
              <a:buNone/>
            </a:pPr>
            <a:r>
              <a:rPr lang="en-US" sz="2600" dirty="0">
                <a:solidFill>
                  <a:srgbClr val="1B3A2A"/>
                </a:solidFill>
                <a:latin typeface="Georgia" pitchFamily="34" charset="0"/>
                <a:ea typeface="Georgia" pitchFamily="34" charset="-122"/>
                <a:cs typeface="Georgia" pitchFamily="34" charset="-120"/>
              </a:rPr>
              <a:t>A special Jubilee Year of St. Francis</a:t>
            </a:r>
            <a:endParaRPr lang="en-US" sz="2600" dirty="0"/>
          </a:p>
        </p:txBody>
      </p:sp>
      <p:sp>
        <p:nvSpPr>
          <p:cNvPr id="4" name="Shape 2"/>
          <p:cNvSpPr/>
          <p:nvPr/>
        </p:nvSpPr>
        <p:spPr>
          <a:xfrm>
            <a:off x="502920" y="1115568"/>
            <a:ext cx="5806440" cy="859536"/>
          </a:xfrm>
          <a:prstGeom prst="roundRect">
            <a:avLst>
              <a:gd name="adj" fmla="val 6383"/>
            </a:avLst>
          </a:prstGeom>
          <a:solidFill>
            <a:srgbClr val="FFFBF3"/>
          </a:solidFill>
          <a:ln/>
        </p:spPr>
        <p:txBody>
          <a:bodyPr/>
          <a:p/>
        </p:txBody>
      </p:sp>
      <p:sp>
        <p:nvSpPr>
          <p:cNvPr id="5" name="Text 3"/>
          <p:cNvSpPr/>
          <p:nvPr/>
        </p:nvSpPr>
        <p:spPr>
          <a:xfrm>
            <a:off x="685800" y="1225296"/>
            <a:ext cx="5440680" cy="201168"/>
          </a:xfrm>
          <a:prstGeom prst="rect">
            <a:avLst/>
          </a:prstGeom>
          <a:noFill/>
          <a:ln/>
        </p:spPr>
        <p:txBody>
          <a:bodyPr wrap="square" lIns="0" tIns="0" rIns="0" bIns="0" rtlCol="0" anchor="ctr"/>
          <a:lstStyle/>
          <a:p>
            <a:pPr indent="0" marL="0">
              <a:buNone/>
            </a:pPr>
            <a:r>
              <a:rPr lang="en-US" sz="1100" b="1" spc="140" kern="0" dirty="0">
                <a:solidFill>
                  <a:srgbClr val="4F7A5C"/>
                </a:solidFill>
                <a:latin typeface="Arial" pitchFamily="34" charset="0"/>
                <a:ea typeface="Arial" pitchFamily="34" charset="-122"/>
                <a:cs typeface="Arial" pitchFamily="34" charset="-120"/>
              </a:rPr>
              <a:t>WHEN</a:t>
            </a:r>
            <a:endParaRPr lang="en-US" sz="1100" dirty="0"/>
          </a:p>
        </p:txBody>
      </p:sp>
      <p:sp>
        <p:nvSpPr>
          <p:cNvPr id="6" name="Text 4"/>
          <p:cNvSpPr/>
          <p:nvPr/>
        </p:nvSpPr>
        <p:spPr>
          <a:xfrm>
            <a:off x="685800" y="1444752"/>
            <a:ext cx="5440680" cy="420624"/>
          </a:xfrm>
          <a:prstGeom prst="rect">
            <a:avLst/>
          </a:prstGeom>
          <a:noFill/>
          <a:ln/>
        </p:spPr>
        <p:txBody>
          <a:bodyPr wrap="square" lIns="0" tIns="0" rIns="0" bIns="0" rtlCol="0" anchor="ctr"/>
          <a:lstStyle/>
          <a:p>
            <a:pPr indent="0" marL="0">
              <a:buNone/>
            </a:pPr>
            <a:r>
              <a:rPr lang="en-US" sz="1500" dirty="0">
                <a:solidFill>
                  <a:srgbClr val="1F2A24"/>
                </a:solidFill>
                <a:latin typeface="Arial" pitchFamily="34" charset="0"/>
                <a:ea typeface="Arial" pitchFamily="34" charset="-122"/>
                <a:cs typeface="Arial" pitchFamily="34" charset="-120"/>
              </a:rPr>
              <a:t>January 10, 2026 – January 10, 2027</a:t>
            </a:r>
            <a:endParaRPr lang="en-US" sz="1500" dirty="0"/>
          </a:p>
        </p:txBody>
      </p:sp>
      <p:sp>
        <p:nvSpPr>
          <p:cNvPr id="7" name="Shape 5"/>
          <p:cNvSpPr/>
          <p:nvPr/>
        </p:nvSpPr>
        <p:spPr>
          <a:xfrm>
            <a:off x="502920" y="2075688"/>
            <a:ext cx="5806440" cy="859536"/>
          </a:xfrm>
          <a:prstGeom prst="roundRect">
            <a:avLst>
              <a:gd name="adj" fmla="val 6383"/>
            </a:avLst>
          </a:prstGeom>
          <a:solidFill>
            <a:srgbClr val="FFFBF3"/>
          </a:solidFill>
          <a:ln/>
        </p:spPr>
        <p:txBody>
          <a:bodyPr/>
          <a:p/>
        </p:txBody>
      </p:sp>
      <p:sp>
        <p:nvSpPr>
          <p:cNvPr id="8" name="Text 6"/>
          <p:cNvSpPr/>
          <p:nvPr/>
        </p:nvSpPr>
        <p:spPr>
          <a:xfrm>
            <a:off x="685800" y="2185416"/>
            <a:ext cx="5440680" cy="201168"/>
          </a:xfrm>
          <a:prstGeom prst="rect">
            <a:avLst/>
          </a:prstGeom>
          <a:noFill/>
          <a:ln/>
        </p:spPr>
        <p:txBody>
          <a:bodyPr wrap="square" lIns="0" tIns="0" rIns="0" bIns="0" rtlCol="0" anchor="ctr"/>
          <a:lstStyle/>
          <a:p>
            <a:pPr indent="0" marL="0">
              <a:buNone/>
            </a:pPr>
            <a:r>
              <a:rPr lang="en-US" sz="1100" b="1" spc="140" kern="0" dirty="0">
                <a:solidFill>
                  <a:srgbClr val="4F7A5C"/>
                </a:solidFill>
                <a:latin typeface="Arial" pitchFamily="34" charset="0"/>
                <a:ea typeface="Arial" pitchFamily="34" charset="-122"/>
                <a:cs typeface="Arial" pitchFamily="34" charset="-120"/>
              </a:rPr>
              <a:t>WHY</a:t>
            </a:r>
            <a:endParaRPr lang="en-US" sz="1100" dirty="0"/>
          </a:p>
        </p:txBody>
      </p:sp>
      <p:sp>
        <p:nvSpPr>
          <p:cNvPr id="9" name="Text 7"/>
          <p:cNvSpPr/>
          <p:nvPr/>
        </p:nvSpPr>
        <p:spPr>
          <a:xfrm>
            <a:off x="685800" y="2404872"/>
            <a:ext cx="5440680" cy="420624"/>
          </a:xfrm>
          <a:prstGeom prst="rect">
            <a:avLst/>
          </a:prstGeom>
          <a:noFill/>
          <a:ln/>
        </p:spPr>
        <p:txBody>
          <a:bodyPr wrap="square" lIns="0" tIns="0" rIns="0" bIns="0" rtlCol="0" anchor="ctr"/>
          <a:lstStyle/>
          <a:p>
            <a:pPr indent="0" marL="0">
              <a:buNone/>
            </a:pPr>
            <a:r>
              <a:rPr lang="en-US" sz="1500" dirty="0">
                <a:solidFill>
                  <a:srgbClr val="1F2A24"/>
                </a:solidFill>
                <a:latin typeface="Arial" pitchFamily="34" charset="0"/>
                <a:ea typeface="Arial" pitchFamily="34" charset="-122"/>
                <a:cs typeface="Arial" pitchFamily="34" charset="-120"/>
              </a:rPr>
              <a:t>800 years since Francis entered eternal life on October 3, 1226</a:t>
            </a:r>
            <a:endParaRPr lang="en-US" sz="1500" dirty="0"/>
          </a:p>
        </p:txBody>
      </p:sp>
      <p:sp>
        <p:nvSpPr>
          <p:cNvPr id="10" name="Shape 8"/>
          <p:cNvSpPr/>
          <p:nvPr/>
        </p:nvSpPr>
        <p:spPr>
          <a:xfrm>
            <a:off x="502920" y="3035808"/>
            <a:ext cx="5806440" cy="859536"/>
          </a:xfrm>
          <a:prstGeom prst="roundRect">
            <a:avLst>
              <a:gd name="adj" fmla="val 6383"/>
            </a:avLst>
          </a:prstGeom>
          <a:solidFill>
            <a:srgbClr val="FFFBF3"/>
          </a:solidFill>
          <a:ln/>
        </p:spPr>
        <p:txBody>
          <a:bodyPr/>
          <a:p/>
        </p:txBody>
      </p:sp>
      <p:sp>
        <p:nvSpPr>
          <p:cNvPr id="11" name="Text 9"/>
          <p:cNvSpPr/>
          <p:nvPr/>
        </p:nvSpPr>
        <p:spPr>
          <a:xfrm>
            <a:off x="685800" y="3145536"/>
            <a:ext cx="5440680" cy="201168"/>
          </a:xfrm>
          <a:prstGeom prst="rect">
            <a:avLst/>
          </a:prstGeom>
          <a:noFill/>
          <a:ln/>
        </p:spPr>
        <p:txBody>
          <a:bodyPr wrap="square" lIns="0" tIns="0" rIns="0" bIns="0" rtlCol="0" anchor="ctr"/>
          <a:lstStyle/>
          <a:p>
            <a:pPr indent="0" marL="0">
              <a:buNone/>
            </a:pPr>
            <a:r>
              <a:rPr lang="en-US" sz="1100" b="1" spc="140" kern="0" dirty="0">
                <a:solidFill>
                  <a:srgbClr val="4F7A5C"/>
                </a:solidFill>
                <a:latin typeface="Arial" pitchFamily="34" charset="0"/>
                <a:ea typeface="Arial" pitchFamily="34" charset="-122"/>
                <a:cs typeface="Arial" pitchFamily="34" charset="-120"/>
              </a:rPr>
              <a:t>WHO</a:t>
            </a:r>
            <a:endParaRPr lang="en-US" sz="1100" dirty="0"/>
          </a:p>
        </p:txBody>
      </p:sp>
      <p:sp>
        <p:nvSpPr>
          <p:cNvPr id="12" name="Text 10"/>
          <p:cNvSpPr/>
          <p:nvPr/>
        </p:nvSpPr>
        <p:spPr>
          <a:xfrm>
            <a:off x="685800" y="3364992"/>
            <a:ext cx="5440680" cy="420624"/>
          </a:xfrm>
          <a:prstGeom prst="rect">
            <a:avLst/>
          </a:prstGeom>
          <a:noFill/>
          <a:ln/>
        </p:spPr>
        <p:txBody>
          <a:bodyPr wrap="square" lIns="0" tIns="0" rIns="0" bIns="0" rtlCol="0" anchor="ctr"/>
          <a:lstStyle/>
          <a:p>
            <a:pPr indent="0" marL="0">
              <a:buNone/>
            </a:pPr>
            <a:r>
              <a:rPr lang="en-US" sz="1500" dirty="0">
                <a:solidFill>
                  <a:srgbClr val="1F2A24"/>
                </a:solidFill>
                <a:latin typeface="Arial" pitchFamily="34" charset="0"/>
                <a:ea typeface="Arial" pitchFamily="34" charset="-122"/>
                <a:cs typeface="Arial" pitchFamily="34" charset="-120"/>
              </a:rPr>
              <a:t>Proclaimed by Pope Leo XIV for the whole Church</a:t>
            </a:r>
            <a:endParaRPr lang="en-US" sz="1500" dirty="0"/>
          </a:p>
        </p:txBody>
      </p:sp>
      <p:sp>
        <p:nvSpPr>
          <p:cNvPr id="13" name="Shape 11"/>
          <p:cNvSpPr/>
          <p:nvPr/>
        </p:nvSpPr>
        <p:spPr>
          <a:xfrm>
            <a:off x="502920" y="3995928"/>
            <a:ext cx="5806440" cy="859536"/>
          </a:xfrm>
          <a:prstGeom prst="roundRect">
            <a:avLst>
              <a:gd name="adj" fmla="val 6383"/>
            </a:avLst>
          </a:prstGeom>
          <a:solidFill>
            <a:srgbClr val="FFFBF3"/>
          </a:solidFill>
          <a:ln/>
        </p:spPr>
        <p:txBody>
          <a:bodyPr/>
          <a:p/>
        </p:txBody>
      </p:sp>
      <p:sp>
        <p:nvSpPr>
          <p:cNvPr id="14" name="Text 12"/>
          <p:cNvSpPr/>
          <p:nvPr/>
        </p:nvSpPr>
        <p:spPr>
          <a:xfrm>
            <a:off x="685800" y="4105656"/>
            <a:ext cx="5440680" cy="201168"/>
          </a:xfrm>
          <a:prstGeom prst="rect">
            <a:avLst/>
          </a:prstGeom>
          <a:noFill/>
          <a:ln/>
        </p:spPr>
        <p:txBody>
          <a:bodyPr wrap="square" lIns="0" tIns="0" rIns="0" bIns="0" rtlCol="0" anchor="ctr"/>
          <a:lstStyle/>
          <a:p>
            <a:pPr indent="0" marL="0">
              <a:buNone/>
            </a:pPr>
            <a:r>
              <a:rPr lang="en-US" sz="1100" b="1" spc="140" kern="0" dirty="0">
                <a:solidFill>
                  <a:srgbClr val="4F7A5C"/>
                </a:solidFill>
                <a:latin typeface="Arial" pitchFamily="34" charset="0"/>
                <a:ea typeface="Arial" pitchFamily="34" charset="-122"/>
                <a:cs typeface="Arial" pitchFamily="34" charset="-120"/>
              </a:rPr>
              <a:t>GIFT</a:t>
            </a:r>
            <a:endParaRPr lang="en-US" sz="1100" dirty="0"/>
          </a:p>
        </p:txBody>
      </p:sp>
      <p:sp>
        <p:nvSpPr>
          <p:cNvPr id="15" name="Text 13"/>
          <p:cNvSpPr/>
          <p:nvPr/>
        </p:nvSpPr>
        <p:spPr>
          <a:xfrm>
            <a:off x="685800" y="4325112"/>
            <a:ext cx="5440680" cy="420624"/>
          </a:xfrm>
          <a:prstGeom prst="rect">
            <a:avLst/>
          </a:prstGeom>
          <a:noFill/>
          <a:ln/>
        </p:spPr>
        <p:txBody>
          <a:bodyPr wrap="square" lIns="0" tIns="0" rIns="0" bIns="0" rtlCol="0" anchor="ctr"/>
          <a:lstStyle/>
          <a:p>
            <a:pPr indent="0" marL="0">
              <a:buNone/>
            </a:pPr>
            <a:r>
              <a:rPr lang="en-US" sz="1500" dirty="0">
                <a:solidFill>
                  <a:srgbClr val="1F2A24"/>
                </a:solidFill>
                <a:latin typeface="Arial" pitchFamily="34" charset="0"/>
                <a:ea typeface="Arial" pitchFamily="34" charset="-122"/>
                <a:cs typeface="Arial" pitchFamily="34" charset="-120"/>
              </a:rPr>
              <a:t>A plenary indulgence, and a call to become witnesses of peace</a:t>
            </a:r>
            <a:endParaRPr lang="en-US" sz="1500" dirty="0"/>
          </a:p>
        </p:txBody>
      </p:sp>
      <p:sp>
        <p:nvSpPr>
          <p:cNvPr id="16" name="Shape 14"/>
          <p:cNvSpPr/>
          <p:nvPr/>
        </p:nvSpPr>
        <p:spPr>
          <a:xfrm>
            <a:off x="6492240" y="1115568"/>
            <a:ext cx="5193792" cy="4736592"/>
          </a:xfrm>
          <a:prstGeom prst="roundRect">
            <a:avLst>
              <a:gd name="adj" fmla="val 1544"/>
            </a:avLst>
          </a:prstGeom>
          <a:solidFill>
            <a:srgbClr val="1B3A2A"/>
          </a:solidFill>
          <a:ln/>
        </p:spPr>
        <p:txBody>
          <a:bodyPr/>
          <a:p/>
        </p:txBody>
      </p:sp>
      <p:sp>
        <p:nvSpPr>
          <p:cNvPr id="17" name="Text 15"/>
          <p:cNvSpPr/>
          <p:nvPr/>
        </p:nvSpPr>
        <p:spPr>
          <a:xfrm>
            <a:off x="6766560" y="1371600"/>
            <a:ext cx="4663440" cy="320040"/>
          </a:xfrm>
          <a:prstGeom prst="rect">
            <a:avLst/>
          </a:prstGeom>
          <a:noFill/>
          <a:ln/>
        </p:spPr>
        <p:txBody>
          <a:bodyPr wrap="square" lIns="0" tIns="0" rIns="0" bIns="0" rtlCol="0" anchor="ctr"/>
          <a:lstStyle/>
          <a:p>
            <a:pPr indent="0" marL="0">
              <a:buNone/>
            </a:pPr>
            <a:r>
              <a:rPr lang="en-US" sz="1200" b="1" spc="120" kern="0" dirty="0">
                <a:solidFill>
                  <a:srgbClr val="C4A35A"/>
                </a:solidFill>
                <a:latin typeface="Arial" pitchFamily="34" charset="0"/>
                <a:ea typeface="Arial" pitchFamily="34" charset="-122"/>
                <a:cs typeface="Arial" pitchFamily="34" charset="-120"/>
              </a:rPr>
              <a:t>The Holy Father’s reminder</a:t>
            </a:r>
            <a:endParaRPr lang="en-US" sz="1200" dirty="0"/>
          </a:p>
        </p:txBody>
      </p:sp>
      <p:sp>
        <p:nvSpPr>
          <p:cNvPr id="18" name="Text 16"/>
          <p:cNvSpPr/>
          <p:nvPr/>
        </p:nvSpPr>
        <p:spPr>
          <a:xfrm>
            <a:off x="6766560" y="1874520"/>
            <a:ext cx="4663440" cy="2286000"/>
          </a:xfrm>
          <a:prstGeom prst="rect">
            <a:avLst/>
          </a:prstGeom>
          <a:noFill/>
          <a:ln/>
        </p:spPr>
        <p:txBody>
          <a:bodyPr wrap="square" lIns="0" tIns="0" rIns="0" bIns="0" rtlCol="0" anchor="ctr"/>
          <a:lstStyle/>
          <a:p>
            <a:pPr indent="0" marL="0">
              <a:buNone/>
            </a:pPr>
            <a:r>
              <a:rPr lang="en-US" sz="2000" i="1" dirty="0">
                <a:solidFill>
                  <a:srgbClr val="F4EFE2"/>
                </a:solidFill>
                <a:latin typeface="Georgia" pitchFamily="34" charset="0"/>
                <a:ea typeface="Georgia" pitchFamily="34" charset="-122"/>
                <a:cs typeface="Georgia" pitchFamily="34" charset="-120"/>
              </a:rPr>
              <a:t>Peace with God, peace among people, and peace with creation are inseparable dimensions of a single call to universal reconciliation.</a:t>
            </a:r>
            <a:endParaRPr lang="en-US" sz="2000" dirty="0"/>
          </a:p>
        </p:txBody>
      </p:sp>
      <p:sp>
        <p:nvSpPr>
          <p:cNvPr id="19" name="Text 17"/>
          <p:cNvSpPr/>
          <p:nvPr/>
        </p:nvSpPr>
        <p:spPr>
          <a:xfrm>
            <a:off x="6766560" y="4297680"/>
            <a:ext cx="4663440" cy="502920"/>
          </a:xfrm>
          <a:prstGeom prst="rect">
            <a:avLst/>
          </a:prstGeom>
          <a:noFill/>
          <a:ln/>
        </p:spPr>
        <p:txBody>
          <a:bodyPr wrap="square" lIns="0" tIns="0" rIns="0" bIns="0" rtlCol="0" anchor="ctr"/>
          <a:lstStyle/>
          <a:p>
            <a:pPr indent="0" marL="0">
              <a:buNone/>
            </a:pPr>
            <a:r>
              <a:rPr lang="en-US" sz="1300" dirty="0">
                <a:solidFill>
                  <a:srgbClr val="D9CFAE"/>
                </a:solidFill>
                <a:latin typeface="Arial" pitchFamily="34" charset="0"/>
                <a:ea typeface="Arial" pitchFamily="34" charset="-122"/>
                <a:cs typeface="Arial" pitchFamily="34" charset="-120"/>
              </a:rPr>
              <a:t>Pope Leo XIV, letter for the Franciscan Jubilee</a:t>
            </a:r>
            <a:endParaRPr lang="en-US" sz="1300" dirty="0"/>
          </a:p>
        </p:txBody>
      </p:sp>
      <p:sp>
        <p:nvSpPr>
          <p:cNvPr id="20" name="Text 18"/>
          <p:cNvSpPr/>
          <p:nvPr/>
        </p:nvSpPr>
        <p:spPr>
          <a:xfrm>
            <a:off x="6766560" y="4892040"/>
            <a:ext cx="4663440" cy="731520"/>
          </a:xfrm>
          <a:prstGeom prst="rect">
            <a:avLst/>
          </a:prstGeom>
          <a:noFill/>
          <a:ln/>
        </p:spPr>
        <p:txBody>
          <a:bodyPr wrap="square" lIns="0" tIns="0" rIns="0" bIns="0" rtlCol="0" anchor="ctr"/>
          <a:lstStyle/>
          <a:p>
            <a:pPr indent="0" marL="0">
              <a:buNone/>
            </a:pPr>
            <a:r>
              <a:rPr lang="en-US" sz="1400" dirty="0">
                <a:solidFill>
                  <a:srgbClr val="F4EFE2"/>
                </a:solidFill>
                <a:latin typeface="Arial" pitchFamily="34" charset="0"/>
                <a:ea typeface="Arial" pitchFamily="34" charset="-122"/>
                <a:cs typeface="Arial" pitchFamily="34" charset="-120"/>
              </a:rPr>
              <a:t>For a classroom, that means we do not separate religion, kindness, and care of the earth. They are one formation.</a:t>
            </a:r>
            <a:endParaRPr lang="en-US" sz="1400" dirty="0"/>
          </a:p>
        </p:txBody>
      </p:sp>
      <p:sp>
        <p:nvSpPr>
          <p:cNvPr id="21" name="Shape 19"/>
          <p:cNvSpPr/>
          <p:nvPr/>
        </p:nvSpPr>
        <p:spPr>
          <a:xfrm>
            <a:off x="502920" y="6510528"/>
            <a:ext cx="11183112" cy="0"/>
          </a:xfrm>
          <a:prstGeom prst="line">
            <a:avLst/>
          </a:prstGeom>
          <a:noFill/>
          <a:ln w="7620">
            <a:solidFill>
              <a:srgbClr val="C9C0A8"/>
            </a:solidFill>
            <a:prstDash val="solid"/>
          </a:ln>
        </p:spPr>
        <p:txBody>
          <a:bodyPr/>
          <a:p/>
        </p:txBody>
      </p:sp>
      <p:sp>
        <p:nvSpPr>
          <p:cNvPr id="22" name="Text 20"/>
          <p:cNvSpPr/>
          <p:nvPr/>
        </p:nvSpPr>
        <p:spPr>
          <a:xfrm>
            <a:off x="502920" y="6547104"/>
            <a:ext cx="8412480" cy="237744"/>
          </a:xfrm>
          <a:prstGeom prst="rect">
            <a:avLst/>
          </a:prstGeom>
          <a:noFill/>
          <a:ln/>
        </p:spPr>
        <p:txBody>
          <a:bodyPr wrap="square" lIns="0" tIns="0" rIns="0" bIns="0" rtlCol="0" anchor="ctr"/>
          <a:lstStyle/>
          <a:p>
            <a:pPr indent="0" marL="0">
              <a:buNone/>
            </a:pPr>
            <a:r>
              <a:rPr lang="en-US" sz="900" spc="120" kern="0" dirty="0">
                <a:solidFill>
                  <a:srgbClr val="6B736C"/>
                </a:solidFill>
                <a:latin typeface="Arial" pitchFamily="34" charset="0"/>
                <a:ea typeface="Arial" pitchFamily="34" charset="-122"/>
                <a:cs typeface="Arial" pitchFamily="34" charset="-120"/>
              </a:rPr>
              <a:t>CREATION CARE IN THE CLASSROOM  ·  K–5 CATHOLIC TEACHERS</a:t>
            </a:r>
            <a:endParaRPr lang="en-US" sz="900" dirty="0"/>
          </a:p>
        </p:txBody>
      </p:sp>
      <p:sp>
        <p:nvSpPr>
          <p:cNvPr id="23" name="Text 21"/>
          <p:cNvSpPr/>
          <p:nvPr/>
        </p:nvSpPr>
        <p:spPr>
          <a:xfrm>
            <a:off x="9509760" y="6547104"/>
            <a:ext cx="2176272" cy="237744"/>
          </a:xfrm>
          <a:prstGeom prst="rect">
            <a:avLst/>
          </a:prstGeom>
          <a:noFill/>
          <a:ln/>
        </p:spPr>
        <p:txBody>
          <a:bodyPr wrap="square" lIns="0" tIns="0" rIns="0" bIns="0" rtlCol="0" anchor="ctr"/>
          <a:lstStyle/>
          <a:p>
            <a:pPr algn="r" indent="0" marL="0">
              <a:buNone/>
            </a:pPr>
            <a:r>
              <a:rPr lang="en-US" sz="900" dirty="0">
                <a:solidFill>
                  <a:srgbClr val="6B736C"/>
                </a:solidFill>
                <a:latin typeface="Arial" pitchFamily="34" charset="0"/>
                <a:ea typeface="Arial" pitchFamily="34" charset="-122"/>
                <a:cs typeface="Arial" pitchFamily="34" charset="-120"/>
              </a:rPr>
              <a:t>05  /  30</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EFE2"/>
        </a:solidFill>
      </p:bgPr>
    </p:bg>
    <p:spTree>
      <p:nvGrpSpPr>
        <p:cNvPr id="1" name=""/>
        <p:cNvGrpSpPr/>
        <p:nvPr/>
      </p:nvGrpSpPr>
      <p:grpSpPr>
        <a:xfrm>
          <a:off x="0" y="0"/>
          <a:ext cx="0" cy="0"/>
          <a:chOff x="0" y="0"/>
          <a:chExt cx="0" cy="0"/>
        </a:xfrm>
      </p:grpSpPr>
      <p:sp>
        <p:nvSpPr>
          <p:cNvPr id="2" name="Text 0"/>
          <p:cNvSpPr/>
          <p:nvPr/>
        </p:nvSpPr>
        <p:spPr>
          <a:xfrm>
            <a:off x="502920" y="256032"/>
            <a:ext cx="11155680" cy="219456"/>
          </a:xfrm>
          <a:prstGeom prst="rect">
            <a:avLst/>
          </a:prstGeom>
          <a:noFill/>
          <a:ln/>
        </p:spPr>
        <p:txBody>
          <a:bodyPr wrap="square" lIns="0" tIns="0" rIns="0" bIns="0" rtlCol="0" anchor="ctr"/>
          <a:lstStyle/>
          <a:p>
            <a:pPr indent="0" marL="0">
              <a:buNone/>
            </a:pPr>
            <a:r>
              <a:rPr lang="en-US" sz="1100" b="1" spc="220" kern="0" dirty="0">
                <a:solidFill>
                  <a:srgbClr val="4F7A5C"/>
                </a:solidFill>
                <a:latin typeface="Arial" pitchFamily="34" charset="0"/>
                <a:ea typeface="Arial" pitchFamily="34" charset="-122"/>
                <a:cs typeface="Arial" pitchFamily="34" charset="-120"/>
              </a:rPr>
              <a:t>05  ·  THE SAINT WHO STILL TEACHES CHILDREN</a:t>
            </a:r>
            <a:endParaRPr lang="en-US" sz="1100" dirty="0"/>
          </a:p>
        </p:txBody>
      </p:sp>
      <p:sp>
        <p:nvSpPr>
          <p:cNvPr id="3" name="Text 1"/>
          <p:cNvSpPr/>
          <p:nvPr/>
        </p:nvSpPr>
        <p:spPr>
          <a:xfrm>
            <a:off x="502920" y="475488"/>
            <a:ext cx="11155680" cy="475488"/>
          </a:xfrm>
          <a:prstGeom prst="rect">
            <a:avLst/>
          </a:prstGeom>
          <a:noFill/>
          <a:ln/>
        </p:spPr>
        <p:txBody>
          <a:bodyPr wrap="square" lIns="0" tIns="0" rIns="0" bIns="0" rtlCol="0" anchor="ctr"/>
          <a:lstStyle/>
          <a:p>
            <a:pPr indent="0" marL="0">
              <a:buNone/>
            </a:pPr>
            <a:r>
              <a:rPr lang="en-US" sz="2600" dirty="0">
                <a:solidFill>
                  <a:srgbClr val="1B3A2A"/>
                </a:solidFill>
                <a:latin typeface="Georgia" pitchFamily="34" charset="0"/>
                <a:ea typeface="Georgia" pitchFamily="34" charset="-122"/>
                <a:cs typeface="Georgia" pitchFamily="34" charset="-120"/>
              </a:rPr>
              <a:t>Francis saw a family, not a resource</a:t>
            </a:r>
            <a:endParaRPr lang="en-US" sz="2600" dirty="0"/>
          </a:p>
        </p:txBody>
      </p:sp>
      <p:sp>
        <p:nvSpPr>
          <p:cNvPr id="4" name="Shape 2"/>
          <p:cNvSpPr/>
          <p:nvPr/>
        </p:nvSpPr>
        <p:spPr>
          <a:xfrm>
            <a:off x="502920" y="1143000"/>
            <a:ext cx="2761488" cy="5029200"/>
          </a:xfrm>
          <a:prstGeom prst="roundRect">
            <a:avLst>
              <a:gd name="adj" fmla="val 2649"/>
            </a:avLst>
          </a:prstGeom>
          <a:solidFill>
            <a:srgbClr val="FFFBF3"/>
          </a:solidFill>
          <a:ln/>
        </p:spPr>
        <p:txBody>
          <a:bodyPr/>
          <a:p/>
        </p:txBody>
      </p:sp>
      <p:sp>
        <p:nvSpPr>
          <p:cNvPr id="5" name="Shape 3"/>
          <p:cNvSpPr/>
          <p:nvPr/>
        </p:nvSpPr>
        <p:spPr>
          <a:xfrm>
            <a:off x="1508760" y="1371600"/>
            <a:ext cx="658368" cy="658368"/>
          </a:xfrm>
          <a:prstGeom prst="ellipse">
            <a:avLst/>
          </a:prstGeom>
          <a:solidFill>
            <a:srgbClr val="EBE4D4"/>
          </a:solidFill>
          <a:ln/>
        </p:spPr>
        <p:txBody>
          <a:bodyPr/>
          <a:p/>
        </p:txBody>
      </p:sp>
      <p:pic>
        <p:nvPicPr>
          <p:cNvPr id="6" name="Image 0" descr="preencoded.png">    </p:cNvPr>
          <p:cNvPicPr>
            <a:picLocks noChangeAspect="1"/>
          </p:cNvPicPr>
          <p:nvPr/>
        </p:nvPicPr>
        <p:blipFill>
          <a:blip r:embed="rId1"/>
          <a:stretch>
            <a:fillRect/>
          </a:stretch>
        </p:blipFill>
        <p:spPr>
          <a:xfrm>
            <a:off x="1636776" y="1499616"/>
            <a:ext cx="402336" cy="402336"/>
          </a:xfrm>
          <a:prstGeom prst="rect">
            <a:avLst/>
          </a:prstGeom>
        </p:spPr>
      </p:pic>
      <p:sp>
        <p:nvSpPr>
          <p:cNvPr id="7" name="Text 4"/>
          <p:cNvSpPr/>
          <p:nvPr/>
        </p:nvSpPr>
        <p:spPr>
          <a:xfrm>
            <a:off x="667512" y="2176272"/>
            <a:ext cx="2432304" cy="640080"/>
          </a:xfrm>
          <a:prstGeom prst="rect">
            <a:avLst/>
          </a:prstGeom>
          <a:noFill/>
          <a:ln/>
        </p:spPr>
        <p:txBody>
          <a:bodyPr wrap="square" lIns="0" tIns="0" rIns="0" bIns="0" rtlCol="0" anchor="ctr"/>
          <a:lstStyle/>
          <a:p>
            <a:pPr algn="ctr" indent="0" marL="0">
              <a:buNone/>
            </a:pPr>
            <a:r>
              <a:rPr lang="en-US" sz="2000" dirty="0">
                <a:solidFill>
                  <a:srgbClr val="1B3A2A"/>
                </a:solidFill>
                <a:latin typeface="Georgia" pitchFamily="34" charset="0"/>
                <a:ea typeface="Georgia" pitchFamily="34" charset="-122"/>
                <a:cs typeface="Georgia" pitchFamily="34" charset="-120"/>
              </a:rPr>
              <a:t>Kinship</a:t>
            </a:r>
            <a:endParaRPr lang="en-US" sz="2000" dirty="0"/>
          </a:p>
        </p:txBody>
      </p:sp>
      <p:sp>
        <p:nvSpPr>
          <p:cNvPr id="8" name="Text 5"/>
          <p:cNvSpPr/>
          <p:nvPr/>
        </p:nvSpPr>
        <p:spPr>
          <a:xfrm>
            <a:off x="667512" y="2880360"/>
            <a:ext cx="2432304" cy="2926080"/>
          </a:xfrm>
          <a:prstGeom prst="rect">
            <a:avLst/>
          </a:prstGeom>
          <a:noFill/>
          <a:ln/>
        </p:spPr>
        <p:txBody>
          <a:bodyPr wrap="square" lIns="0" tIns="0" rIns="0" bIns="0" rtlCol="0" anchor="ctr"/>
          <a:lstStyle/>
          <a:p>
            <a:pPr algn="ctr" indent="0" marL="0">
              <a:buNone/>
            </a:pPr>
            <a:r>
              <a:rPr lang="en-US" sz="1400" dirty="0">
                <a:solidFill>
                  <a:srgbClr val="4A554C"/>
                </a:solidFill>
                <a:latin typeface="Arial" pitchFamily="34" charset="0"/>
                <a:ea typeface="Arial" pitchFamily="34" charset="-122"/>
                <a:cs typeface="Arial" pitchFamily="34" charset="-120"/>
              </a:rPr>
              <a:t>Brother Sun, Sister Moon, Sister Water, Mother Earth. Children grasp this immediately. Creation is not stuff. Creation is family.</a:t>
            </a:r>
            <a:endParaRPr lang="en-US" sz="1400" dirty="0"/>
          </a:p>
        </p:txBody>
      </p:sp>
      <p:sp>
        <p:nvSpPr>
          <p:cNvPr id="9" name="Shape 6"/>
          <p:cNvSpPr/>
          <p:nvPr/>
        </p:nvSpPr>
        <p:spPr>
          <a:xfrm>
            <a:off x="3383280" y="1143000"/>
            <a:ext cx="2761488" cy="5029200"/>
          </a:xfrm>
          <a:prstGeom prst="roundRect">
            <a:avLst>
              <a:gd name="adj" fmla="val 2649"/>
            </a:avLst>
          </a:prstGeom>
          <a:solidFill>
            <a:srgbClr val="FFFBF3"/>
          </a:solidFill>
          <a:ln/>
        </p:spPr>
        <p:txBody>
          <a:bodyPr/>
          <a:p/>
        </p:txBody>
      </p:sp>
      <p:sp>
        <p:nvSpPr>
          <p:cNvPr id="10" name="Shape 7"/>
          <p:cNvSpPr/>
          <p:nvPr/>
        </p:nvSpPr>
        <p:spPr>
          <a:xfrm>
            <a:off x="4389120" y="1371600"/>
            <a:ext cx="658368" cy="658368"/>
          </a:xfrm>
          <a:prstGeom prst="ellipse">
            <a:avLst/>
          </a:prstGeom>
          <a:solidFill>
            <a:srgbClr val="EBE4D4"/>
          </a:solidFill>
          <a:ln/>
        </p:spPr>
        <p:txBody>
          <a:bodyPr/>
          <a:p/>
        </p:txBody>
      </p:sp>
      <p:pic>
        <p:nvPicPr>
          <p:cNvPr id="11" name="Image 1" descr="preencoded.png">    </p:cNvPr>
          <p:cNvPicPr>
            <a:picLocks noChangeAspect="1"/>
          </p:cNvPicPr>
          <p:nvPr/>
        </p:nvPicPr>
        <p:blipFill>
          <a:blip r:embed="rId2"/>
          <a:stretch>
            <a:fillRect/>
          </a:stretch>
        </p:blipFill>
        <p:spPr>
          <a:xfrm>
            <a:off x="4517136" y="1499616"/>
            <a:ext cx="402336" cy="402336"/>
          </a:xfrm>
          <a:prstGeom prst="rect">
            <a:avLst/>
          </a:prstGeom>
        </p:spPr>
      </p:pic>
      <p:sp>
        <p:nvSpPr>
          <p:cNvPr id="12" name="Text 8"/>
          <p:cNvSpPr/>
          <p:nvPr/>
        </p:nvSpPr>
        <p:spPr>
          <a:xfrm>
            <a:off x="3547872" y="2176272"/>
            <a:ext cx="2432304" cy="640080"/>
          </a:xfrm>
          <a:prstGeom prst="rect">
            <a:avLst/>
          </a:prstGeom>
          <a:noFill/>
          <a:ln/>
        </p:spPr>
        <p:txBody>
          <a:bodyPr wrap="square" lIns="0" tIns="0" rIns="0" bIns="0" rtlCol="0" anchor="ctr"/>
          <a:lstStyle/>
          <a:p>
            <a:pPr algn="ctr" indent="0" marL="0">
              <a:buNone/>
            </a:pPr>
            <a:r>
              <a:rPr lang="en-US" sz="2000" dirty="0">
                <a:solidFill>
                  <a:srgbClr val="1B3A2A"/>
                </a:solidFill>
                <a:latin typeface="Georgia" pitchFamily="34" charset="0"/>
                <a:ea typeface="Georgia" pitchFamily="34" charset="-122"/>
                <a:cs typeface="Georgia" pitchFamily="34" charset="-120"/>
              </a:rPr>
              <a:t>Praise first</a:t>
            </a:r>
            <a:endParaRPr lang="en-US" sz="2000" dirty="0"/>
          </a:p>
        </p:txBody>
      </p:sp>
      <p:sp>
        <p:nvSpPr>
          <p:cNvPr id="13" name="Text 9"/>
          <p:cNvSpPr/>
          <p:nvPr/>
        </p:nvSpPr>
        <p:spPr>
          <a:xfrm>
            <a:off x="3547872" y="2880360"/>
            <a:ext cx="2432304" cy="2926080"/>
          </a:xfrm>
          <a:prstGeom prst="rect">
            <a:avLst/>
          </a:prstGeom>
          <a:noFill/>
          <a:ln/>
        </p:spPr>
        <p:txBody>
          <a:bodyPr wrap="square" lIns="0" tIns="0" rIns="0" bIns="0" rtlCol="0" anchor="ctr"/>
          <a:lstStyle/>
          <a:p>
            <a:pPr algn="ctr" indent="0" marL="0">
              <a:buNone/>
            </a:pPr>
            <a:r>
              <a:rPr lang="en-US" sz="1400" dirty="0">
                <a:solidFill>
                  <a:srgbClr val="4A554C"/>
                </a:solidFill>
                <a:latin typeface="Arial" pitchFamily="34" charset="0"/>
                <a:ea typeface="Arial" pitchFamily="34" charset="-122"/>
                <a:cs typeface="Arial" pitchFamily="34" charset="-120"/>
              </a:rPr>
              <a:t>The Song begins in praise, not in panic. K–5 formation should do the same. Wonder and gratitude come before problem-solving.</a:t>
            </a:r>
            <a:endParaRPr lang="en-US" sz="1400" dirty="0"/>
          </a:p>
        </p:txBody>
      </p:sp>
      <p:sp>
        <p:nvSpPr>
          <p:cNvPr id="14" name="Shape 10"/>
          <p:cNvSpPr/>
          <p:nvPr/>
        </p:nvSpPr>
        <p:spPr>
          <a:xfrm>
            <a:off x="6263640" y="1143000"/>
            <a:ext cx="2761488" cy="5029200"/>
          </a:xfrm>
          <a:prstGeom prst="roundRect">
            <a:avLst>
              <a:gd name="adj" fmla="val 2649"/>
            </a:avLst>
          </a:prstGeom>
          <a:solidFill>
            <a:srgbClr val="FFFBF3"/>
          </a:solidFill>
          <a:ln/>
        </p:spPr>
        <p:txBody>
          <a:bodyPr/>
          <a:p/>
        </p:txBody>
      </p:sp>
      <p:sp>
        <p:nvSpPr>
          <p:cNvPr id="15" name="Shape 11"/>
          <p:cNvSpPr/>
          <p:nvPr/>
        </p:nvSpPr>
        <p:spPr>
          <a:xfrm>
            <a:off x="7269480" y="1371600"/>
            <a:ext cx="658368" cy="658368"/>
          </a:xfrm>
          <a:prstGeom prst="ellipse">
            <a:avLst/>
          </a:prstGeom>
          <a:solidFill>
            <a:srgbClr val="EBE4D4"/>
          </a:solidFill>
          <a:ln/>
        </p:spPr>
        <p:txBody>
          <a:bodyPr/>
          <a:p/>
        </p:txBody>
      </p:sp>
      <p:pic>
        <p:nvPicPr>
          <p:cNvPr id="16" name="Image 2" descr="preencoded.png">    </p:cNvPr>
          <p:cNvPicPr>
            <a:picLocks noChangeAspect="1"/>
          </p:cNvPicPr>
          <p:nvPr/>
        </p:nvPicPr>
        <p:blipFill>
          <a:blip r:embed="rId3"/>
          <a:stretch>
            <a:fillRect/>
          </a:stretch>
        </p:blipFill>
        <p:spPr>
          <a:xfrm>
            <a:off x="7397496" y="1499616"/>
            <a:ext cx="402336" cy="402336"/>
          </a:xfrm>
          <a:prstGeom prst="rect">
            <a:avLst/>
          </a:prstGeom>
        </p:spPr>
      </p:pic>
      <p:sp>
        <p:nvSpPr>
          <p:cNvPr id="17" name="Text 12"/>
          <p:cNvSpPr/>
          <p:nvPr/>
        </p:nvSpPr>
        <p:spPr>
          <a:xfrm>
            <a:off x="6428232" y="2176272"/>
            <a:ext cx="2432304" cy="640080"/>
          </a:xfrm>
          <a:prstGeom prst="rect">
            <a:avLst/>
          </a:prstGeom>
          <a:noFill/>
          <a:ln/>
        </p:spPr>
        <p:txBody>
          <a:bodyPr wrap="square" lIns="0" tIns="0" rIns="0" bIns="0" rtlCol="0" anchor="ctr"/>
          <a:lstStyle/>
          <a:p>
            <a:pPr algn="ctr" indent="0" marL="0">
              <a:buNone/>
            </a:pPr>
            <a:r>
              <a:rPr lang="en-US" sz="2000" dirty="0">
                <a:solidFill>
                  <a:srgbClr val="1B3A2A"/>
                </a:solidFill>
                <a:latin typeface="Georgia" pitchFamily="34" charset="0"/>
                <a:ea typeface="Georgia" pitchFamily="34" charset="-122"/>
                <a:cs typeface="Georgia" pitchFamily="34" charset="-120"/>
              </a:rPr>
              <a:t>The poor and the earth</a:t>
            </a:r>
            <a:endParaRPr lang="en-US" sz="2000" dirty="0"/>
          </a:p>
        </p:txBody>
      </p:sp>
      <p:sp>
        <p:nvSpPr>
          <p:cNvPr id="18" name="Text 13"/>
          <p:cNvSpPr/>
          <p:nvPr/>
        </p:nvSpPr>
        <p:spPr>
          <a:xfrm>
            <a:off x="6428232" y="2880360"/>
            <a:ext cx="2432304" cy="2926080"/>
          </a:xfrm>
          <a:prstGeom prst="rect">
            <a:avLst/>
          </a:prstGeom>
          <a:noFill/>
          <a:ln/>
        </p:spPr>
        <p:txBody>
          <a:bodyPr wrap="square" lIns="0" tIns="0" rIns="0" bIns="0" rtlCol="0" anchor="ctr"/>
          <a:lstStyle/>
          <a:p>
            <a:pPr algn="ctr" indent="0" marL="0">
              <a:buNone/>
            </a:pPr>
            <a:r>
              <a:rPr lang="en-US" sz="1400" dirty="0">
                <a:solidFill>
                  <a:srgbClr val="4A554C"/>
                </a:solidFill>
                <a:latin typeface="Arial" pitchFamily="34" charset="0"/>
                <a:ea typeface="Arial" pitchFamily="34" charset="-122"/>
                <a:cs typeface="Arial" pitchFamily="34" charset="-120"/>
              </a:rPr>
              <a:t>Francis held the leper and the lark with the same love. Care for creation and care for the vulnerable are one Gospel.</a:t>
            </a:r>
            <a:endParaRPr lang="en-US" sz="1400" dirty="0"/>
          </a:p>
        </p:txBody>
      </p:sp>
      <p:sp>
        <p:nvSpPr>
          <p:cNvPr id="19" name="Shape 14"/>
          <p:cNvSpPr/>
          <p:nvPr/>
        </p:nvSpPr>
        <p:spPr>
          <a:xfrm>
            <a:off x="9144000" y="1143000"/>
            <a:ext cx="2761488" cy="5029200"/>
          </a:xfrm>
          <a:prstGeom prst="roundRect">
            <a:avLst>
              <a:gd name="adj" fmla="val 2649"/>
            </a:avLst>
          </a:prstGeom>
          <a:solidFill>
            <a:srgbClr val="FFFBF3"/>
          </a:solidFill>
          <a:ln/>
        </p:spPr>
        <p:txBody>
          <a:bodyPr/>
          <a:p/>
        </p:txBody>
      </p:sp>
      <p:sp>
        <p:nvSpPr>
          <p:cNvPr id="20" name="Shape 15"/>
          <p:cNvSpPr/>
          <p:nvPr/>
        </p:nvSpPr>
        <p:spPr>
          <a:xfrm>
            <a:off x="10149840" y="1371600"/>
            <a:ext cx="658368" cy="658368"/>
          </a:xfrm>
          <a:prstGeom prst="ellipse">
            <a:avLst/>
          </a:prstGeom>
          <a:solidFill>
            <a:srgbClr val="EBE4D4"/>
          </a:solidFill>
          <a:ln/>
        </p:spPr>
        <p:txBody>
          <a:bodyPr/>
          <a:p/>
        </p:txBody>
      </p:sp>
      <p:pic>
        <p:nvPicPr>
          <p:cNvPr id="21" name="Image 3" descr="preencoded.png">    </p:cNvPr>
          <p:cNvPicPr>
            <a:picLocks noChangeAspect="1"/>
          </p:cNvPicPr>
          <p:nvPr/>
        </p:nvPicPr>
        <p:blipFill>
          <a:blip r:embed="rId4"/>
          <a:stretch>
            <a:fillRect/>
          </a:stretch>
        </p:blipFill>
        <p:spPr>
          <a:xfrm>
            <a:off x="10277856" y="1499616"/>
            <a:ext cx="402336" cy="402336"/>
          </a:xfrm>
          <a:prstGeom prst="rect">
            <a:avLst/>
          </a:prstGeom>
        </p:spPr>
      </p:pic>
      <p:sp>
        <p:nvSpPr>
          <p:cNvPr id="22" name="Text 16"/>
          <p:cNvSpPr/>
          <p:nvPr/>
        </p:nvSpPr>
        <p:spPr>
          <a:xfrm>
            <a:off x="9308592" y="2176272"/>
            <a:ext cx="2432304" cy="640080"/>
          </a:xfrm>
          <a:prstGeom prst="rect">
            <a:avLst/>
          </a:prstGeom>
          <a:noFill/>
          <a:ln/>
        </p:spPr>
        <p:txBody>
          <a:bodyPr wrap="square" lIns="0" tIns="0" rIns="0" bIns="0" rtlCol="0" anchor="ctr"/>
          <a:lstStyle/>
          <a:p>
            <a:pPr algn="ctr" indent="0" marL="0">
              <a:buNone/>
            </a:pPr>
            <a:r>
              <a:rPr lang="en-US" sz="2000" dirty="0">
                <a:solidFill>
                  <a:srgbClr val="1B3A2A"/>
                </a:solidFill>
                <a:latin typeface="Georgia" pitchFamily="34" charset="0"/>
                <a:ea typeface="Georgia" pitchFamily="34" charset="-122"/>
                <a:cs typeface="Georgia" pitchFamily="34" charset="-120"/>
              </a:rPr>
              <a:t>Simplicity</a:t>
            </a:r>
            <a:endParaRPr lang="en-US" sz="2000" dirty="0"/>
          </a:p>
        </p:txBody>
      </p:sp>
      <p:sp>
        <p:nvSpPr>
          <p:cNvPr id="23" name="Text 17"/>
          <p:cNvSpPr/>
          <p:nvPr/>
        </p:nvSpPr>
        <p:spPr>
          <a:xfrm>
            <a:off x="9308592" y="2880360"/>
            <a:ext cx="2432304" cy="2926080"/>
          </a:xfrm>
          <a:prstGeom prst="rect">
            <a:avLst/>
          </a:prstGeom>
          <a:noFill/>
          <a:ln/>
        </p:spPr>
        <p:txBody>
          <a:bodyPr wrap="square" lIns="0" tIns="0" rIns="0" bIns="0" rtlCol="0" anchor="ctr"/>
          <a:lstStyle/>
          <a:p>
            <a:pPr algn="ctr" indent="0" marL="0">
              <a:buNone/>
            </a:pPr>
            <a:r>
              <a:rPr lang="en-US" sz="1400" dirty="0">
                <a:solidFill>
                  <a:srgbClr val="4A554C"/>
                </a:solidFill>
                <a:latin typeface="Arial" pitchFamily="34" charset="0"/>
                <a:ea typeface="Arial" pitchFamily="34" charset="-122"/>
                <a:cs typeface="Arial" pitchFamily="34" charset="-120"/>
              </a:rPr>
              <a:t>He returned creation better than he received it by wanting less, noticing more, and treating every creature as a gift.</a:t>
            </a:r>
            <a:endParaRPr lang="en-US" sz="1400" dirty="0"/>
          </a:p>
        </p:txBody>
      </p:sp>
      <p:sp>
        <p:nvSpPr>
          <p:cNvPr id="24" name="Shape 18"/>
          <p:cNvSpPr/>
          <p:nvPr/>
        </p:nvSpPr>
        <p:spPr>
          <a:xfrm>
            <a:off x="502920" y="6510528"/>
            <a:ext cx="11183112" cy="0"/>
          </a:xfrm>
          <a:prstGeom prst="line">
            <a:avLst/>
          </a:prstGeom>
          <a:noFill/>
          <a:ln w="7620">
            <a:solidFill>
              <a:srgbClr val="C9C0A8"/>
            </a:solidFill>
            <a:prstDash val="solid"/>
          </a:ln>
        </p:spPr>
        <p:txBody>
          <a:bodyPr/>
          <a:p/>
        </p:txBody>
      </p:sp>
      <p:sp>
        <p:nvSpPr>
          <p:cNvPr id="25" name="Text 19"/>
          <p:cNvSpPr/>
          <p:nvPr/>
        </p:nvSpPr>
        <p:spPr>
          <a:xfrm>
            <a:off x="502920" y="6547104"/>
            <a:ext cx="8412480" cy="237744"/>
          </a:xfrm>
          <a:prstGeom prst="rect">
            <a:avLst/>
          </a:prstGeom>
          <a:noFill/>
          <a:ln/>
        </p:spPr>
        <p:txBody>
          <a:bodyPr wrap="square" lIns="0" tIns="0" rIns="0" bIns="0" rtlCol="0" anchor="ctr"/>
          <a:lstStyle/>
          <a:p>
            <a:pPr indent="0" marL="0">
              <a:buNone/>
            </a:pPr>
            <a:r>
              <a:rPr lang="en-US" sz="900" spc="120" kern="0" dirty="0">
                <a:solidFill>
                  <a:srgbClr val="6B736C"/>
                </a:solidFill>
                <a:latin typeface="Arial" pitchFamily="34" charset="0"/>
                <a:ea typeface="Arial" pitchFamily="34" charset="-122"/>
                <a:cs typeface="Arial" pitchFamily="34" charset="-120"/>
              </a:rPr>
              <a:t>CREATION CARE IN THE CLASSROOM  ·  K–5 CATHOLIC TEACHERS</a:t>
            </a:r>
            <a:endParaRPr lang="en-US" sz="900" dirty="0"/>
          </a:p>
        </p:txBody>
      </p:sp>
      <p:sp>
        <p:nvSpPr>
          <p:cNvPr id="26" name="Text 20"/>
          <p:cNvSpPr/>
          <p:nvPr/>
        </p:nvSpPr>
        <p:spPr>
          <a:xfrm>
            <a:off x="9509760" y="6547104"/>
            <a:ext cx="2176272" cy="237744"/>
          </a:xfrm>
          <a:prstGeom prst="rect">
            <a:avLst/>
          </a:prstGeom>
          <a:noFill/>
          <a:ln/>
        </p:spPr>
        <p:txBody>
          <a:bodyPr wrap="square" lIns="0" tIns="0" rIns="0" bIns="0" rtlCol="0" anchor="ctr"/>
          <a:lstStyle/>
          <a:p>
            <a:pPr algn="r" indent="0" marL="0">
              <a:buNone/>
            </a:pPr>
            <a:r>
              <a:rPr lang="en-US" sz="900" dirty="0">
                <a:solidFill>
                  <a:srgbClr val="6B736C"/>
                </a:solidFill>
                <a:latin typeface="Arial" pitchFamily="34" charset="0"/>
                <a:ea typeface="Arial" pitchFamily="34" charset="-122"/>
                <a:cs typeface="Arial" pitchFamily="34" charset="-120"/>
              </a:rPr>
              <a:t>06  /  30</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EFE2"/>
        </a:solidFill>
      </p:bgPr>
    </p:bg>
    <p:spTree>
      <p:nvGrpSpPr>
        <p:cNvPr id="1" name=""/>
        <p:cNvGrpSpPr/>
        <p:nvPr/>
      </p:nvGrpSpPr>
      <p:grpSpPr>
        <a:xfrm>
          <a:off x="0" y="0"/>
          <a:ext cx="0" cy="0"/>
          <a:chOff x="0" y="0"/>
          <a:chExt cx="0" cy="0"/>
        </a:xfrm>
      </p:grpSpPr>
      <p:sp>
        <p:nvSpPr>
          <p:cNvPr id="2" name="Text 0"/>
          <p:cNvSpPr/>
          <p:nvPr/>
        </p:nvSpPr>
        <p:spPr>
          <a:xfrm>
            <a:off x="502920" y="256032"/>
            <a:ext cx="11155680" cy="219456"/>
          </a:xfrm>
          <a:prstGeom prst="rect">
            <a:avLst/>
          </a:prstGeom>
          <a:noFill/>
          <a:ln/>
        </p:spPr>
        <p:txBody>
          <a:bodyPr wrap="square" lIns="0" tIns="0" rIns="0" bIns="0" rtlCol="0" anchor="ctr"/>
          <a:lstStyle/>
          <a:p>
            <a:pPr indent="0" marL="0">
              <a:buNone/>
            </a:pPr>
            <a:r>
              <a:rPr lang="en-US" sz="1100" b="1" spc="220" kern="0" dirty="0">
                <a:solidFill>
                  <a:srgbClr val="4F7A5C"/>
                </a:solidFill>
                <a:latin typeface="Arial" pitchFamily="34" charset="0"/>
                <a:ea typeface="Arial" pitchFamily="34" charset="-122"/>
                <a:cs typeface="Arial" pitchFamily="34" charset="-120"/>
              </a:rPr>
              <a:t>06  ·  THE CHURCH HAS NOT BEEN SILENT</a:t>
            </a:r>
            <a:endParaRPr lang="en-US" sz="1100" dirty="0"/>
          </a:p>
        </p:txBody>
      </p:sp>
      <p:sp>
        <p:nvSpPr>
          <p:cNvPr id="3" name="Text 1"/>
          <p:cNvSpPr/>
          <p:nvPr/>
        </p:nvSpPr>
        <p:spPr>
          <a:xfrm>
            <a:off x="502920" y="475488"/>
            <a:ext cx="11155680" cy="475488"/>
          </a:xfrm>
          <a:prstGeom prst="rect">
            <a:avLst/>
          </a:prstGeom>
          <a:noFill/>
          <a:ln/>
        </p:spPr>
        <p:txBody>
          <a:bodyPr wrap="square" lIns="0" tIns="0" rIns="0" bIns="0" rtlCol="0" anchor="ctr"/>
          <a:lstStyle/>
          <a:p>
            <a:pPr indent="0" marL="0">
              <a:buNone/>
            </a:pPr>
            <a:r>
              <a:rPr lang="en-US" sz="2600" dirty="0">
                <a:solidFill>
                  <a:srgbClr val="1B3A2A"/>
                </a:solidFill>
                <a:latin typeface="Georgia" pitchFamily="34" charset="0"/>
                <a:ea typeface="Georgia" pitchFamily="34" charset="-122"/>
                <a:cs typeface="Georgia" pitchFamily="34" charset="-120"/>
              </a:rPr>
              <a:t>From Assisi to your classroom</a:t>
            </a:r>
            <a:endParaRPr lang="en-US" sz="2600" dirty="0"/>
          </a:p>
        </p:txBody>
      </p:sp>
      <p:sp>
        <p:nvSpPr>
          <p:cNvPr id="4" name="Shape 2"/>
          <p:cNvSpPr/>
          <p:nvPr/>
        </p:nvSpPr>
        <p:spPr>
          <a:xfrm>
            <a:off x="640080" y="1371600"/>
            <a:ext cx="256032" cy="256032"/>
          </a:xfrm>
          <a:prstGeom prst="ellipse">
            <a:avLst/>
          </a:prstGeom>
          <a:solidFill>
            <a:srgbClr val="C4A35A"/>
          </a:solidFill>
          <a:ln/>
        </p:spPr>
        <p:txBody>
          <a:bodyPr/>
          <a:p/>
        </p:txBody>
      </p:sp>
      <p:sp>
        <p:nvSpPr>
          <p:cNvPr id="5" name="Shape 3"/>
          <p:cNvSpPr/>
          <p:nvPr/>
        </p:nvSpPr>
        <p:spPr>
          <a:xfrm>
            <a:off x="740664" y="1645920"/>
            <a:ext cx="54864" cy="713232"/>
          </a:xfrm>
          <a:prstGeom prst="rect">
            <a:avLst/>
          </a:prstGeom>
          <a:solidFill>
            <a:srgbClr val="D9CFAE"/>
          </a:solidFill>
          <a:ln/>
        </p:spPr>
        <p:txBody>
          <a:bodyPr/>
          <a:p/>
        </p:txBody>
      </p:sp>
      <p:sp>
        <p:nvSpPr>
          <p:cNvPr id="6" name="Text 4"/>
          <p:cNvSpPr/>
          <p:nvPr/>
        </p:nvSpPr>
        <p:spPr>
          <a:xfrm>
            <a:off x="1097280" y="1170432"/>
            <a:ext cx="1554480" cy="777240"/>
          </a:xfrm>
          <a:prstGeom prst="rect">
            <a:avLst/>
          </a:prstGeom>
          <a:noFill/>
          <a:ln/>
        </p:spPr>
        <p:txBody>
          <a:bodyPr wrap="square" lIns="0" tIns="0" rIns="0" bIns="0" rtlCol="0" anchor="ctr"/>
          <a:lstStyle/>
          <a:p>
            <a:pPr indent="0" marL="0">
              <a:buNone/>
            </a:pPr>
            <a:r>
              <a:rPr lang="en-US" sz="1800" dirty="0">
                <a:solidFill>
                  <a:srgbClr val="1B3A2A"/>
                </a:solidFill>
                <a:latin typeface="Georgia" pitchFamily="34" charset="0"/>
                <a:ea typeface="Georgia" pitchFamily="34" charset="-122"/>
                <a:cs typeface="Georgia" pitchFamily="34" charset="-120"/>
              </a:rPr>
              <a:t>1225</a:t>
            </a:r>
            <a:endParaRPr lang="en-US" sz="1800" dirty="0"/>
          </a:p>
        </p:txBody>
      </p:sp>
      <p:sp>
        <p:nvSpPr>
          <p:cNvPr id="7" name="Text 5"/>
          <p:cNvSpPr/>
          <p:nvPr/>
        </p:nvSpPr>
        <p:spPr>
          <a:xfrm>
            <a:off x="2788920" y="1243584"/>
            <a:ext cx="3931920" cy="320040"/>
          </a:xfrm>
          <a:prstGeom prst="rect">
            <a:avLst/>
          </a:prstGeom>
          <a:noFill/>
          <a:ln/>
        </p:spPr>
        <p:txBody>
          <a:bodyPr wrap="square" lIns="0" tIns="0" rIns="0" bIns="0" rtlCol="0" anchor="ctr"/>
          <a:lstStyle/>
          <a:p>
            <a:pPr indent="0" marL="0">
              <a:buNone/>
            </a:pPr>
            <a:r>
              <a:rPr lang="en-US" sz="1600" b="1" dirty="0">
                <a:solidFill>
                  <a:srgbClr val="1B3A2A"/>
                </a:solidFill>
                <a:latin typeface="Arial" pitchFamily="34" charset="0"/>
                <a:ea typeface="Arial" pitchFamily="34" charset="-122"/>
                <a:cs typeface="Arial" pitchFamily="34" charset="-120"/>
              </a:rPr>
              <a:t>Song of the Creatures</a:t>
            </a:r>
            <a:endParaRPr lang="en-US" sz="1600" dirty="0"/>
          </a:p>
        </p:txBody>
      </p:sp>
      <p:sp>
        <p:nvSpPr>
          <p:cNvPr id="8" name="Text 6"/>
          <p:cNvSpPr/>
          <p:nvPr/>
        </p:nvSpPr>
        <p:spPr>
          <a:xfrm>
            <a:off x="2788920" y="1554480"/>
            <a:ext cx="4114800" cy="365760"/>
          </a:xfrm>
          <a:prstGeom prst="rect">
            <a:avLst/>
          </a:prstGeom>
          <a:noFill/>
          <a:ln/>
        </p:spPr>
        <p:txBody>
          <a:bodyPr wrap="square" lIns="0" tIns="0" rIns="0" bIns="0" rtlCol="0" anchor="ctr"/>
          <a:lstStyle/>
          <a:p>
            <a:pPr indent="0" marL="0">
              <a:buNone/>
            </a:pPr>
            <a:r>
              <a:rPr lang="en-US" sz="1400" dirty="0">
                <a:solidFill>
                  <a:srgbClr val="4A554C"/>
                </a:solidFill>
                <a:latin typeface="Arial" pitchFamily="34" charset="0"/>
                <a:ea typeface="Arial" pitchFamily="34" charset="-122"/>
                <a:cs typeface="Arial" pitchFamily="34" charset="-120"/>
              </a:rPr>
              <a:t>Francis praises God through every creature.</a:t>
            </a:r>
            <a:endParaRPr lang="en-US" sz="1400" dirty="0"/>
          </a:p>
        </p:txBody>
      </p:sp>
      <p:sp>
        <p:nvSpPr>
          <p:cNvPr id="9" name="Shape 7"/>
          <p:cNvSpPr/>
          <p:nvPr/>
        </p:nvSpPr>
        <p:spPr>
          <a:xfrm>
            <a:off x="640080" y="2331720"/>
            <a:ext cx="256032" cy="256032"/>
          </a:xfrm>
          <a:prstGeom prst="ellipse">
            <a:avLst/>
          </a:prstGeom>
          <a:solidFill>
            <a:srgbClr val="C4A35A"/>
          </a:solidFill>
          <a:ln/>
        </p:spPr>
        <p:txBody>
          <a:bodyPr/>
          <a:p/>
        </p:txBody>
      </p:sp>
      <p:sp>
        <p:nvSpPr>
          <p:cNvPr id="10" name="Shape 8"/>
          <p:cNvSpPr/>
          <p:nvPr/>
        </p:nvSpPr>
        <p:spPr>
          <a:xfrm>
            <a:off x="740664" y="2606040"/>
            <a:ext cx="54864" cy="713232"/>
          </a:xfrm>
          <a:prstGeom prst="rect">
            <a:avLst/>
          </a:prstGeom>
          <a:solidFill>
            <a:srgbClr val="D9CFAE"/>
          </a:solidFill>
          <a:ln/>
        </p:spPr>
        <p:txBody>
          <a:bodyPr/>
          <a:p/>
        </p:txBody>
      </p:sp>
      <p:sp>
        <p:nvSpPr>
          <p:cNvPr id="11" name="Text 9"/>
          <p:cNvSpPr/>
          <p:nvPr/>
        </p:nvSpPr>
        <p:spPr>
          <a:xfrm>
            <a:off x="1097280" y="2130552"/>
            <a:ext cx="1554480" cy="777240"/>
          </a:xfrm>
          <a:prstGeom prst="rect">
            <a:avLst/>
          </a:prstGeom>
          <a:noFill/>
          <a:ln/>
        </p:spPr>
        <p:txBody>
          <a:bodyPr wrap="square" lIns="0" tIns="0" rIns="0" bIns="0" rtlCol="0" anchor="ctr"/>
          <a:lstStyle/>
          <a:p>
            <a:pPr indent="0" marL="0">
              <a:buNone/>
            </a:pPr>
            <a:r>
              <a:rPr lang="en-US" sz="1800" dirty="0">
                <a:solidFill>
                  <a:srgbClr val="1B3A2A"/>
                </a:solidFill>
                <a:latin typeface="Georgia" pitchFamily="34" charset="0"/>
                <a:ea typeface="Georgia" pitchFamily="34" charset="-122"/>
                <a:cs typeface="Georgia" pitchFamily="34" charset="-120"/>
              </a:rPr>
              <a:t>1979</a:t>
            </a:r>
            <a:endParaRPr lang="en-US" sz="1800" dirty="0"/>
          </a:p>
        </p:txBody>
      </p:sp>
      <p:sp>
        <p:nvSpPr>
          <p:cNvPr id="12" name="Text 10"/>
          <p:cNvSpPr/>
          <p:nvPr/>
        </p:nvSpPr>
        <p:spPr>
          <a:xfrm>
            <a:off x="2788920" y="2203704"/>
            <a:ext cx="3931920" cy="320040"/>
          </a:xfrm>
          <a:prstGeom prst="rect">
            <a:avLst/>
          </a:prstGeom>
          <a:noFill/>
          <a:ln/>
        </p:spPr>
        <p:txBody>
          <a:bodyPr wrap="square" lIns="0" tIns="0" rIns="0" bIns="0" rtlCol="0" anchor="ctr"/>
          <a:lstStyle/>
          <a:p>
            <a:pPr indent="0" marL="0">
              <a:buNone/>
            </a:pPr>
            <a:r>
              <a:rPr lang="en-US" sz="1600" b="1" dirty="0">
                <a:solidFill>
                  <a:srgbClr val="1B3A2A"/>
                </a:solidFill>
                <a:latin typeface="Arial" pitchFamily="34" charset="0"/>
                <a:ea typeface="Arial" pitchFamily="34" charset="-122"/>
                <a:cs typeface="Arial" pitchFamily="34" charset="-120"/>
              </a:rPr>
              <a:t>Patron of ecology</a:t>
            </a:r>
            <a:endParaRPr lang="en-US" sz="1600" dirty="0"/>
          </a:p>
        </p:txBody>
      </p:sp>
      <p:sp>
        <p:nvSpPr>
          <p:cNvPr id="13" name="Text 11"/>
          <p:cNvSpPr/>
          <p:nvPr/>
        </p:nvSpPr>
        <p:spPr>
          <a:xfrm>
            <a:off x="2788920" y="2514600"/>
            <a:ext cx="4114800" cy="365760"/>
          </a:xfrm>
          <a:prstGeom prst="rect">
            <a:avLst/>
          </a:prstGeom>
          <a:noFill/>
          <a:ln/>
        </p:spPr>
        <p:txBody>
          <a:bodyPr wrap="square" lIns="0" tIns="0" rIns="0" bIns="0" rtlCol="0" anchor="ctr"/>
          <a:lstStyle/>
          <a:p>
            <a:pPr indent="0" marL="0">
              <a:buNone/>
            </a:pPr>
            <a:r>
              <a:rPr lang="en-US" sz="1400" dirty="0">
                <a:solidFill>
                  <a:srgbClr val="4A554C"/>
                </a:solidFill>
                <a:latin typeface="Arial" pitchFamily="34" charset="0"/>
                <a:ea typeface="Arial" pitchFamily="34" charset="-122"/>
                <a:cs typeface="Arial" pitchFamily="34" charset="-120"/>
              </a:rPr>
              <a:t>St. John Paul II names Francis patron of those who promote ecology.</a:t>
            </a:r>
            <a:endParaRPr lang="en-US" sz="1400" dirty="0"/>
          </a:p>
        </p:txBody>
      </p:sp>
      <p:sp>
        <p:nvSpPr>
          <p:cNvPr id="14" name="Shape 12"/>
          <p:cNvSpPr/>
          <p:nvPr/>
        </p:nvSpPr>
        <p:spPr>
          <a:xfrm>
            <a:off x="640080" y="3291840"/>
            <a:ext cx="256032" cy="256032"/>
          </a:xfrm>
          <a:prstGeom prst="ellipse">
            <a:avLst/>
          </a:prstGeom>
          <a:solidFill>
            <a:srgbClr val="C4A35A"/>
          </a:solidFill>
          <a:ln/>
        </p:spPr>
        <p:txBody>
          <a:bodyPr/>
          <a:p/>
        </p:txBody>
      </p:sp>
      <p:sp>
        <p:nvSpPr>
          <p:cNvPr id="15" name="Shape 13"/>
          <p:cNvSpPr/>
          <p:nvPr/>
        </p:nvSpPr>
        <p:spPr>
          <a:xfrm>
            <a:off x="740664" y="3566160"/>
            <a:ext cx="54864" cy="713232"/>
          </a:xfrm>
          <a:prstGeom prst="rect">
            <a:avLst/>
          </a:prstGeom>
          <a:solidFill>
            <a:srgbClr val="D9CFAE"/>
          </a:solidFill>
          <a:ln/>
        </p:spPr>
        <p:txBody>
          <a:bodyPr/>
          <a:p/>
        </p:txBody>
      </p:sp>
      <p:sp>
        <p:nvSpPr>
          <p:cNvPr id="16" name="Text 14"/>
          <p:cNvSpPr/>
          <p:nvPr/>
        </p:nvSpPr>
        <p:spPr>
          <a:xfrm>
            <a:off x="1097280" y="3090672"/>
            <a:ext cx="1554480" cy="777240"/>
          </a:xfrm>
          <a:prstGeom prst="rect">
            <a:avLst/>
          </a:prstGeom>
          <a:noFill/>
          <a:ln/>
        </p:spPr>
        <p:txBody>
          <a:bodyPr wrap="square" lIns="0" tIns="0" rIns="0" bIns="0" rtlCol="0" anchor="ctr"/>
          <a:lstStyle/>
          <a:p>
            <a:pPr indent="0" marL="0">
              <a:buNone/>
            </a:pPr>
            <a:r>
              <a:rPr lang="en-US" sz="1800" dirty="0">
                <a:solidFill>
                  <a:srgbClr val="1B3A2A"/>
                </a:solidFill>
                <a:latin typeface="Georgia" pitchFamily="34" charset="0"/>
                <a:ea typeface="Georgia" pitchFamily="34" charset="-122"/>
                <a:cs typeface="Georgia" pitchFamily="34" charset="-120"/>
              </a:rPr>
              <a:t>2015</a:t>
            </a:r>
            <a:endParaRPr lang="en-US" sz="1800" dirty="0"/>
          </a:p>
        </p:txBody>
      </p:sp>
      <p:sp>
        <p:nvSpPr>
          <p:cNvPr id="17" name="Text 15"/>
          <p:cNvSpPr/>
          <p:nvPr/>
        </p:nvSpPr>
        <p:spPr>
          <a:xfrm>
            <a:off x="2788920" y="3163824"/>
            <a:ext cx="3931920" cy="320040"/>
          </a:xfrm>
          <a:prstGeom prst="rect">
            <a:avLst/>
          </a:prstGeom>
          <a:noFill/>
          <a:ln/>
        </p:spPr>
        <p:txBody>
          <a:bodyPr wrap="square" lIns="0" tIns="0" rIns="0" bIns="0" rtlCol="0" anchor="ctr"/>
          <a:lstStyle/>
          <a:p>
            <a:pPr indent="0" marL="0">
              <a:buNone/>
            </a:pPr>
            <a:r>
              <a:rPr lang="en-US" sz="1600" b="1" dirty="0">
                <a:solidFill>
                  <a:srgbClr val="1B3A2A"/>
                </a:solidFill>
                <a:latin typeface="Arial" pitchFamily="34" charset="0"/>
                <a:ea typeface="Arial" pitchFamily="34" charset="-122"/>
                <a:cs typeface="Arial" pitchFamily="34" charset="-120"/>
              </a:rPr>
              <a:t>Laudato Si’</a:t>
            </a:r>
            <a:endParaRPr lang="en-US" sz="1600" dirty="0"/>
          </a:p>
        </p:txBody>
      </p:sp>
      <p:sp>
        <p:nvSpPr>
          <p:cNvPr id="18" name="Text 16"/>
          <p:cNvSpPr/>
          <p:nvPr/>
        </p:nvSpPr>
        <p:spPr>
          <a:xfrm>
            <a:off x="2788920" y="3474720"/>
            <a:ext cx="4114800" cy="365760"/>
          </a:xfrm>
          <a:prstGeom prst="rect">
            <a:avLst/>
          </a:prstGeom>
          <a:noFill/>
          <a:ln/>
        </p:spPr>
        <p:txBody>
          <a:bodyPr wrap="square" lIns="0" tIns="0" rIns="0" bIns="0" rtlCol="0" anchor="ctr"/>
          <a:lstStyle/>
          <a:p>
            <a:pPr indent="0" marL="0">
              <a:buNone/>
            </a:pPr>
            <a:r>
              <a:rPr lang="en-US" sz="1400" dirty="0">
                <a:solidFill>
                  <a:srgbClr val="4A554C"/>
                </a:solidFill>
                <a:latin typeface="Arial" pitchFamily="34" charset="0"/>
                <a:ea typeface="Arial" pitchFamily="34" charset="-122"/>
                <a:cs typeface="Arial" pitchFamily="34" charset="-120"/>
              </a:rPr>
              <a:t>Pope Francis writes to every person on care for our common home.</a:t>
            </a:r>
            <a:endParaRPr lang="en-US" sz="1400" dirty="0"/>
          </a:p>
        </p:txBody>
      </p:sp>
      <p:sp>
        <p:nvSpPr>
          <p:cNvPr id="19" name="Shape 17"/>
          <p:cNvSpPr/>
          <p:nvPr/>
        </p:nvSpPr>
        <p:spPr>
          <a:xfrm>
            <a:off x="640080" y="4251960"/>
            <a:ext cx="256032" cy="256032"/>
          </a:xfrm>
          <a:prstGeom prst="ellipse">
            <a:avLst/>
          </a:prstGeom>
          <a:solidFill>
            <a:srgbClr val="C4A35A"/>
          </a:solidFill>
          <a:ln/>
        </p:spPr>
        <p:txBody>
          <a:bodyPr/>
          <a:p/>
        </p:txBody>
      </p:sp>
      <p:sp>
        <p:nvSpPr>
          <p:cNvPr id="20" name="Shape 18"/>
          <p:cNvSpPr/>
          <p:nvPr/>
        </p:nvSpPr>
        <p:spPr>
          <a:xfrm>
            <a:off x="740664" y="4526280"/>
            <a:ext cx="54864" cy="713232"/>
          </a:xfrm>
          <a:prstGeom prst="rect">
            <a:avLst/>
          </a:prstGeom>
          <a:solidFill>
            <a:srgbClr val="D9CFAE"/>
          </a:solidFill>
          <a:ln/>
        </p:spPr>
        <p:txBody>
          <a:bodyPr/>
          <a:p/>
        </p:txBody>
      </p:sp>
      <p:sp>
        <p:nvSpPr>
          <p:cNvPr id="21" name="Text 19"/>
          <p:cNvSpPr/>
          <p:nvPr/>
        </p:nvSpPr>
        <p:spPr>
          <a:xfrm>
            <a:off x="1097280" y="4050792"/>
            <a:ext cx="1554480" cy="777240"/>
          </a:xfrm>
          <a:prstGeom prst="rect">
            <a:avLst/>
          </a:prstGeom>
          <a:noFill/>
          <a:ln/>
        </p:spPr>
        <p:txBody>
          <a:bodyPr wrap="square" lIns="0" tIns="0" rIns="0" bIns="0" rtlCol="0" anchor="ctr"/>
          <a:lstStyle/>
          <a:p>
            <a:pPr indent="0" marL="0">
              <a:buNone/>
            </a:pPr>
            <a:r>
              <a:rPr lang="en-US" sz="1800" dirty="0">
                <a:solidFill>
                  <a:srgbClr val="1B3A2A"/>
                </a:solidFill>
                <a:latin typeface="Georgia" pitchFamily="34" charset="0"/>
                <a:ea typeface="Georgia" pitchFamily="34" charset="-122"/>
                <a:cs typeface="Georgia" pitchFamily="34" charset="-120"/>
              </a:rPr>
              <a:t>2023–26</a:t>
            </a:r>
            <a:endParaRPr lang="en-US" sz="1800" dirty="0"/>
          </a:p>
        </p:txBody>
      </p:sp>
      <p:sp>
        <p:nvSpPr>
          <p:cNvPr id="22" name="Text 20"/>
          <p:cNvSpPr/>
          <p:nvPr/>
        </p:nvSpPr>
        <p:spPr>
          <a:xfrm>
            <a:off x="2788920" y="4123944"/>
            <a:ext cx="3931920" cy="320040"/>
          </a:xfrm>
          <a:prstGeom prst="rect">
            <a:avLst/>
          </a:prstGeom>
          <a:noFill/>
          <a:ln/>
        </p:spPr>
        <p:txBody>
          <a:bodyPr wrap="square" lIns="0" tIns="0" rIns="0" bIns="0" rtlCol="0" anchor="ctr"/>
          <a:lstStyle/>
          <a:p>
            <a:pPr indent="0" marL="0">
              <a:buNone/>
            </a:pPr>
            <a:r>
              <a:rPr lang="en-US" sz="1600" b="1" dirty="0">
                <a:solidFill>
                  <a:srgbClr val="1B3A2A"/>
                </a:solidFill>
                <a:latin typeface="Arial" pitchFamily="34" charset="0"/>
                <a:ea typeface="Arial" pitchFamily="34" charset="-122"/>
                <a:cs typeface="Arial" pitchFamily="34" charset="-120"/>
              </a:rPr>
              <a:t>Laudate Deum &amp; Jubilee</a:t>
            </a:r>
            <a:endParaRPr lang="en-US" sz="1600" dirty="0"/>
          </a:p>
        </p:txBody>
      </p:sp>
      <p:sp>
        <p:nvSpPr>
          <p:cNvPr id="23" name="Text 21"/>
          <p:cNvSpPr/>
          <p:nvPr/>
        </p:nvSpPr>
        <p:spPr>
          <a:xfrm>
            <a:off x="2788920" y="4434840"/>
            <a:ext cx="4114800" cy="365760"/>
          </a:xfrm>
          <a:prstGeom prst="rect">
            <a:avLst/>
          </a:prstGeom>
          <a:noFill/>
          <a:ln/>
        </p:spPr>
        <p:txBody>
          <a:bodyPr wrap="square" lIns="0" tIns="0" rIns="0" bIns="0" rtlCol="0" anchor="ctr"/>
          <a:lstStyle/>
          <a:p>
            <a:pPr indent="0" marL="0">
              <a:buNone/>
            </a:pPr>
            <a:r>
              <a:rPr lang="en-US" sz="1400" dirty="0">
                <a:solidFill>
                  <a:srgbClr val="4A554C"/>
                </a:solidFill>
                <a:latin typeface="Arial" pitchFamily="34" charset="0"/>
                <a:ea typeface="Arial" pitchFamily="34" charset="-122"/>
                <a:cs typeface="Arial" pitchFamily="34" charset="-120"/>
              </a:rPr>
              <a:t>The call deepens. Pope Leo XIV places peace with creation at the center of this year.</a:t>
            </a:r>
            <a:endParaRPr lang="en-US" sz="1400" dirty="0"/>
          </a:p>
        </p:txBody>
      </p:sp>
      <p:sp>
        <p:nvSpPr>
          <p:cNvPr id="24" name="Shape 22"/>
          <p:cNvSpPr/>
          <p:nvPr/>
        </p:nvSpPr>
        <p:spPr>
          <a:xfrm>
            <a:off x="640080" y="5212080"/>
            <a:ext cx="256032" cy="256032"/>
          </a:xfrm>
          <a:prstGeom prst="ellipse">
            <a:avLst/>
          </a:prstGeom>
          <a:solidFill>
            <a:srgbClr val="C4A35A"/>
          </a:solidFill>
          <a:ln/>
        </p:spPr>
        <p:txBody>
          <a:bodyPr/>
          <a:p/>
        </p:txBody>
      </p:sp>
      <p:sp>
        <p:nvSpPr>
          <p:cNvPr id="25" name="Text 23"/>
          <p:cNvSpPr/>
          <p:nvPr/>
        </p:nvSpPr>
        <p:spPr>
          <a:xfrm>
            <a:off x="1097280" y="5010912"/>
            <a:ext cx="1554480" cy="777240"/>
          </a:xfrm>
          <a:prstGeom prst="rect">
            <a:avLst/>
          </a:prstGeom>
          <a:noFill/>
          <a:ln/>
        </p:spPr>
        <p:txBody>
          <a:bodyPr wrap="square" lIns="0" tIns="0" rIns="0" bIns="0" rtlCol="0" anchor="ctr"/>
          <a:lstStyle/>
          <a:p>
            <a:pPr indent="0" marL="0">
              <a:buNone/>
            </a:pPr>
            <a:r>
              <a:rPr lang="en-US" sz="1800" dirty="0">
                <a:solidFill>
                  <a:srgbClr val="1B3A2A"/>
                </a:solidFill>
                <a:latin typeface="Georgia" pitchFamily="34" charset="0"/>
                <a:ea typeface="Georgia" pitchFamily="34" charset="-122"/>
                <a:cs typeface="Georgia" pitchFamily="34" charset="-120"/>
              </a:rPr>
              <a:t>Today</a:t>
            </a:r>
            <a:endParaRPr lang="en-US" sz="1800" dirty="0"/>
          </a:p>
        </p:txBody>
      </p:sp>
      <p:sp>
        <p:nvSpPr>
          <p:cNvPr id="26" name="Text 24"/>
          <p:cNvSpPr/>
          <p:nvPr/>
        </p:nvSpPr>
        <p:spPr>
          <a:xfrm>
            <a:off x="2788920" y="5084064"/>
            <a:ext cx="3931920" cy="320040"/>
          </a:xfrm>
          <a:prstGeom prst="rect">
            <a:avLst/>
          </a:prstGeom>
          <a:noFill/>
          <a:ln/>
        </p:spPr>
        <p:txBody>
          <a:bodyPr wrap="square" lIns="0" tIns="0" rIns="0" bIns="0" rtlCol="0" anchor="ctr"/>
          <a:lstStyle/>
          <a:p>
            <a:pPr indent="0" marL="0">
              <a:buNone/>
            </a:pPr>
            <a:r>
              <a:rPr lang="en-US" sz="1600" b="1" dirty="0">
                <a:solidFill>
                  <a:srgbClr val="1B3A2A"/>
                </a:solidFill>
                <a:latin typeface="Arial" pitchFamily="34" charset="0"/>
                <a:ea typeface="Arial" pitchFamily="34" charset="-122"/>
                <a:cs typeface="Arial" pitchFamily="34" charset="-120"/>
              </a:rPr>
              <a:t>The K–5 classroom</a:t>
            </a:r>
            <a:endParaRPr lang="en-US" sz="1600" dirty="0"/>
          </a:p>
        </p:txBody>
      </p:sp>
      <p:sp>
        <p:nvSpPr>
          <p:cNvPr id="27" name="Text 25"/>
          <p:cNvSpPr/>
          <p:nvPr/>
        </p:nvSpPr>
        <p:spPr>
          <a:xfrm>
            <a:off x="2788920" y="5394960"/>
            <a:ext cx="4114800" cy="365760"/>
          </a:xfrm>
          <a:prstGeom prst="rect">
            <a:avLst/>
          </a:prstGeom>
          <a:noFill/>
          <a:ln/>
        </p:spPr>
        <p:txBody>
          <a:bodyPr wrap="square" lIns="0" tIns="0" rIns="0" bIns="0" rtlCol="0" anchor="ctr"/>
          <a:lstStyle/>
          <a:p>
            <a:pPr indent="0" marL="0">
              <a:buNone/>
            </a:pPr>
            <a:r>
              <a:rPr lang="en-US" sz="1400" dirty="0">
                <a:solidFill>
                  <a:srgbClr val="4A554C"/>
                </a:solidFill>
                <a:latin typeface="Arial" pitchFamily="34" charset="0"/>
                <a:ea typeface="Arial" pitchFamily="34" charset="-122"/>
                <a:cs typeface="Arial" pitchFamily="34" charset="-120"/>
              </a:rPr>
              <a:t>Teachers form the next generation of stewards before habits harden.</a:t>
            </a:r>
            <a:endParaRPr lang="en-US" sz="1400" dirty="0"/>
          </a:p>
        </p:txBody>
      </p:sp>
      <p:sp>
        <p:nvSpPr>
          <p:cNvPr id="28" name="Shape 26"/>
          <p:cNvSpPr/>
          <p:nvPr/>
        </p:nvSpPr>
        <p:spPr>
          <a:xfrm>
            <a:off x="7178040" y="1170432"/>
            <a:ext cx="4507992" cy="4709160"/>
          </a:xfrm>
          <a:prstGeom prst="roundRect">
            <a:avLst>
              <a:gd name="adj" fmla="val 1623"/>
            </a:avLst>
          </a:prstGeom>
          <a:solidFill>
            <a:srgbClr val="1B3A2A"/>
          </a:solidFill>
          <a:ln/>
        </p:spPr>
        <p:txBody>
          <a:bodyPr/>
          <a:p/>
        </p:txBody>
      </p:sp>
      <p:sp>
        <p:nvSpPr>
          <p:cNvPr id="29" name="Text 27"/>
          <p:cNvSpPr/>
          <p:nvPr/>
        </p:nvSpPr>
        <p:spPr>
          <a:xfrm>
            <a:off x="7452360" y="1417320"/>
            <a:ext cx="3977640" cy="640080"/>
          </a:xfrm>
          <a:prstGeom prst="rect">
            <a:avLst/>
          </a:prstGeom>
          <a:noFill/>
          <a:ln/>
        </p:spPr>
        <p:txBody>
          <a:bodyPr wrap="square" lIns="0" tIns="0" rIns="0" bIns="0" rtlCol="0" anchor="ctr"/>
          <a:lstStyle/>
          <a:p>
            <a:pPr indent="0" marL="0">
              <a:buNone/>
            </a:pPr>
            <a:r>
              <a:rPr lang="en-US" sz="1300" b="1" dirty="0">
                <a:solidFill>
                  <a:srgbClr val="C4A35A"/>
                </a:solidFill>
                <a:latin typeface="Arial" pitchFamily="34" charset="0"/>
                <a:ea typeface="Arial" pitchFamily="34" charset="-122"/>
                <a:cs typeface="Arial" pitchFamily="34" charset="-120"/>
              </a:rPr>
              <a:t>The line that changes a faculty meeting</a:t>
            </a:r>
            <a:endParaRPr lang="en-US" sz="1300" dirty="0"/>
          </a:p>
        </p:txBody>
      </p:sp>
      <p:sp>
        <p:nvSpPr>
          <p:cNvPr id="30" name="Text 28"/>
          <p:cNvSpPr/>
          <p:nvPr/>
        </p:nvSpPr>
        <p:spPr>
          <a:xfrm>
            <a:off x="7452360" y="2148840"/>
            <a:ext cx="3977640" cy="2331720"/>
          </a:xfrm>
          <a:prstGeom prst="rect">
            <a:avLst/>
          </a:prstGeom>
          <a:noFill/>
          <a:ln/>
        </p:spPr>
        <p:txBody>
          <a:bodyPr wrap="square" lIns="0" tIns="0" rIns="0" bIns="0" rtlCol="0" anchor="ctr"/>
          <a:lstStyle/>
          <a:p>
            <a:pPr indent="0" marL="0">
              <a:buNone/>
            </a:pPr>
            <a:r>
              <a:rPr lang="en-US" sz="1800" i="1" dirty="0">
                <a:solidFill>
                  <a:srgbClr val="F4EFE2"/>
                </a:solidFill>
                <a:latin typeface="Georgia" pitchFamily="34" charset="0"/>
                <a:ea typeface="Georgia" pitchFamily="34" charset="-122"/>
                <a:cs typeface="Georgia" pitchFamily="34" charset="-120"/>
              </a:rPr>
              <a:t>Living our vocation to be protectors of God’s handiwork is essential to a life of virtue; it is not an optional or a secondary aspect of our Christian experience.</a:t>
            </a:r>
            <a:endParaRPr lang="en-US" sz="1800" dirty="0"/>
          </a:p>
        </p:txBody>
      </p:sp>
      <p:sp>
        <p:nvSpPr>
          <p:cNvPr id="31" name="Text 29"/>
          <p:cNvSpPr/>
          <p:nvPr/>
        </p:nvSpPr>
        <p:spPr>
          <a:xfrm>
            <a:off x="7452360" y="4617720"/>
            <a:ext cx="3977640" cy="274320"/>
          </a:xfrm>
          <a:prstGeom prst="rect">
            <a:avLst/>
          </a:prstGeom>
          <a:noFill/>
          <a:ln/>
        </p:spPr>
        <p:txBody>
          <a:bodyPr wrap="square" lIns="0" tIns="0" rIns="0" bIns="0" rtlCol="0" anchor="ctr"/>
          <a:lstStyle/>
          <a:p>
            <a:pPr indent="0" marL="0">
              <a:buNone/>
            </a:pPr>
            <a:r>
              <a:rPr lang="en-US" sz="1300" dirty="0">
                <a:solidFill>
                  <a:srgbClr val="D9CFAE"/>
                </a:solidFill>
                <a:latin typeface="Arial" pitchFamily="34" charset="0"/>
                <a:ea typeface="Arial" pitchFamily="34" charset="-122"/>
                <a:cs typeface="Arial" pitchFamily="34" charset="-120"/>
              </a:rPr>
              <a:t>Laudato Si’, 217</a:t>
            </a:r>
            <a:endParaRPr lang="en-US" sz="1300" dirty="0"/>
          </a:p>
        </p:txBody>
      </p:sp>
      <p:sp>
        <p:nvSpPr>
          <p:cNvPr id="32" name="Text 30"/>
          <p:cNvSpPr/>
          <p:nvPr/>
        </p:nvSpPr>
        <p:spPr>
          <a:xfrm>
            <a:off x="7452360" y="4983480"/>
            <a:ext cx="3977640" cy="640080"/>
          </a:xfrm>
          <a:prstGeom prst="rect">
            <a:avLst/>
          </a:prstGeom>
          <a:noFill/>
          <a:ln/>
        </p:spPr>
        <p:txBody>
          <a:bodyPr wrap="square" lIns="0" tIns="0" rIns="0" bIns="0" rtlCol="0" anchor="ctr"/>
          <a:lstStyle/>
          <a:p>
            <a:pPr indent="0" marL="0">
              <a:buNone/>
            </a:pPr>
            <a:r>
              <a:rPr lang="en-US" sz="1400" dirty="0">
                <a:solidFill>
                  <a:srgbClr val="F4EFE2"/>
                </a:solidFill>
                <a:latin typeface="Arial" pitchFamily="34" charset="0"/>
                <a:ea typeface="Arial" pitchFamily="34" charset="-122"/>
                <a:cs typeface="Arial" pitchFamily="34" charset="-120"/>
              </a:rPr>
              <a:t>If it is essential to virtue, it belongs in every Catholic classroom.</a:t>
            </a:r>
            <a:endParaRPr lang="en-US" sz="1400" dirty="0"/>
          </a:p>
        </p:txBody>
      </p:sp>
      <p:sp>
        <p:nvSpPr>
          <p:cNvPr id="33" name="Shape 31"/>
          <p:cNvSpPr/>
          <p:nvPr/>
        </p:nvSpPr>
        <p:spPr>
          <a:xfrm>
            <a:off x="502920" y="6510528"/>
            <a:ext cx="11183112" cy="0"/>
          </a:xfrm>
          <a:prstGeom prst="line">
            <a:avLst/>
          </a:prstGeom>
          <a:noFill/>
          <a:ln w="7620">
            <a:solidFill>
              <a:srgbClr val="C9C0A8"/>
            </a:solidFill>
            <a:prstDash val="solid"/>
          </a:ln>
        </p:spPr>
        <p:txBody>
          <a:bodyPr/>
          <a:p/>
        </p:txBody>
      </p:sp>
      <p:sp>
        <p:nvSpPr>
          <p:cNvPr id="34" name="Text 32"/>
          <p:cNvSpPr/>
          <p:nvPr/>
        </p:nvSpPr>
        <p:spPr>
          <a:xfrm>
            <a:off x="502920" y="6547104"/>
            <a:ext cx="8412480" cy="237744"/>
          </a:xfrm>
          <a:prstGeom prst="rect">
            <a:avLst/>
          </a:prstGeom>
          <a:noFill/>
          <a:ln/>
        </p:spPr>
        <p:txBody>
          <a:bodyPr wrap="square" lIns="0" tIns="0" rIns="0" bIns="0" rtlCol="0" anchor="ctr"/>
          <a:lstStyle/>
          <a:p>
            <a:pPr indent="0" marL="0">
              <a:buNone/>
            </a:pPr>
            <a:r>
              <a:rPr lang="en-US" sz="900" spc="120" kern="0" dirty="0">
                <a:solidFill>
                  <a:srgbClr val="6B736C"/>
                </a:solidFill>
                <a:latin typeface="Arial" pitchFamily="34" charset="0"/>
                <a:ea typeface="Arial" pitchFamily="34" charset="-122"/>
                <a:cs typeface="Arial" pitchFamily="34" charset="-120"/>
              </a:rPr>
              <a:t>CREATION CARE IN THE CLASSROOM  ·  K–5 CATHOLIC TEACHERS</a:t>
            </a:r>
            <a:endParaRPr lang="en-US" sz="900" dirty="0"/>
          </a:p>
        </p:txBody>
      </p:sp>
      <p:sp>
        <p:nvSpPr>
          <p:cNvPr id="35" name="Text 33"/>
          <p:cNvSpPr/>
          <p:nvPr/>
        </p:nvSpPr>
        <p:spPr>
          <a:xfrm>
            <a:off x="9509760" y="6547104"/>
            <a:ext cx="2176272" cy="237744"/>
          </a:xfrm>
          <a:prstGeom prst="rect">
            <a:avLst/>
          </a:prstGeom>
          <a:noFill/>
          <a:ln/>
        </p:spPr>
        <p:txBody>
          <a:bodyPr wrap="square" lIns="0" tIns="0" rIns="0" bIns="0" rtlCol="0" anchor="ctr"/>
          <a:lstStyle/>
          <a:p>
            <a:pPr algn="r" indent="0" marL="0">
              <a:buNone/>
            </a:pPr>
            <a:r>
              <a:rPr lang="en-US" sz="900" dirty="0">
                <a:solidFill>
                  <a:srgbClr val="6B736C"/>
                </a:solidFill>
                <a:latin typeface="Arial" pitchFamily="34" charset="0"/>
                <a:ea typeface="Arial" pitchFamily="34" charset="-122"/>
                <a:cs typeface="Arial" pitchFamily="34" charset="-120"/>
              </a:rPr>
              <a:t>07  /  30</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EFE2"/>
        </a:solidFill>
      </p:bgPr>
    </p:bg>
    <p:spTree>
      <p:nvGrpSpPr>
        <p:cNvPr id="1" name=""/>
        <p:cNvGrpSpPr/>
        <p:nvPr/>
      </p:nvGrpSpPr>
      <p:grpSpPr>
        <a:xfrm>
          <a:off x="0" y="0"/>
          <a:ext cx="0" cy="0"/>
          <a:chOff x="0" y="0"/>
          <a:chExt cx="0" cy="0"/>
        </a:xfrm>
      </p:grpSpPr>
      <p:sp>
        <p:nvSpPr>
          <p:cNvPr id="2" name="Text 0"/>
          <p:cNvSpPr/>
          <p:nvPr/>
        </p:nvSpPr>
        <p:spPr>
          <a:xfrm>
            <a:off x="502920" y="256032"/>
            <a:ext cx="11155680" cy="219456"/>
          </a:xfrm>
          <a:prstGeom prst="rect">
            <a:avLst/>
          </a:prstGeom>
          <a:noFill/>
          <a:ln/>
        </p:spPr>
        <p:txBody>
          <a:bodyPr wrap="square" lIns="0" tIns="0" rIns="0" bIns="0" rtlCol="0" anchor="ctr"/>
          <a:lstStyle/>
          <a:p>
            <a:pPr indent="0" marL="0">
              <a:buNone/>
            </a:pPr>
            <a:r>
              <a:rPr lang="en-US" sz="1100" b="1" spc="220" kern="0" dirty="0">
                <a:solidFill>
                  <a:srgbClr val="4F7A5C"/>
                </a:solidFill>
                <a:latin typeface="Arial" pitchFamily="34" charset="0"/>
                <a:ea typeface="Arial" pitchFamily="34" charset="-122"/>
                <a:cs typeface="Arial" pitchFamily="34" charset="-120"/>
              </a:rPr>
              <a:t>07  ·  BEST PRACTICE IN CATHOLIC SCHOOLS</a:t>
            </a:r>
            <a:endParaRPr lang="en-US" sz="1100" dirty="0"/>
          </a:p>
        </p:txBody>
      </p:sp>
      <p:sp>
        <p:nvSpPr>
          <p:cNvPr id="3" name="Text 1"/>
          <p:cNvSpPr/>
          <p:nvPr/>
        </p:nvSpPr>
        <p:spPr>
          <a:xfrm>
            <a:off x="502920" y="475488"/>
            <a:ext cx="11155680" cy="475488"/>
          </a:xfrm>
          <a:prstGeom prst="rect">
            <a:avLst/>
          </a:prstGeom>
          <a:noFill/>
          <a:ln/>
        </p:spPr>
        <p:txBody>
          <a:bodyPr wrap="square" lIns="0" tIns="0" rIns="0" bIns="0" rtlCol="0" anchor="ctr"/>
          <a:lstStyle/>
          <a:p>
            <a:pPr indent="0" marL="0">
              <a:buNone/>
            </a:pPr>
            <a:r>
              <a:rPr lang="en-US" sz="2600" dirty="0">
                <a:solidFill>
                  <a:srgbClr val="1B3A2A"/>
                </a:solidFill>
                <a:latin typeface="Georgia" pitchFamily="34" charset="0"/>
                <a:ea typeface="Georgia" pitchFamily="34" charset="-122"/>
                <a:cs typeface="Georgia" pitchFamily="34" charset="-120"/>
              </a:rPr>
              <a:t>What our schools uniquely offer</a:t>
            </a:r>
            <a:endParaRPr lang="en-US" sz="2600" dirty="0"/>
          </a:p>
        </p:txBody>
      </p:sp>
      <p:sp>
        <p:nvSpPr>
          <p:cNvPr id="4" name="Shape 2"/>
          <p:cNvSpPr/>
          <p:nvPr/>
        </p:nvSpPr>
        <p:spPr>
          <a:xfrm>
            <a:off x="502920" y="1143000"/>
            <a:ext cx="3639312" cy="2331720"/>
          </a:xfrm>
          <a:prstGeom prst="roundRect">
            <a:avLst>
              <a:gd name="adj" fmla="val 3137"/>
            </a:avLst>
          </a:prstGeom>
          <a:solidFill>
            <a:srgbClr val="FFFBF3"/>
          </a:solidFill>
          <a:ln/>
        </p:spPr>
        <p:txBody>
          <a:bodyPr/>
          <a:p/>
        </p:txBody>
      </p:sp>
      <p:sp>
        <p:nvSpPr>
          <p:cNvPr id="5" name="Shape 3"/>
          <p:cNvSpPr/>
          <p:nvPr/>
        </p:nvSpPr>
        <p:spPr>
          <a:xfrm>
            <a:off x="502920" y="1143000"/>
            <a:ext cx="91440" cy="2331720"/>
          </a:xfrm>
          <a:prstGeom prst="rect">
            <a:avLst/>
          </a:prstGeom>
          <a:solidFill>
            <a:srgbClr val="C4A35A"/>
          </a:solidFill>
          <a:ln/>
        </p:spPr>
        <p:txBody>
          <a:bodyPr/>
          <a:p/>
        </p:txBody>
      </p:sp>
      <p:sp>
        <p:nvSpPr>
          <p:cNvPr id="6" name="Text 4"/>
          <p:cNvSpPr/>
          <p:nvPr/>
        </p:nvSpPr>
        <p:spPr>
          <a:xfrm>
            <a:off x="758952" y="1344168"/>
            <a:ext cx="3200400" cy="502920"/>
          </a:xfrm>
          <a:prstGeom prst="rect">
            <a:avLst/>
          </a:prstGeom>
          <a:noFill/>
          <a:ln/>
        </p:spPr>
        <p:txBody>
          <a:bodyPr wrap="square" lIns="0" tIns="0" rIns="0" bIns="0" rtlCol="0" anchor="ctr"/>
          <a:lstStyle/>
          <a:p>
            <a:pPr indent="0" marL="0">
              <a:buNone/>
            </a:pPr>
            <a:r>
              <a:rPr lang="en-US" sz="1600" dirty="0">
                <a:solidFill>
                  <a:srgbClr val="1B3A2A"/>
                </a:solidFill>
                <a:latin typeface="Georgia" pitchFamily="34" charset="0"/>
                <a:ea typeface="Georgia" pitchFamily="34" charset="-122"/>
                <a:cs typeface="Georgia" pitchFamily="34" charset="-120"/>
              </a:rPr>
              <a:t>A Catholic worldview</a:t>
            </a:r>
            <a:endParaRPr lang="en-US" sz="1600" dirty="0"/>
          </a:p>
        </p:txBody>
      </p:sp>
      <p:sp>
        <p:nvSpPr>
          <p:cNvPr id="7" name="Text 5"/>
          <p:cNvSpPr/>
          <p:nvPr/>
        </p:nvSpPr>
        <p:spPr>
          <a:xfrm>
            <a:off x="758952" y="1892808"/>
            <a:ext cx="3200400" cy="1371600"/>
          </a:xfrm>
          <a:prstGeom prst="rect">
            <a:avLst/>
          </a:prstGeom>
          <a:noFill/>
          <a:ln/>
        </p:spPr>
        <p:txBody>
          <a:bodyPr wrap="square" lIns="0" tIns="0" rIns="0" bIns="0" rtlCol="0" anchor="ctr"/>
          <a:lstStyle/>
          <a:p>
            <a:pPr indent="0" marL="0">
              <a:buNone/>
            </a:pPr>
            <a:r>
              <a:rPr lang="en-US" sz="1300" dirty="0">
                <a:solidFill>
                  <a:srgbClr val="4A554C"/>
                </a:solidFill>
                <a:latin typeface="Arial" pitchFamily="34" charset="0"/>
                <a:ea typeface="Arial" pitchFamily="34" charset="-122"/>
                <a:cs typeface="Arial" pitchFamily="34" charset="-120"/>
              </a:rPr>
              <a:t>NCEA and the National Standards and Benchmarks ask schools to form the whole person. Care for creation is stewardship of a gift, not a political brand.</a:t>
            </a:r>
            <a:endParaRPr lang="en-US" sz="1300" dirty="0"/>
          </a:p>
        </p:txBody>
      </p:sp>
      <p:sp>
        <p:nvSpPr>
          <p:cNvPr id="8" name="Shape 6"/>
          <p:cNvSpPr/>
          <p:nvPr/>
        </p:nvSpPr>
        <p:spPr>
          <a:xfrm>
            <a:off x="4297680" y="1143000"/>
            <a:ext cx="3639312" cy="2331720"/>
          </a:xfrm>
          <a:prstGeom prst="roundRect">
            <a:avLst>
              <a:gd name="adj" fmla="val 3137"/>
            </a:avLst>
          </a:prstGeom>
          <a:solidFill>
            <a:srgbClr val="FFFBF3"/>
          </a:solidFill>
          <a:ln/>
        </p:spPr>
        <p:txBody>
          <a:bodyPr/>
          <a:p/>
        </p:txBody>
      </p:sp>
      <p:sp>
        <p:nvSpPr>
          <p:cNvPr id="9" name="Shape 7"/>
          <p:cNvSpPr/>
          <p:nvPr/>
        </p:nvSpPr>
        <p:spPr>
          <a:xfrm>
            <a:off x="4297680" y="1143000"/>
            <a:ext cx="91440" cy="2331720"/>
          </a:xfrm>
          <a:prstGeom prst="rect">
            <a:avLst/>
          </a:prstGeom>
          <a:solidFill>
            <a:srgbClr val="C4A35A"/>
          </a:solidFill>
          <a:ln/>
        </p:spPr>
        <p:txBody>
          <a:bodyPr/>
          <a:p/>
        </p:txBody>
      </p:sp>
      <p:sp>
        <p:nvSpPr>
          <p:cNvPr id="10" name="Text 8"/>
          <p:cNvSpPr/>
          <p:nvPr/>
        </p:nvSpPr>
        <p:spPr>
          <a:xfrm>
            <a:off x="4553712" y="1344168"/>
            <a:ext cx="3200400" cy="502920"/>
          </a:xfrm>
          <a:prstGeom prst="rect">
            <a:avLst/>
          </a:prstGeom>
          <a:noFill/>
          <a:ln/>
        </p:spPr>
        <p:txBody>
          <a:bodyPr wrap="square" lIns="0" tIns="0" rIns="0" bIns="0" rtlCol="0" anchor="ctr"/>
          <a:lstStyle/>
          <a:p>
            <a:pPr indent="0" marL="0">
              <a:buNone/>
            </a:pPr>
            <a:r>
              <a:rPr lang="en-US" sz="1600" dirty="0">
                <a:solidFill>
                  <a:srgbClr val="1B3A2A"/>
                </a:solidFill>
                <a:latin typeface="Georgia" pitchFamily="34" charset="0"/>
                <a:ea typeface="Georgia" pitchFamily="34" charset="-122"/>
                <a:cs typeface="Georgia" pitchFamily="34" charset="-120"/>
              </a:rPr>
              <a:t>Integral ecology</a:t>
            </a:r>
            <a:endParaRPr lang="en-US" sz="1600" dirty="0"/>
          </a:p>
        </p:txBody>
      </p:sp>
      <p:sp>
        <p:nvSpPr>
          <p:cNvPr id="11" name="Text 9"/>
          <p:cNvSpPr/>
          <p:nvPr/>
        </p:nvSpPr>
        <p:spPr>
          <a:xfrm>
            <a:off x="4553712" y="1892808"/>
            <a:ext cx="3200400" cy="1371600"/>
          </a:xfrm>
          <a:prstGeom prst="rect">
            <a:avLst/>
          </a:prstGeom>
          <a:noFill/>
          <a:ln/>
        </p:spPr>
        <p:txBody>
          <a:bodyPr wrap="square" lIns="0" tIns="0" rIns="0" bIns="0" rtlCol="0" anchor="ctr"/>
          <a:lstStyle/>
          <a:p>
            <a:pPr indent="0" marL="0">
              <a:buNone/>
            </a:pPr>
            <a:r>
              <a:rPr lang="en-US" sz="1300" dirty="0">
                <a:solidFill>
                  <a:srgbClr val="4A554C"/>
                </a:solidFill>
                <a:latin typeface="Arial" pitchFamily="34" charset="0"/>
                <a:ea typeface="Arial" pitchFamily="34" charset="-122"/>
                <a:cs typeface="Arial" pitchFamily="34" charset="-120"/>
              </a:rPr>
              <a:t>We hold together God, neighbor, the poor, and the earth. A clean campus that ignores a hungry child is not Franciscan. Neither is activism without prayer.</a:t>
            </a:r>
            <a:endParaRPr lang="en-US" sz="1300" dirty="0"/>
          </a:p>
        </p:txBody>
      </p:sp>
      <p:sp>
        <p:nvSpPr>
          <p:cNvPr id="12" name="Shape 10"/>
          <p:cNvSpPr/>
          <p:nvPr/>
        </p:nvSpPr>
        <p:spPr>
          <a:xfrm>
            <a:off x="8092440" y="1143000"/>
            <a:ext cx="3639312" cy="2331720"/>
          </a:xfrm>
          <a:prstGeom prst="roundRect">
            <a:avLst>
              <a:gd name="adj" fmla="val 3137"/>
            </a:avLst>
          </a:prstGeom>
          <a:solidFill>
            <a:srgbClr val="FFFBF3"/>
          </a:solidFill>
          <a:ln/>
        </p:spPr>
        <p:txBody>
          <a:bodyPr/>
          <a:p/>
        </p:txBody>
      </p:sp>
      <p:sp>
        <p:nvSpPr>
          <p:cNvPr id="13" name="Shape 11"/>
          <p:cNvSpPr/>
          <p:nvPr/>
        </p:nvSpPr>
        <p:spPr>
          <a:xfrm>
            <a:off x="8092440" y="1143000"/>
            <a:ext cx="91440" cy="2331720"/>
          </a:xfrm>
          <a:prstGeom prst="rect">
            <a:avLst/>
          </a:prstGeom>
          <a:solidFill>
            <a:srgbClr val="C4A35A"/>
          </a:solidFill>
          <a:ln/>
        </p:spPr>
        <p:txBody>
          <a:bodyPr/>
          <a:p/>
        </p:txBody>
      </p:sp>
      <p:sp>
        <p:nvSpPr>
          <p:cNvPr id="14" name="Text 12"/>
          <p:cNvSpPr/>
          <p:nvPr/>
        </p:nvSpPr>
        <p:spPr>
          <a:xfrm>
            <a:off x="8348472" y="1344168"/>
            <a:ext cx="3200400" cy="502920"/>
          </a:xfrm>
          <a:prstGeom prst="rect">
            <a:avLst/>
          </a:prstGeom>
          <a:noFill/>
          <a:ln/>
        </p:spPr>
        <p:txBody>
          <a:bodyPr wrap="square" lIns="0" tIns="0" rIns="0" bIns="0" rtlCol="0" anchor="ctr"/>
          <a:lstStyle/>
          <a:p>
            <a:pPr indent="0" marL="0">
              <a:buNone/>
            </a:pPr>
            <a:r>
              <a:rPr lang="en-US" sz="1600" dirty="0">
                <a:solidFill>
                  <a:srgbClr val="1B3A2A"/>
                </a:solidFill>
                <a:latin typeface="Georgia" pitchFamily="34" charset="0"/>
                <a:ea typeface="Georgia" pitchFamily="34" charset="-122"/>
                <a:cs typeface="Georgia" pitchFamily="34" charset="-120"/>
              </a:rPr>
              <a:t>Across every subject</a:t>
            </a:r>
            <a:endParaRPr lang="en-US" sz="1600" dirty="0"/>
          </a:p>
        </p:txBody>
      </p:sp>
      <p:sp>
        <p:nvSpPr>
          <p:cNvPr id="15" name="Text 13"/>
          <p:cNvSpPr/>
          <p:nvPr/>
        </p:nvSpPr>
        <p:spPr>
          <a:xfrm>
            <a:off x="8348472" y="1892808"/>
            <a:ext cx="3200400" cy="1371600"/>
          </a:xfrm>
          <a:prstGeom prst="rect">
            <a:avLst/>
          </a:prstGeom>
          <a:noFill/>
          <a:ln/>
        </p:spPr>
        <p:txBody>
          <a:bodyPr wrap="square" lIns="0" tIns="0" rIns="0" bIns="0" rtlCol="0" anchor="ctr"/>
          <a:lstStyle/>
          <a:p>
            <a:pPr indent="0" marL="0">
              <a:buNone/>
            </a:pPr>
            <a:r>
              <a:rPr lang="en-US" sz="1300" dirty="0">
                <a:solidFill>
                  <a:srgbClr val="4A554C"/>
                </a:solidFill>
                <a:latin typeface="Arial" pitchFamily="34" charset="0"/>
                <a:ea typeface="Arial" pitchFamily="34" charset="-122"/>
                <a:cs typeface="Arial" pitchFamily="34" charset="-120"/>
              </a:rPr>
              <a:t>Best-practice schools embed this in religion, science, literacy, math, and art—not only in an April bulletin board.</a:t>
            </a:r>
            <a:endParaRPr lang="en-US" sz="1300" dirty="0"/>
          </a:p>
        </p:txBody>
      </p:sp>
      <p:sp>
        <p:nvSpPr>
          <p:cNvPr id="16" name="Shape 14"/>
          <p:cNvSpPr/>
          <p:nvPr/>
        </p:nvSpPr>
        <p:spPr>
          <a:xfrm>
            <a:off x="502920" y="3657600"/>
            <a:ext cx="3639312" cy="2331720"/>
          </a:xfrm>
          <a:prstGeom prst="roundRect">
            <a:avLst>
              <a:gd name="adj" fmla="val 3137"/>
            </a:avLst>
          </a:prstGeom>
          <a:solidFill>
            <a:srgbClr val="FFFBF3"/>
          </a:solidFill>
          <a:ln/>
        </p:spPr>
        <p:txBody>
          <a:bodyPr/>
          <a:p/>
        </p:txBody>
      </p:sp>
      <p:sp>
        <p:nvSpPr>
          <p:cNvPr id="17" name="Shape 15"/>
          <p:cNvSpPr/>
          <p:nvPr/>
        </p:nvSpPr>
        <p:spPr>
          <a:xfrm>
            <a:off x="502920" y="3657600"/>
            <a:ext cx="91440" cy="2331720"/>
          </a:xfrm>
          <a:prstGeom prst="rect">
            <a:avLst/>
          </a:prstGeom>
          <a:solidFill>
            <a:srgbClr val="C4A35A"/>
          </a:solidFill>
          <a:ln/>
        </p:spPr>
        <p:txBody>
          <a:bodyPr/>
          <a:p/>
        </p:txBody>
      </p:sp>
      <p:sp>
        <p:nvSpPr>
          <p:cNvPr id="18" name="Text 16"/>
          <p:cNvSpPr/>
          <p:nvPr/>
        </p:nvSpPr>
        <p:spPr>
          <a:xfrm>
            <a:off x="758952" y="3858768"/>
            <a:ext cx="3200400" cy="502920"/>
          </a:xfrm>
          <a:prstGeom prst="rect">
            <a:avLst/>
          </a:prstGeom>
          <a:noFill/>
          <a:ln/>
        </p:spPr>
        <p:txBody>
          <a:bodyPr wrap="square" lIns="0" tIns="0" rIns="0" bIns="0" rtlCol="0" anchor="ctr"/>
          <a:lstStyle/>
          <a:p>
            <a:pPr indent="0" marL="0">
              <a:buNone/>
            </a:pPr>
            <a:r>
              <a:rPr lang="en-US" sz="1600" dirty="0">
                <a:solidFill>
                  <a:srgbClr val="1B3A2A"/>
                </a:solidFill>
                <a:latin typeface="Georgia" pitchFamily="34" charset="0"/>
                <a:ea typeface="Georgia" pitchFamily="34" charset="-122"/>
                <a:cs typeface="Georgia" pitchFamily="34" charset="-120"/>
              </a:rPr>
              <a:t>Culture, not a unit</a:t>
            </a:r>
            <a:endParaRPr lang="en-US" sz="1600" dirty="0"/>
          </a:p>
        </p:txBody>
      </p:sp>
      <p:sp>
        <p:nvSpPr>
          <p:cNvPr id="19" name="Text 17"/>
          <p:cNvSpPr/>
          <p:nvPr/>
        </p:nvSpPr>
        <p:spPr>
          <a:xfrm>
            <a:off x="758952" y="4407408"/>
            <a:ext cx="3200400" cy="1371600"/>
          </a:xfrm>
          <a:prstGeom prst="rect">
            <a:avLst/>
          </a:prstGeom>
          <a:noFill/>
          <a:ln/>
        </p:spPr>
        <p:txBody>
          <a:bodyPr wrap="square" lIns="0" tIns="0" rIns="0" bIns="0" rtlCol="0" anchor="ctr"/>
          <a:lstStyle/>
          <a:p>
            <a:pPr indent="0" marL="0">
              <a:buNone/>
            </a:pPr>
            <a:r>
              <a:rPr lang="en-US" sz="1300" dirty="0">
                <a:solidFill>
                  <a:srgbClr val="4A554C"/>
                </a:solidFill>
                <a:latin typeface="Arial" pitchFamily="34" charset="0"/>
                <a:ea typeface="Arial" pitchFamily="34" charset="-122"/>
                <a:cs typeface="Arial" pitchFamily="34" charset="-120"/>
              </a:rPr>
              <a:t>Recycling bins, school gardens, outdoor prayer, and student green teams work when adults live the same habits.</a:t>
            </a:r>
            <a:endParaRPr lang="en-US" sz="1300" dirty="0"/>
          </a:p>
        </p:txBody>
      </p:sp>
      <p:sp>
        <p:nvSpPr>
          <p:cNvPr id="20" name="Shape 18"/>
          <p:cNvSpPr/>
          <p:nvPr/>
        </p:nvSpPr>
        <p:spPr>
          <a:xfrm>
            <a:off x="4297680" y="3657600"/>
            <a:ext cx="3639312" cy="2331720"/>
          </a:xfrm>
          <a:prstGeom prst="roundRect">
            <a:avLst>
              <a:gd name="adj" fmla="val 3137"/>
            </a:avLst>
          </a:prstGeom>
          <a:solidFill>
            <a:srgbClr val="FFFBF3"/>
          </a:solidFill>
          <a:ln/>
        </p:spPr>
        <p:txBody>
          <a:bodyPr/>
          <a:p/>
        </p:txBody>
      </p:sp>
      <p:sp>
        <p:nvSpPr>
          <p:cNvPr id="21" name="Shape 19"/>
          <p:cNvSpPr/>
          <p:nvPr/>
        </p:nvSpPr>
        <p:spPr>
          <a:xfrm>
            <a:off x="4297680" y="3657600"/>
            <a:ext cx="91440" cy="2331720"/>
          </a:xfrm>
          <a:prstGeom prst="rect">
            <a:avLst/>
          </a:prstGeom>
          <a:solidFill>
            <a:srgbClr val="C4A35A"/>
          </a:solidFill>
          <a:ln/>
        </p:spPr>
        <p:txBody>
          <a:bodyPr/>
          <a:p/>
        </p:txBody>
      </p:sp>
      <p:sp>
        <p:nvSpPr>
          <p:cNvPr id="22" name="Text 20"/>
          <p:cNvSpPr/>
          <p:nvPr/>
        </p:nvSpPr>
        <p:spPr>
          <a:xfrm>
            <a:off x="4553712" y="3858768"/>
            <a:ext cx="3200400" cy="502920"/>
          </a:xfrm>
          <a:prstGeom prst="rect">
            <a:avLst/>
          </a:prstGeom>
          <a:noFill/>
          <a:ln/>
        </p:spPr>
        <p:txBody>
          <a:bodyPr wrap="square" lIns="0" tIns="0" rIns="0" bIns="0" rtlCol="0" anchor="ctr"/>
          <a:lstStyle/>
          <a:p>
            <a:pPr indent="0" marL="0">
              <a:buNone/>
            </a:pPr>
            <a:r>
              <a:rPr lang="en-US" sz="1600" dirty="0">
                <a:solidFill>
                  <a:srgbClr val="1B3A2A"/>
                </a:solidFill>
                <a:latin typeface="Georgia" pitchFamily="34" charset="0"/>
                <a:ea typeface="Georgia" pitchFamily="34" charset="-122"/>
                <a:cs typeface="Georgia" pitchFamily="34" charset="-120"/>
              </a:rPr>
              <a:t>Partnership with families</a:t>
            </a:r>
            <a:endParaRPr lang="en-US" sz="1600" dirty="0"/>
          </a:p>
        </p:txBody>
      </p:sp>
      <p:sp>
        <p:nvSpPr>
          <p:cNvPr id="23" name="Text 21"/>
          <p:cNvSpPr/>
          <p:nvPr/>
        </p:nvSpPr>
        <p:spPr>
          <a:xfrm>
            <a:off x="4553712" y="4407408"/>
            <a:ext cx="3200400" cy="1371600"/>
          </a:xfrm>
          <a:prstGeom prst="rect">
            <a:avLst/>
          </a:prstGeom>
          <a:noFill/>
          <a:ln/>
        </p:spPr>
        <p:txBody>
          <a:bodyPr wrap="square" lIns="0" tIns="0" rIns="0" bIns="0" rtlCol="0" anchor="ctr"/>
          <a:lstStyle/>
          <a:p>
            <a:pPr indent="0" marL="0">
              <a:buNone/>
            </a:pPr>
            <a:r>
              <a:rPr lang="en-US" sz="1300" dirty="0">
                <a:solidFill>
                  <a:srgbClr val="4A554C"/>
                </a:solidFill>
                <a:latin typeface="Arial" pitchFamily="34" charset="0"/>
                <a:ea typeface="Arial" pitchFamily="34" charset="-122"/>
                <a:cs typeface="Arial" pitchFamily="34" charset="-120"/>
              </a:rPr>
              <a:t>Parents are the first educators. Classroom pledges travel home. Newsletters teach without preaching.</a:t>
            </a:r>
            <a:endParaRPr lang="en-US" sz="1300" dirty="0"/>
          </a:p>
        </p:txBody>
      </p:sp>
      <p:sp>
        <p:nvSpPr>
          <p:cNvPr id="24" name="Shape 22"/>
          <p:cNvSpPr/>
          <p:nvPr/>
        </p:nvSpPr>
        <p:spPr>
          <a:xfrm>
            <a:off x="8092440" y="3657600"/>
            <a:ext cx="3639312" cy="2331720"/>
          </a:xfrm>
          <a:prstGeom prst="roundRect">
            <a:avLst>
              <a:gd name="adj" fmla="val 3137"/>
            </a:avLst>
          </a:prstGeom>
          <a:solidFill>
            <a:srgbClr val="FFFBF3"/>
          </a:solidFill>
          <a:ln/>
        </p:spPr>
        <p:txBody>
          <a:bodyPr/>
          <a:p/>
        </p:txBody>
      </p:sp>
      <p:sp>
        <p:nvSpPr>
          <p:cNvPr id="25" name="Shape 23"/>
          <p:cNvSpPr/>
          <p:nvPr/>
        </p:nvSpPr>
        <p:spPr>
          <a:xfrm>
            <a:off x="8092440" y="3657600"/>
            <a:ext cx="91440" cy="2331720"/>
          </a:xfrm>
          <a:prstGeom prst="rect">
            <a:avLst/>
          </a:prstGeom>
          <a:solidFill>
            <a:srgbClr val="C4A35A"/>
          </a:solidFill>
          <a:ln/>
        </p:spPr>
        <p:txBody>
          <a:bodyPr/>
          <a:p/>
        </p:txBody>
      </p:sp>
      <p:sp>
        <p:nvSpPr>
          <p:cNvPr id="26" name="Text 24"/>
          <p:cNvSpPr/>
          <p:nvPr/>
        </p:nvSpPr>
        <p:spPr>
          <a:xfrm>
            <a:off x="8348472" y="3858768"/>
            <a:ext cx="3200400" cy="502920"/>
          </a:xfrm>
          <a:prstGeom prst="rect">
            <a:avLst/>
          </a:prstGeom>
          <a:noFill/>
          <a:ln/>
        </p:spPr>
        <p:txBody>
          <a:bodyPr wrap="square" lIns="0" tIns="0" rIns="0" bIns="0" rtlCol="0" anchor="ctr"/>
          <a:lstStyle/>
          <a:p>
            <a:pPr indent="0" marL="0">
              <a:buNone/>
            </a:pPr>
            <a:r>
              <a:rPr lang="en-US" sz="1600" dirty="0">
                <a:solidFill>
                  <a:srgbClr val="1B3A2A"/>
                </a:solidFill>
                <a:latin typeface="Georgia" pitchFamily="34" charset="0"/>
                <a:ea typeface="Georgia" pitchFamily="34" charset="-122"/>
                <a:cs typeface="Georgia" pitchFamily="34" charset="-120"/>
              </a:rPr>
              <a:t>Hope, not fear</a:t>
            </a:r>
            <a:endParaRPr lang="en-US" sz="1600" dirty="0"/>
          </a:p>
        </p:txBody>
      </p:sp>
      <p:sp>
        <p:nvSpPr>
          <p:cNvPr id="27" name="Text 25"/>
          <p:cNvSpPr/>
          <p:nvPr/>
        </p:nvSpPr>
        <p:spPr>
          <a:xfrm>
            <a:off x="8348472" y="4407408"/>
            <a:ext cx="3200400" cy="1371600"/>
          </a:xfrm>
          <a:prstGeom prst="rect">
            <a:avLst/>
          </a:prstGeom>
          <a:noFill/>
          <a:ln/>
        </p:spPr>
        <p:txBody>
          <a:bodyPr wrap="square" lIns="0" tIns="0" rIns="0" bIns="0" rtlCol="0" anchor="ctr"/>
          <a:lstStyle/>
          <a:p>
            <a:pPr indent="0" marL="0">
              <a:buNone/>
            </a:pPr>
            <a:r>
              <a:rPr lang="en-US" sz="1300" dirty="0">
                <a:solidFill>
                  <a:srgbClr val="4A554C"/>
                </a:solidFill>
                <a:latin typeface="Arial" pitchFamily="34" charset="0"/>
                <a:ea typeface="Arial" pitchFamily="34" charset="-122"/>
                <a:cs typeface="Arial" pitchFamily="34" charset="-120"/>
              </a:rPr>
              <a:t>K–5 children should leave more in love with the world God made, not more anxious about it.</a:t>
            </a:r>
            <a:endParaRPr lang="en-US" sz="1300" dirty="0"/>
          </a:p>
        </p:txBody>
      </p:sp>
      <p:sp>
        <p:nvSpPr>
          <p:cNvPr id="28" name="Shape 26"/>
          <p:cNvSpPr/>
          <p:nvPr/>
        </p:nvSpPr>
        <p:spPr>
          <a:xfrm>
            <a:off x="502920" y="6510528"/>
            <a:ext cx="11183112" cy="0"/>
          </a:xfrm>
          <a:prstGeom prst="line">
            <a:avLst/>
          </a:prstGeom>
          <a:noFill/>
          <a:ln w="7620">
            <a:solidFill>
              <a:srgbClr val="C9C0A8"/>
            </a:solidFill>
            <a:prstDash val="solid"/>
          </a:ln>
        </p:spPr>
        <p:txBody>
          <a:bodyPr/>
          <a:p/>
        </p:txBody>
      </p:sp>
      <p:sp>
        <p:nvSpPr>
          <p:cNvPr id="29" name="Text 27"/>
          <p:cNvSpPr/>
          <p:nvPr/>
        </p:nvSpPr>
        <p:spPr>
          <a:xfrm>
            <a:off x="502920" y="6547104"/>
            <a:ext cx="8412480" cy="237744"/>
          </a:xfrm>
          <a:prstGeom prst="rect">
            <a:avLst/>
          </a:prstGeom>
          <a:noFill/>
          <a:ln/>
        </p:spPr>
        <p:txBody>
          <a:bodyPr wrap="square" lIns="0" tIns="0" rIns="0" bIns="0" rtlCol="0" anchor="ctr"/>
          <a:lstStyle/>
          <a:p>
            <a:pPr indent="0" marL="0">
              <a:buNone/>
            </a:pPr>
            <a:r>
              <a:rPr lang="en-US" sz="900" spc="120" kern="0" dirty="0">
                <a:solidFill>
                  <a:srgbClr val="6B736C"/>
                </a:solidFill>
                <a:latin typeface="Arial" pitchFamily="34" charset="0"/>
                <a:ea typeface="Arial" pitchFamily="34" charset="-122"/>
                <a:cs typeface="Arial" pitchFamily="34" charset="-120"/>
              </a:rPr>
              <a:t>CREATION CARE IN THE CLASSROOM  ·  K–5 CATHOLIC TEACHERS</a:t>
            </a:r>
            <a:endParaRPr lang="en-US" sz="900" dirty="0"/>
          </a:p>
        </p:txBody>
      </p:sp>
      <p:sp>
        <p:nvSpPr>
          <p:cNvPr id="30" name="Text 28"/>
          <p:cNvSpPr/>
          <p:nvPr/>
        </p:nvSpPr>
        <p:spPr>
          <a:xfrm>
            <a:off x="9509760" y="6547104"/>
            <a:ext cx="2176272" cy="237744"/>
          </a:xfrm>
          <a:prstGeom prst="rect">
            <a:avLst/>
          </a:prstGeom>
          <a:noFill/>
          <a:ln/>
        </p:spPr>
        <p:txBody>
          <a:bodyPr wrap="square" lIns="0" tIns="0" rIns="0" bIns="0" rtlCol="0" anchor="ctr"/>
          <a:lstStyle/>
          <a:p>
            <a:pPr algn="r" indent="0" marL="0">
              <a:buNone/>
            </a:pPr>
            <a:r>
              <a:rPr lang="en-US" sz="900" dirty="0">
                <a:solidFill>
                  <a:srgbClr val="6B736C"/>
                </a:solidFill>
                <a:latin typeface="Arial" pitchFamily="34" charset="0"/>
                <a:ea typeface="Arial" pitchFamily="34" charset="-122"/>
                <a:cs typeface="Arial" pitchFamily="34" charset="-120"/>
              </a:rPr>
              <a:t>08  /  30</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EFE2"/>
        </a:solidFill>
      </p:bgPr>
    </p:bg>
    <p:spTree>
      <p:nvGrpSpPr>
        <p:cNvPr id="1" name=""/>
        <p:cNvGrpSpPr/>
        <p:nvPr/>
      </p:nvGrpSpPr>
      <p:grpSpPr>
        <a:xfrm>
          <a:off x="0" y="0"/>
          <a:ext cx="0" cy="0"/>
          <a:chOff x="0" y="0"/>
          <a:chExt cx="0" cy="0"/>
        </a:xfrm>
      </p:grpSpPr>
      <p:sp>
        <p:nvSpPr>
          <p:cNvPr id="2" name="Text 0"/>
          <p:cNvSpPr/>
          <p:nvPr/>
        </p:nvSpPr>
        <p:spPr>
          <a:xfrm>
            <a:off x="502920" y="256032"/>
            <a:ext cx="11155680" cy="219456"/>
          </a:xfrm>
          <a:prstGeom prst="rect">
            <a:avLst/>
          </a:prstGeom>
          <a:noFill/>
          <a:ln/>
        </p:spPr>
        <p:txBody>
          <a:bodyPr wrap="square" lIns="0" tIns="0" rIns="0" bIns="0" rtlCol="0" anchor="ctr"/>
          <a:lstStyle/>
          <a:p>
            <a:pPr indent="0" marL="0">
              <a:buNone/>
            </a:pPr>
            <a:r>
              <a:rPr lang="en-US" sz="1100" b="1" spc="220" kern="0" dirty="0">
                <a:solidFill>
                  <a:srgbClr val="4F7A5C"/>
                </a:solidFill>
                <a:latin typeface="Arial" pitchFamily="34" charset="0"/>
                <a:ea typeface="Arial" pitchFamily="34" charset="-122"/>
                <a:cs typeface="Arial" pitchFamily="34" charset="-120"/>
              </a:rPr>
              <a:t>08  ·  A PEDAGOGY THAT FITS K–5</a:t>
            </a:r>
            <a:endParaRPr lang="en-US" sz="1100" dirty="0"/>
          </a:p>
        </p:txBody>
      </p:sp>
      <p:sp>
        <p:nvSpPr>
          <p:cNvPr id="3" name="Text 1"/>
          <p:cNvSpPr/>
          <p:nvPr/>
        </p:nvSpPr>
        <p:spPr>
          <a:xfrm>
            <a:off x="502920" y="475488"/>
            <a:ext cx="11155680" cy="475488"/>
          </a:xfrm>
          <a:prstGeom prst="rect">
            <a:avLst/>
          </a:prstGeom>
          <a:noFill/>
          <a:ln/>
        </p:spPr>
        <p:txBody>
          <a:bodyPr wrap="square" lIns="0" tIns="0" rIns="0" bIns="0" rtlCol="0" anchor="ctr"/>
          <a:lstStyle/>
          <a:p>
            <a:pPr indent="0" marL="0">
              <a:buNone/>
            </a:pPr>
            <a:r>
              <a:rPr lang="en-US" sz="2600" dirty="0">
                <a:solidFill>
                  <a:srgbClr val="1B3A2A"/>
                </a:solidFill>
                <a:latin typeface="Georgia" pitchFamily="34" charset="0"/>
                <a:ea typeface="Georgia" pitchFamily="34" charset="-122"/>
                <a:cs typeface="Georgia" pitchFamily="34" charset="-120"/>
              </a:rPr>
              <a:t>Four movements, one formation</a:t>
            </a:r>
            <a:endParaRPr lang="en-US" sz="2600" dirty="0"/>
          </a:p>
        </p:txBody>
      </p:sp>
      <p:sp>
        <p:nvSpPr>
          <p:cNvPr id="4" name="Shape 2"/>
          <p:cNvSpPr/>
          <p:nvPr/>
        </p:nvSpPr>
        <p:spPr>
          <a:xfrm>
            <a:off x="502920" y="1143000"/>
            <a:ext cx="2761488" cy="4160520"/>
          </a:xfrm>
          <a:prstGeom prst="roundRect">
            <a:avLst>
              <a:gd name="adj" fmla="val 2649"/>
            </a:avLst>
          </a:prstGeom>
          <a:solidFill>
            <a:srgbClr val="1B3A2A"/>
          </a:solidFill>
          <a:ln/>
        </p:spPr>
        <p:txBody>
          <a:bodyPr/>
          <a:p/>
        </p:txBody>
      </p:sp>
      <p:sp>
        <p:nvSpPr>
          <p:cNvPr id="5" name="Text 3"/>
          <p:cNvSpPr/>
          <p:nvPr/>
        </p:nvSpPr>
        <p:spPr>
          <a:xfrm>
            <a:off x="502920" y="1371600"/>
            <a:ext cx="2761488" cy="365760"/>
          </a:xfrm>
          <a:prstGeom prst="rect">
            <a:avLst/>
          </a:prstGeom>
          <a:noFill/>
          <a:ln/>
        </p:spPr>
        <p:txBody>
          <a:bodyPr wrap="square" lIns="0" tIns="0" rIns="0" bIns="0" rtlCol="0" anchor="ctr"/>
          <a:lstStyle/>
          <a:p>
            <a:pPr algn="ctr" indent="0" marL="0">
              <a:buNone/>
            </a:pPr>
            <a:r>
              <a:rPr lang="en-US" sz="1400" b="1" spc="200" kern="0" dirty="0">
                <a:solidFill>
                  <a:srgbClr val="C4A35A"/>
                </a:solidFill>
                <a:latin typeface="Arial" pitchFamily="34" charset="0"/>
                <a:ea typeface="Arial" pitchFamily="34" charset="-122"/>
                <a:cs typeface="Arial" pitchFamily="34" charset="-120"/>
              </a:rPr>
              <a:t>01</a:t>
            </a:r>
            <a:endParaRPr lang="en-US" sz="1400" dirty="0"/>
          </a:p>
        </p:txBody>
      </p:sp>
      <p:sp>
        <p:nvSpPr>
          <p:cNvPr id="6" name="Text 4"/>
          <p:cNvSpPr/>
          <p:nvPr/>
        </p:nvSpPr>
        <p:spPr>
          <a:xfrm>
            <a:off x="640080" y="1828800"/>
            <a:ext cx="2487168" cy="640080"/>
          </a:xfrm>
          <a:prstGeom prst="rect">
            <a:avLst/>
          </a:prstGeom>
          <a:noFill/>
          <a:ln/>
        </p:spPr>
        <p:txBody>
          <a:bodyPr wrap="square" lIns="0" tIns="0" rIns="0" bIns="0" rtlCol="0" anchor="ctr"/>
          <a:lstStyle/>
          <a:p>
            <a:pPr algn="ctr" indent="0" marL="0">
              <a:buNone/>
            </a:pPr>
            <a:r>
              <a:rPr lang="en-US" sz="2600" dirty="0">
                <a:solidFill>
                  <a:srgbClr val="F4EFE2"/>
                </a:solidFill>
                <a:latin typeface="Georgia" pitchFamily="34" charset="0"/>
                <a:ea typeface="Georgia" pitchFamily="34" charset="-122"/>
                <a:cs typeface="Georgia" pitchFamily="34" charset="-120"/>
              </a:rPr>
              <a:t>Wonder</a:t>
            </a:r>
            <a:endParaRPr lang="en-US" sz="2600" dirty="0"/>
          </a:p>
        </p:txBody>
      </p:sp>
      <p:sp>
        <p:nvSpPr>
          <p:cNvPr id="7" name="Text 5"/>
          <p:cNvSpPr/>
          <p:nvPr/>
        </p:nvSpPr>
        <p:spPr>
          <a:xfrm>
            <a:off x="704088" y="2606040"/>
            <a:ext cx="2359152" cy="2377440"/>
          </a:xfrm>
          <a:prstGeom prst="rect">
            <a:avLst/>
          </a:prstGeom>
          <a:noFill/>
          <a:ln/>
        </p:spPr>
        <p:txBody>
          <a:bodyPr wrap="square" lIns="0" tIns="0" rIns="0" bIns="0" rtlCol="0" anchor="ctr"/>
          <a:lstStyle/>
          <a:p>
            <a:pPr algn="ctr" indent="0" marL="0">
              <a:buNone/>
            </a:pPr>
            <a:r>
              <a:rPr lang="en-US" sz="1500" dirty="0">
                <a:solidFill>
                  <a:srgbClr val="D9CFAE"/>
                </a:solidFill>
                <a:latin typeface="Arial" pitchFamily="34" charset="0"/>
                <a:ea typeface="Arial" pitchFamily="34" charset="-122"/>
                <a:cs typeface="Arial" pitchFamily="34" charset="-120"/>
              </a:rPr>
              <a:t>Slow down. Look. Name what God has made. Nature walks, window watching, close observation, story.</a:t>
            </a:r>
            <a:endParaRPr lang="en-US" sz="1500" dirty="0"/>
          </a:p>
        </p:txBody>
      </p:sp>
      <p:sp>
        <p:nvSpPr>
          <p:cNvPr id="8" name="Shape 6"/>
          <p:cNvSpPr/>
          <p:nvPr/>
        </p:nvSpPr>
        <p:spPr>
          <a:xfrm>
            <a:off x="3383280" y="1143000"/>
            <a:ext cx="2761488" cy="4160520"/>
          </a:xfrm>
          <a:prstGeom prst="roundRect">
            <a:avLst>
              <a:gd name="adj" fmla="val 2649"/>
            </a:avLst>
          </a:prstGeom>
          <a:solidFill>
            <a:srgbClr val="FFFBF3"/>
          </a:solidFill>
          <a:ln/>
        </p:spPr>
        <p:txBody>
          <a:bodyPr/>
          <a:p/>
        </p:txBody>
      </p:sp>
      <p:sp>
        <p:nvSpPr>
          <p:cNvPr id="9" name="Text 7"/>
          <p:cNvSpPr/>
          <p:nvPr/>
        </p:nvSpPr>
        <p:spPr>
          <a:xfrm>
            <a:off x="3383280" y="1371600"/>
            <a:ext cx="2761488" cy="365760"/>
          </a:xfrm>
          <a:prstGeom prst="rect">
            <a:avLst/>
          </a:prstGeom>
          <a:noFill/>
          <a:ln/>
        </p:spPr>
        <p:txBody>
          <a:bodyPr wrap="square" lIns="0" tIns="0" rIns="0" bIns="0" rtlCol="0" anchor="ctr"/>
          <a:lstStyle/>
          <a:p>
            <a:pPr algn="ctr" indent="0" marL="0">
              <a:buNone/>
            </a:pPr>
            <a:r>
              <a:rPr lang="en-US" sz="1400" b="1" spc="200" kern="0" dirty="0">
                <a:solidFill>
                  <a:srgbClr val="4F7A5C"/>
                </a:solidFill>
                <a:latin typeface="Arial" pitchFamily="34" charset="0"/>
                <a:ea typeface="Arial" pitchFamily="34" charset="-122"/>
                <a:cs typeface="Arial" pitchFamily="34" charset="-120"/>
              </a:rPr>
              <a:t>02</a:t>
            </a:r>
            <a:endParaRPr lang="en-US" sz="1400" dirty="0"/>
          </a:p>
        </p:txBody>
      </p:sp>
      <p:sp>
        <p:nvSpPr>
          <p:cNvPr id="10" name="Text 8"/>
          <p:cNvSpPr/>
          <p:nvPr/>
        </p:nvSpPr>
        <p:spPr>
          <a:xfrm>
            <a:off x="3520440" y="1828800"/>
            <a:ext cx="2487168" cy="640080"/>
          </a:xfrm>
          <a:prstGeom prst="rect">
            <a:avLst/>
          </a:prstGeom>
          <a:noFill/>
          <a:ln/>
        </p:spPr>
        <p:txBody>
          <a:bodyPr wrap="square" lIns="0" tIns="0" rIns="0" bIns="0" rtlCol="0" anchor="ctr"/>
          <a:lstStyle/>
          <a:p>
            <a:pPr algn="ctr" indent="0" marL="0">
              <a:buNone/>
            </a:pPr>
            <a:r>
              <a:rPr lang="en-US" sz="2600" dirty="0">
                <a:solidFill>
                  <a:srgbClr val="1B3A2A"/>
                </a:solidFill>
                <a:latin typeface="Georgia" pitchFamily="34" charset="0"/>
                <a:ea typeface="Georgia" pitchFamily="34" charset="-122"/>
                <a:cs typeface="Georgia" pitchFamily="34" charset="-120"/>
              </a:rPr>
              <a:t>Gratitude</a:t>
            </a:r>
            <a:endParaRPr lang="en-US" sz="2600" dirty="0"/>
          </a:p>
        </p:txBody>
      </p:sp>
      <p:sp>
        <p:nvSpPr>
          <p:cNvPr id="11" name="Text 9"/>
          <p:cNvSpPr/>
          <p:nvPr/>
        </p:nvSpPr>
        <p:spPr>
          <a:xfrm>
            <a:off x="3584448" y="2606040"/>
            <a:ext cx="2359152" cy="2377440"/>
          </a:xfrm>
          <a:prstGeom prst="rect">
            <a:avLst/>
          </a:prstGeom>
          <a:noFill/>
          <a:ln/>
        </p:spPr>
        <p:txBody>
          <a:bodyPr wrap="square" lIns="0" tIns="0" rIns="0" bIns="0" rtlCol="0" anchor="ctr"/>
          <a:lstStyle/>
          <a:p>
            <a:pPr algn="ctr" indent="0" marL="0">
              <a:buNone/>
            </a:pPr>
            <a:r>
              <a:rPr lang="en-US" sz="1500" dirty="0">
                <a:solidFill>
                  <a:srgbClr val="4A554C"/>
                </a:solidFill>
                <a:latin typeface="Arial" pitchFamily="34" charset="0"/>
                <a:ea typeface="Arial" pitchFamily="34" charset="-122"/>
                <a:cs typeface="Arial" pitchFamily="34" charset="-120"/>
              </a:rPr>
              <a:t>Praise is the Franciscan first language. Thank-you prayers, blessing of pets and plants, journals of gifts.</a:t>
            </a:r>
            <a:endParaRPr lang="en-US" sz="1500" dirty="0"/>
          </a:p>
        </p:txBody>
      </p:sp>
      <p:sp>
        <p:nvSpPr>
          <p:cNvPr id="12" name="Shape 10"/>
          <p:cNvSpPr/>
          <p:nvPr/>
        </p:nvSpPr>
        <p:spPr>
          <a:xfrm>
            <a:off x="6263640" y="1143000"/>
            <a:ext cx="2761488" cy="4160520"/>
          </a:xfrm>
          <a:prstGeom prst="roundRect">
            <a:avLst>
              <a:gd name="adj" fmla="val 2649"/>
            </a:avLst>
          </a:prstGeom>
          <a:solidFill>
            <a:srgbClr val="FFFBF3"/>
          </a:solidFill>
          <a:ln/>
        </p:spPr>
        <p:txBody>
          <a:bodyPr/>
          <a:p/>
        </p:txBody>
      </p:sp>
      <p:sp>
        <p:nvSpPr>
          <p:cNvPr id="13" name="Text 11"/>
          <p:cNvSpPr/>
          <p:nvPr/>
        </p:nvSpPr>
        <p:spPr>
          <a:xfrm>
            <a:off x="6263640" y="1371600"/>
            <a:ext cx="2761488" cy="365760"/>
          </a:xfrm>
          <a:prstGeom prst="rect">
            <a:avLst/>
          </a:prstGeom>
          <a:noFill/>
          <a:ln/>
        </p:spPr>
        <p:txBody>
          <a:bodyPr wrap="square" lIns="0" tIns="0" rIns="0" bIns="0" rtlCol="0" anchor="ctr"/>
          <a:lstStyle/>
          <a:p>
            <a:pPr algn="ctr" indent="0" marL="0">
              <a:buNone/>
            </a:pPr>
            <a:r>
              <a:rPr lang="en-US" sz="1400" b="1" spc="200" kern="0" dirty="0">
                <a:solidFill>
                  <a:srgbClr val="4F7A5C"/>
                </a:solidFill>
                <a:latin typeface="Arial" pitchFamily="34" charset="0"/>
                <a:ea typeface="Arial" pitchFamily="34" charset="-122"/>
                <a:cs typeface="Arial" pitchFamily="34" charset="-120"/>
              </a:rPr>
              <a:t>03</a:t>
            </a:r>
            <a:endParaRPr lang="en-US" sz="1400" dirty="0"/>
          </a:p>
        </p:txBody>
      </p:sp>
      <p:sp>
        <p:nvSpPr>
          <p:cNvPr id="14" name="Text 12"/>
          <p:cNvSpPr/>
          <p:nvPr/>
        </p:nvSpPr>
        <p:spPr>
          <a:xfrm>
            <a:off x="6400800" y="1828800"/>
            <a:ext cx="2487168" cy="640080"/>
          </a:xfrm>
          <a:prstGeom prst="rect">
            <a:avLst/>
          </a:prstGeom>
          <a:noFill/>
          <a:ln/>
        </p:spPr>
        <p:txBody>
          <a:bodyPr wrap="square" lIns="0" tIns="0" rIns="0" bIns="0" rtlCol="0" anchor="ctr"/>
          <a:lstStyle/>
          <a:p>
            <a:pPr algn="ctr" indent="0" marL="0">
              <a:buNone/>
            </a:pPr>
            <a:r>
              <a:rPr lang="en-US" sz="2600" dirty="0">
                <a:solidFill>
                  <a:srgbClr val="1B3A2A"/>
                </a:solidFill>
                <a:latin typeface="Georgia" pitchFamily="34" charset="0"/>
                <a:ea typeface="Georgia" pitchFamily="34" charset="-122"/>
                <a:cs typeface="Georgia" pitchFamily="34" charset="-120"/>
              </a:rPr>
              <a:t>Stewardship</a:t>
            </a:r>
            <a:endParaRPr lang="en-US" sz="2600" dirty="0"/>
          </a:p>
        </p:txBody>
      </p:sp>
      <p:sp>
        <p:nvSpPr>
          <p:cNvPr id="15" name="Text 13"/>
          <p:cNvSpPr/>
          <p:nvPr/>
        </p:nvSpPr>
        <p:spPr>
          <a:xfrm>
            <a:off x="6464808" y="2606040"/>
            <a:ext cx="2359152" cy="2377440"/>
          </a:xfrm>
          <a:prstGeom prst="rect">
            <a:avLst/>
          </a:prstGeom>
          <a:noFill/>
          <a:ln/>
        </p:spPr>
        <p:txBody>
          <a:bodyPr wrap="square" lIns="0" tIns="0" rIns="0" bIns="0" rtlCol="0" anchor="ctr"/>
          <a:lstStyle/>
          <a:p>
            <a:pPr algn="ctr" indent="0" marL="0">
              <a:buNone/>
            </a:pPr>
            <a:r>
              <a:rPr lang="en-US" sz="1500" dirty="0">
                <a:solidFill>
                  <a:srgbClr val="4A554C"/>
                </a:solidFill>
                <a:latin typeface="Arial" pitchFamily="34" charset="0"/>
                <a:ea typeface="Arial" pitchFamily="34" charset="-122"/>
                <a:cs typeface="Arial" pitchFamily="34" charset="-120"/>
              </a:rPr>
              <a:t>Genesis 2:15 — till and keep. Children learn they are keepers, not owners. Jobs, care of class pets, water, paper.</a:t>
            </a:r>
            <a:endParaRPr lang="en-US" sz="1500" dirty="0"/>
          </a:p>
        </p:txBody>
      </p:sp>
      <p:sp>
        <p:nvSpPr>
          <p:cNvPr id="16" name="Shape 14"/>
          <p:cNvSpPr/>
          <p:nvPr/>
        </p:nvSpPr>
        <p:spPr>
          <a:xfrm>
            <a:off x="9144000" y="1143000"/>
            <a:ext cx="2761488" cy="4160520"/>
          </a:xfrm>
          <a:prstGeom prst="roundRect">
            <a:avLst>
              <a:gd name="adj" fmla="val 2649"/>
            </a:avLst>
          </a:prstGeom>
          <a:solidFill>
            <a:srgbClr val="1B3A2A"/>
          </a:solidFill>
          <a:ln/>
        </p:spPr>
        <p:txBody>
          <a:bodyPr/>
          <a:p/>
        </p:txBody>
      </p:sp>
      <p:sp>
        <p:nvSpPr>
          <p:cNvPr id="17" name="Text 15"/>
          <p:cNvSpPr/>
          <p:nvPr/>
        </p:nvSpPr>
        <p:spPr>
          <a:xfrm>
            <a:off x="9144000" y="1371600"/>
            <a:ext cx="2761488" cy="365760"/>
          </a:xfrm>
          <a:prstGeom prst="rect">
            <a:avLst/>
          </a:prstGeom>
          <a:noFill/>
          <a:ln/>
        </p:spPr>
        <p:txBody>
          <a:bodyPr wrap="square" lIns="0" tIns="0" rIns="0" bIns="0" rtlCol="0" anchor="ctr"/>
          <a:lstStyle/>
          <a:p>
            <a:pPr algn="ctr" indent="0" marL="0">
              <a:buNone/>
            </a:pPr>
            <a:r>
              <a:rPr lang="en-US" sz="1400" b="1" spc="200" kern="0" dirty="0">
                <a:solidFill>
                  <a:srgbClr val="C4A35A"/>
                </a:solidFill>
                <a:latin typeface="Arial" pitchFamily="34" charset="0"/>
                <a:ea typeface="Arial" pitchFamily="34" charset="-122"/>
                <a:cs typeface="Arial" pitchFamily="34" charset="-120"/>
              </a:rPr>
              <a:t>04</a:t>
            </a:r>
            <a:endParaRPr lang="en-US" sz="1400" dirty="0"/>
          </a:p>
        </p:txBody>
      </p:sp>
      <p:sp>
        <p:nvSpPr>
          <p:cNvPr id="18" name="Text 16"/>
          <p:cNvSpPr/>
          <p:nvPr/>
        </p:nvSpPr>
        <p:spPr>
          <a:xfrm>
            <a:off x="9281160" y="1828800"/>
            <a:ext cx="2487168" cy="640080"/>
          </a:xfrm>
          <a:prstGeom prst="rect">
            <a:avLst/>
          </a:prstGeom>
          <a:noFill/>
          <a:ln/>
        </p:spPr>
        <p:txBody>
          <a:bodyPr wrap="square" lIns="0" tIns="0" rIns="0" bIns="0" rtlCol="0" anchor="ctr"/>
          <a:lstStyle/>
          <a:p>
            <a:pPr algn="ctr" indent="0" marL="0">
              <a:buNone/>
            </a:pPr>
            <a:r>
              <a:rPr lang="en-US" sz="2600" dirty="0">
                <a:solidFill>
                  <a:srgbClr val="F4EFE2"/>
                </a:solidFill>
                <a:latin typeface="Georgia" pitchFamily="34" charset="0"/>
                <a:ea typeface="Georgia" pitchFamily="34" charset="-122"/>
                <a:cs typeface="Georgia" pitchFamily="34" charset="-120"/>
              </a:rPr>
              <a:t>Action</a:t>
            </a:r>
            <a:endParaRPr lang="en-US" sz="2600" dirty="0"/>
          </a:p>
        </p:txBody>
      </p:sp>
      <p:sp>
        <p:nvSpPr>
          <p:cNvPr id="19" name="Text 17"/>
          <p:cNvSpPr/>
          <p:nvPr/>
        </p:nvSpPr>
        <p:spPr>
          <a:xfrm>
            <a:off x="9345168" y="2606040"/>
            <a:ext cx="2359152" cy="2377440"/>
          </a:xfrm>
          <a:prstGeom prst="rect">
            <a:avLst/>
          </a:prstGeom>
          <a:noFill/>
          <a:ln/>
        </p:spPr>
        <p:txBody>
          <a:bodyPr wrap="square" lIns="0" tIns="0" rIns="0" bIns="0" rtlCol="0" anchor="ctr"/>
          <a:lstStyle/>
          <a:p>
            <a:pPr algn="ctr" indent="0" marL="0">
              <a:buNone/>
            </a:pPr>
            <a:r>
              <a:rPr lang="en-US" sz="1500" dirty="0">
                <a:solidFill>
                  <a:srgbClr val="D9CFAE"/>
                </a:solidFill>
                <a:latin typeface="Arial" pitchFamily="34" charset="0"/>
                <a:ea typeface="Arial" pitchFamily="34" charset="-122"/>
                <a:cs typeface="Arial" pitchFamily="34" charset="-120"/>
              </a:rPr>
              <a:t>Small, real, repeatable. Plant. Sort. Repair. Share. Write a letter. Bless the garden. Invite a family.</a:t>
            </a:r>
            <a:endParaRPr lang="en-US" sz="1500" dirty="0"/>
          </a:p>
        </p:txBody>
      </p:sp>
      <p:sp>
        <p:nvSpPr>
          <p:cNvPr id="20" name="Text 18"/>
          <p:cNvSpPr/>
          <p:nvPr/>
        </p:nvSpPr>
        <p:spPr>
          <a:xfrm>
            <a:off x="502920" y="5440680"/>
            <a:ext cx="11183112" cy="411480"/>
          </a:xfrm>
          <a:prstGeom prst="rect">
            <a:avLst/>
          </a:prstGeom>
          <a:noFill/>
          <a:ln/>
        </p:spPr>
        <p:txBody>
          <a:bodyPr wrap="square" lIns="0" tIns="0" rIns="0" bIns="0" rtlCol="0" anchor="ctr"/>
          <a:lstStyle/>
          <a:p>
            <a:pPr indent="0" marL="0">
              <a:buNone/>
            </a:pPr>
            <a:r>
              <a:rPr lang="en-US" sz="1500" i="1" dirty="0">
                <a:solidFill>
                  <a:srgbClr val="1B3A2A"/>
                </a:solidFill>
                <a:latin typeface="Arial" pitchFamily="34" charset="0"/>
                <a:ea typeface="Arial" pitchFamily="34" charset="-122"/>
                <a:cs typeface="Arial" pitchFamily="34" charset="-120"/>
              </a:rPr>
              <a:t>Skip a movement and the lesson thins out. Wonder without action is tourism. Action without wonder is a chore chart.</a:t>
            </a:r>
            <a:endParaRPr lang="en-US" sz="1500" dirty="0"/>
          </a:p>
        </p:txBody>
      </p:sp>
      <p:sp>
        <p:nvSpPr>
          <p:cNvPr id="21" name="Shape 19"/>
          <p:cNvSpPr/>
          <p:nvPr/>
        </p:nvSpPr>
        <p:spPr>
          <a:xfrm>
            <a:off x="502920" y="6510528"/>
            <a:ext cx="11183112" cy="0"/>
          </a:xfrm>
          <a:prstGeom prst="line">
            <a:avLst/>
          </a:prstGeom>
          <a:noFill/>
          <a:ln w="7620">
            <a:solidFill>
              <a:srgbClr val="C9C0A8"/>
            </a:solidFill>
            <a:prstDash val="solid"/>
          </a:ln>
        </p:spPr>
        <p:txBody>
          <a:bodyPr/>
          <a:p/>
        </p:txBody>
      </p:sp>
      <p:sp>
        <p:nvSpPr>
          <p:cNvPr id="22" name="Text 20"/>
          <p:cNvSpPr/>
          <p:nvPr/>
        </p:nvSpPr>
        <p:spPr>
          <a:xfrm>
            <a:off x="502920" y="6547104"/>
            <a:ext cx="8412480" cy="237744"/>
          </a:xfrm>
          <a:prstGeom prst="rect">
            <a:avLst/>
          </a:prstGeom>
          <a:noFill/>
          <a:ln/>
        </p:spPr>
        <p:txBody>
          <a:bodyPr wrap="square" lIns="0" tIns="0" rIns="0" bIns="0" rtlCol="0" anchor="ctr"/>
          <a:lstStyle/>
          <a:p>
            <a:pPr indent="0" marL="0">
              <a:buNone/>
            </a:pPr>
            <a:r>
              <a:rPr lang="en-US" sz="900" spc="120" kern="0" dirty="0">
                <a:solidFill>
                  <a:srgbClr val="6B736C"/>
                </a:solidFill>
                <a:latin typeface="Arial" pitchFamily="34" charset="0"/>
                <a:ea typeface="Arial" pitchFamily="34" charset="-122"/>
                <a:cs typeface="Arial" pitchFamily="34" charset="-120"/>
              </a:rPr>
              <a:t>CREATION CARE IN THE CLASSROOM  ·  K–5 CATHOLIC TEACHERS</a:t>
            </a:r>
            <a:endParaRPr lang="en-US" sz="900" dirty="0"/>
          </a:p>
        </p:txBody>
      </p:sp>
      <p:sp>
        <p:nvSpPr>
          <p:cNvPr id="23" name="Text 21"/>
          <p:cNvSpPr/>
          <p:nvPr/>
        </p:nvSpPr>
        <p:spPr>
          <a:xfrm>
            <a:off x="9509760" y="6547104"/>
            <a:ext cx="2176272" cy="237744"/>
          </a:xfrm>
          <a:prstGeom prst="rect">
            <a:avLst/>
          </a:prstGeom>
          <a:noFill/>
          <a:ln/>
        </p:spPr>
        <p:txBody>
          <a:bodyPr wrap="square" lIns="0" tIns="0" rIns="0" bIns="0" rtlCol="0" anchor="ctr"/>
          <a:lstStyle/>
          <a:p>
            <a:pPr algn="r" indent="0" marL="0">
              <a:buNone/>
            </a:pPr>
            <a:r>
              <a:rPr lang="en-US" sz="900" dirty="0">
                <a:solidFill>
                  <a:srgbClr val="6B736C"/>
                </a:solidFill>
                <a:latin typeface="Arial" pitchFamily="34" charset="0"/>
                <a:ea typeface="Arial" pitchFamily="34" charset="-122"/>
                <a:cs typeface="Arial" pitchFamily="34" charset="-120"/>
              </a:rPr>
              <a:t>09  /  30</a:t>
            </a:r>
            <a:endParaRPr lang="en-US" sz="900" dirty="0"/>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4EFE2"/>
        </a:solidFill>
      </p:bgPr>
    </p:bg>
    <p:spTree>
      <p:nvGrpSpPr>
        <p:cNvPr id="1" name=""/>
        <p:cNvGrpSpPr/>
        <p:nvPr/>
      </p:nvGrpSpPr>
      <p:grpSpPr/>
      <p:sp>
        <p:nvSpPr>
          <p:cNvPr id="2" name="Text 0"/>
          <p:cNvSpPr/>
          <p:nvPr/>
        </p:nvSpPr>
        <p:spPr>
          <a:xfrm>
            <a:off x="502920" y="256032"/>
            <a:ext cx="11155680" cy="219456"/>
          </a:xfrm>
          <a:prstGeom prst="rect">
            <a:avLst/>
          </a:prstGeom>
          <a:noFill/>
          <a:ln/>
        </p:spPr>
        <p:txBody>
          <a:bodyPr wrap="square" lIns="0" tIns="0" rIns="0" bIns="0" rtlCol="0" anchor="ctr"/>
          <a:lstStyle/>
          <a:p>
            <a:pPr indent="0" marL="0">
              <a:buNone/>
            </a:pPr>
            <a:r>
              <a:rPr sz="1100" b="1">
                <a:solidFill>
                  <a:srgbClr val="4F7A5C"/>
                </a:solidFill>
                <a:latin typeface="Arial"/>
              </a:rPr>
              <a:t>MID-SESSION  ·  8 MINUTES  ·  NO PREP</a:t>
            </a:r>
            <a:endParaRPr lang="en-US" sz="1100" dirty="0"/>
          </a:p>
        </p:txBody>
      </p:sp>
      <p:sp>
        <p:nvSpPr>
          <p:cNvPr id="3" name="Text 1"/>
          <p:cNvSpPr/>
          <p:nvPr/>
        </p:nvSpPr>
        <p:spPr>
          <a:xfrm>
            <a:off x="502920" y="475488"/>
            <a:ext cx="11155680" cy="475488"/>
          </a:xfrm>
          <a:prstGeom prst="rect">
            <a:avLst/>
          </a:prstGeom>
          <a:noFill/>
          <a:ln/>
        </p:spPr>
        <p:txBody>
          <a:bodyPr wrap="square" lIns="0" tIns="0" rIns="0" bIns="0" rtlCol="0" anchor="ctr"/>
          <a:lstStyle/>
          <a:p>
            <a:pPr indent="0" marL="0">
              <a:buNone/>
            </a:pPr>
            <a:r>
              <a:rPr sz="2600">
                <a:solidFill>
                  <a:srgbClr val="1B3A2A"/>
                </a:solidFill>
                <a:latin typeface="Georgia"/>
              </a:rPr>
              <a:t>Stand with Creation</a:t>
            </a:r>
            <a:endParaRPr lang="en-US" sz="2600" dirty="0"/>
          </a:p>
        </p:txBody>
      </p:sp>
      <p:sp>
        <p:nvSpPr>
          <p:cNvPr id="4" name="Shape 2"/>
          <p:cNvSpPr/>
          <p:nvPr/>
        </p:nvSpPr>
        <p:spPr>
          <a:xfrm>
            <a:off x="502920" y="1143000"/>
            <a:ext cx="2761488" cy="4160520"/>
          </a:xfrm>
          <a:prstGeom prst="roundRect">
            <a:avLst>
              <a:gd name="adj" fmla="val 2649"/>
            </a:avLst>
          </a:prstGeom>
          <a:solidFill>
            <a:srgbClr val="1B3A2A"/>
          </a:solidFill>
          <a:ln/>
        </p:spPr>
        <p:txBody>
          <a:bodyPr/>
          <a:p/>
        </p:txBody>
      </p:sp>
      <p:sp>
        <p:nvSpPr>
          <p:cNvPr id="5" name="Text 3"/>
          <p:cNvSpPr/>
          <p:nvPr/>
        </p:nvSpPr>
        <p:spPr>
          <a:xfrm>
            <a:off x="502920" y="1371600"/>
            <a:ext cx="2761488" cy="365760"/>
          </a:xfrm>
          <a:prstGeom prst="rect">
            <a:avLst/>
          </a:prstGeom>
          <a:noFill/>
          <a:ln/>
        </p:spPr>
        <p:txBody>
          <a:bodyPr wrap="square" lIns="0" tIns="0" rIns="0" bIns="0" rtlCol="0" anchor="ctr"/>
          <a:lstStyle/>
          <a:p>
            <a:pPr algn="ctr" indent="0" marL="0">
              <a:buNone/>
            </a:pPr>
            <a:r>
              <a:rPr lang="en-US" sz="1400" b="1" spc="200" kern="0" dirty="0">
                <a:solidFill>
                  <a:srgbClr val="C4A35A"/>
                </a:solidFill>
                <a:latin typeface="Arial" pitchFamily="34" charset="0"/>
                <a:ea typeface="Arial" pitchFamily="34" charset="-122"/>
                <a:cs typeface="Arial" pitchFamily="34" charset="-120"/>
              </a:rPr>
              <a:t>01</a:t>
            </a:r>
            <a:endParaRPr lang="en-US" sz="1400" dirty="0"/>
          </a:p>
        </p:txBody>
      </p:sp>
      <p:sp>
        <p:nvSpPr>
          <p:cNvPr id="6" name="Text 4"/>
          <p:cNvSpPr/>
          <p:nvPr/>
        </p:nvSpPr>
        <p:spPr>
          <a:xfrm>
            <a:off x="640080" y="1828800"/>
            <a:ext cx="2487168" cy="640080"/>
          </a:xfrm>
          <a:prstGeom prst="rect">
            <a:avLst/>
          </a:prstGeom>
          <a:noFill/>
          <a:ln/>
        </p:spPr>
        <p:txBody>
          <a:bodyPr wrap="square" lIns="0" tIns="0" rIns="0" bIns="0" rtlCol="0" anchor="ctr"/>
          <a:lstStyle/>
          <a:p>
            <a:pPr algn="ctr" indent="0" marL="0">
              <a:buNone/>
            </a:pPr>
            <a:r>
              <a:rPr sz="2200">
                <a:solidFill>
                  <a:srgbClr val="F4EFE2"/>
                </a:solidFill>
                <a:latin typeface="Georgia"/>
              </a:rPr>
              <a:t>Pray with creation</a:t>
            </a:r>
            <a:endParaRPr lang="en-US" sz="2600" dirty="0"/>
          </a:p>
        </p:txBody>
      </p:sp>
      <p:sp>
        <p:nvSpPr>
          <p:cNvPr id="7" name="Text 5"/>
          <p:cNvSpPr/>
          <p:nvPr/>
        </p:nvSpPr>
        <p:spPr>
          <a:xfrm>
            <a:off x="704088" y="2606040"/>
            <a:ext cx="2359152" cy="2377440"/>
          </a:xfrm>
          <a:prstGeom prst="rect">
            <a:avLst/>
          </a:prstGeom>
          <a:noFill/>
          <a:ln/>
        </p:spPr>
        <p:txBody>
          <a:bodyPr wrap="square" lIns="0" tIns="0" rIns="0" bIns="0" rtlCol="0" anchor="ctr"/>
          <a:lstStyle/>
          <a:p>
            <a:pPr algn="ctr" indent="0" marL="0">
              <a:buNone/>
            </a:pPr>
            <a:r>
              <a:rPr sz="1400">
                <a:solidFill>
                  <a:srgbClr val="D9CFAE"/>
                </a:solidFill>
                <a:latin typeface="Arial"/>
              </a:rPr>
              <a:t>A verse, a blessing, or a moment of wonder. Walk here if this is already part of your week.</a:t>
            </a:r>
            <a:endParaRPr lang="en-US" sz="1500" dirty="0"/>
          </a:p>
        </p:txBody>
      </p:sp>
      <p:sp>
        <p:nvSpPr>
          <p:cNvPr id="8" name="Shape 6"/>
          <p:cNvSpPr/>
          <p:nvPr/>
        </p:nvSpPr>
        <p:spPr>
          <a:xfrm>
            <a:off x="3383280" y="1143000"/>
            <a:ext cx="2761488" cy="4160520"/>
          </a:xfrm>
          <a:prstGeom prst="roundRect">
            <a:avLst>
              <a:gd name="adj" fmla="val 2649"/>
            </a:avLst>
          </a:prstGeom>
          <a:solidFill>
            <a:srgbClr val="FFFBF3"/>
          </a:solidFill>
          <a:ln/>
        </p:spPr>
        <p:txBody>
          <a:bodyPr/>
          <a:p/>
        </p:txBody>
      </p:sp>
      <p:sp>
        <p:nvSpPr>
          <p:cNvPr id="9" name="Text 7"/>
          <p:cNvSpPr/>
          <p:nvPr/>
        </p:nvSpPr>
        <p:spPr>
          <a:xfrm>
            <a:off x="3383280" y="1371600"/>
            <a:ext cx="2761488" cy="365760"/>
          </a:xfrm>
          <a:prstGeom prst="rect">
            <a:avLst/>
          </a:prstGeom>
          <a:noFill/>
          <a:ln/>
        </p:spPr>
        <p:txBody>
          <a:bodyPr wrap="square" lIns="0" tIns="0" rIns="0" bIns="0" rtlCol="0" anchor="ctr"/>
          <a:lstStyle/>
          <a:p>
            <a:pPr algn="ctr" indent="0" marL="0">
              <a:buNone/>
            </a:pPr>
            <a:r>
              <a:rPr lang="en-US" sz="1400" b="1" spc="200" kern="0" dirty="0">
                <a:solidFill>
                  <a:srgbClr val="4F7A5C"/>
                </a:solidFill>
                <a:latin typeface="Arial" pitchFamily="34" charset="0"/>
                <a:ea typeface="Arial" pitchFamily="34" charset="-122"/>
                <a:cs typeface="Arial" pitchFamily="34" charset="-120"/>
              </a:rPr>
              <a:t>02</a:t>
            </a:r>
            <a:endParaRPr lang="en-US" sz="1400" dirty="0"/>
          </a:p>
        </p:txBody>
      </p:sp>
      <p:sp>
        <p:nvSpPr>
          <p:cNvPr id="10" name="Text 8"/>
          <p:cNvSpPr/>
          <p:nvPr/>
        </p:nvSpPr>
        <p:spPr>
          <a:xfrm>
            <a:off x="3520440" y="1828800"/>
            <a:ext cx="2487168" cy="640080"/>
          </a:xfrm>
          <a:prstGeom prst="rect">
            <a:avLst/>
          </a:prstGeom>
          <a:noFill/>
          <a:ln/>
        </p:spPr>
        <p:txBody>
          <a:bodyPr wrap="square" lIns="0" tIns="0" rIns="0" bIns="0" rtlCol="0" anchor="ctr"/>
          <a:lstStyle/>
          <a:p>
            <a:pPr algn="ctr" indent="0" marL="0">
              <a:buNone/>
            </a:pPr>
            <a:r>
              <a:rPr sz="2200">
                <a:solidFill>
                  <a:srgbClr val="1B3A2A"/>
                </a:solidFill>
                <a:latin typeface="Georgia"/>
              </a:rPr>
              <a:t>Teach it in a lesson</a:t>
            </a:r>
            <a:endParaRPr lang="en-US" sz="2600" dirty="0"/>
          </a:p>
        </p:txBody>
      </p:sp>
      <p:sp>
        <p:nvSpPr>
          <p:cNvPr id="11" name="Text 9"/>
          <p:cNvSpPr/>
          <p:nvPr/>
        </p:nvSpPr>
        <p:spPr>
          <a:xfrm>
            <a:off x="3584448" y="2606040"/>
            <a:ext cx="2359152" cy="2377440"/>
          </a:xfrm>
          <a:prstGeom prst="rect">
            <a:avLst/>
          </a:prstGeom>
          <a:noFill/>
          <a:ln/>
        </p:spPr>
        <p:txBody>
          <a:bodyPr wrap="square" lIns="0" tIns="0" rIns="0" bIns="0" rtlCol="0" anchor="ctr"/>
          <a:lstStyle/>
          <a:p>
            <a:pPr algn="ctr" indent="0" marL="0">
              <a:buNone/>
            </a:pPr>
            <a:r>
              <a:rPr sz="1400">
                <a:solidFill>
                  <a:srgbClr val="4A554C"/>
                </a:solidFill>
                <a:latin typeface="Arial"/>
              </a:rPr>
              <a:t>Fold care for creation into a subject you already teach. No new unit required.</a:t>
            </a:r>
            <a:endParaRPr lang="en-US" sz="1500" dirty="0"/>
          </a:p>
        </p:txBody>
      </p:sp>
      <p:sp>
        <p:nvSpPr>
          <p:cNvPr id="12" name="Shape 10"/>
          <p:cNvSpPr/>
          <p:nvPr/>
        </p:nvSpPr>
        <p:spPr>
          <a:xfrm>
            <a:off x="6263640" y="1143000"/>
            <a:ext cx="2761488" cy="4160520"/>
          </a:xfrm>
          <a:prstGeom prst="roundRect">
            <a:avLst>
              <a:gd name="adj" fmla="val 2649"/>
            </a:avLst>
          </a:prstGeom>
          <a:solidFill>
            <a:srgbClr val="FFFBF3"/>
          </a:solidFill>
          <a:ln/>
        </p:spPr>
        <p:txBody>
          <a:bodyPr/>
          <a:p/>
        </p:txBody>
      </p:sp>
      <p:sp>
        <p:nvSpPr>
          <p:cNvPr id="13" name="Text 11"/>
          <p:cNvSpPr/>
          <p:nvPr/>
        </p:nvSpPr>
        <p:spPr>
          <a:xfrm>
            <a:off x="6263640" y="1371600"/>
            <a:ext cx="2761488" cy="365760"/>
          </a:xfrm>
          <a:prstGeom prst="rect">
            <a:avLst/>
          </a:prstGeom>
          <a:noFill/>
          <a:ln/>
        </p:spPr>
        <p:txBody>
          <a:bodyPr wrap="square" lIns="0" tIns="0" rIns="0" bIns="0" rtlCol="0" anchor="ctr"/>
          <a:lstStyle/>
          <a:p>
            <a:pPr algn="ctr" indent="0" marL="0">
              <a:buNone/>
            </a:pPr>
            <a:r>
              <a:rPr lang="en-US" sz="1400" b="1" spc="200" kern="0" dirty="0">
                <a:solidFill>
                  <a:srgbClr val="4F7A5C"/>
                </a:solidFill>
                <a:latin typeface="Arial" pitchFamily="34" charset="0"/>
                <a:ea typeface="Arial" pitchFamily="34" charset="-122"/>
                <a:cs typeface="Arial" pitchFamily="34" charset="-120"/>
              </a:rPr>
              <a:t>03</a:t>
            </a:r>
            <a:endParaRPr lang="en-US" sz="1400" dirty="0"/>
          </a:p>
        </p:txBody>
      </p:sp>
      <p:sp>
        <p:nvSpPr>
          <p:cNvPr id="14" name="Text 12"/>
          <p:cNvSpPr/>
          <p:nvPr/>
        </p:nvSpPr>
        <p:spPr>
          <a:xfrm>
            <a:off x="6400800" y="1828800"/>
            <a:ext cx="2487168" cy="640080"/>
          </a:xfrm>
          <a:prstGeom prst="rect">
            <a:avLst/>
          </a:prstGeom>
          <a:noFill/>
          <a:ln/>
        </p:spPr>
        <p:txBody>
          <a:bodyPr wrap="square" lIns="0" tIns="0" rIns="0" bIns="0" rtlCol="0" anchor="ctr"/>
          <a:lstStyle/>
          <a:p>
            <a:pPr algn="ctr" indent="0" marL="0">
              <a:buNone/>
            </a:pPr>
            <a:r>
              <a:rPr sz="2200">
                <a:solidFill>
                  <a:srgbClr val="1B3A2A"/>
                </a:solidFill>
                <a:latin typeface="Georgia"/>
              </a:rPr>
              <a:t>Change a classroom habit</a:t>
            </a:r>
            <a:endParaRPr lang="en-US" sz="2600" dirty="0"/>
          </a:p>
        </p:txBody>
      </p:sp>
      <p:sp>
        <p:nvSpPr>
          <p:cNvPr id="15" name="Text 13"/>
          <p:cNvSpPr/>
          <p:nvPr/>
        </p:nvSpPr>
        <p:spPr>
          <a:xfrm>
            <a:off x="6464808" y="2606040"/>
            <a:ext cx="2359152" cy="2377440"/>
          </a:xfrm>
          <a:prstGeom prst="rect">
            <a:avLst/>
          </a:prstGeom>
          <a:noFill/>
          <a:ln/>
        </p:spPr>
        <p:txBody>
          <a:bodyPr wrap="square" lIns="0" tIns="0" rIns="0" bIns="0" rtlCol="0" anchor="ctr"/>
          <a:lstStyle/>
          <a:p>
            <a:pPr algn="ctr" indent="0" marL="0">
              <a:buNone/>
            </a:pPr>
            <a:r>
              <a:rPr sz="1400">
                <a:solidFill>
                  <a:srgbClr val="4A554C"/>
                </a:solidFill>
                <a:latin typeface="Arial"/>
              </a:rPr>
              <a:t>Lights, paper, water, waste, the daily rhythm. One habit children can keep.</a:t>
            </a:r>
            <a:endParaRPr lang="en-US" sz="1500" dirty="0"/>
          </a:p>
        </p:txBody>
      </p:sp>
      <p:sp>
        <p:nvSpPr>
          <p:cNvPr id="16" name="Shape 14"/>
          <p:cNvSpPr/>
          <p:nvPr/>
        </p:nvSpPr>
        <p:spPr>
          <a:xfrm>
            <a:off x="9144000" y="1143000"/>
            <a:ext cx="2761488" cy="4160520"/>
          </a:xfrm>
          <a:prstGeom prst="roundRect">
            <a:avLst>
              <a:gd name="adj" fmla="val 2649"/>
            </a:avLst>
          </a:prstGeom>
          <a:solidFill>
            <a:srgbClr val="1B3A2A"/>
          </a:solidFill>
          <a:ln/>
        </p:spPr>
        <p:txBody>
          <a:bodyPr/>
          <a:p/>
        </p:txBody>
      </p:sp>
      <p:sp>
        <p:nvSpPr>
          <p:cNvPr id="17" name="Text 15"/>
          <p:cNvSpPr/>
          <p:nvPr/>
        </p:nvSpPr>
        <p:spPr>
          <a:xfrm>
            <a:off x="9144000" y="1371600"/>
            <a:ext cx="2761488" cy="365760"/>
          </a:xfrm>
          <a:prstGeom prst="rect">
            <a:avLst/>
          </a:prstGeom>
          <a:noFill/>
          <a:ln/>
        </p:spPr>
        <p:txBody>
          <a:bodyPr wrap="square" lIns="0" tIns="0" rIns="0" bIns="0" rtlCol="0" anchor="ctr"/>
          <a:lstStyle/>
          <a:p>
            <a:pPr algn="ctr" indent="0" marL="0">
              <a:buNone/>
            </a:pPr>
            <a:r>
              <a:rPr lang="en-US" sz="1400" b="1" spc="200" kern="0" dirty="0">
                <a:solidFill>
                  <a:srgbClr val="C4A35A"/>
                </a:solidFill>
                <a:latin typeface="Arial" pitchFamily="34" charset="0"/>
                <a:ea typeface="Arial" pitchFamily="34" charset="-122"/>
                <a:cs typeface="Arial" pitchFamily="34" charset="-120"/>
              </a:rPr>
              <a:t>04</a:t>
            </a:r>
            <a:endParaRPr lang="en-US" sz="1400" dirty="0"/>
          </a:p>
        </p:txBody>
      </p:sp>
      <p:sp>
        <p:nvSpPr>
          <p:cNvPr id="18" name="Text 16"/>
          <p:cNvSpPr/>
          <p:nvPr/>
        </p:nvSpPr>
        <p:spPr>
          <a:xfrm>
            <a:off x="9281160" y="1828800"/>
            <a:ext cx="2487168" cy="640080"/>
          </a:xfrm>
          <a:prstGeom prst="rect">
            <a:avLst/>
          </a:prstGeom>
          <a:noFill/>
          <a:ln/>
        </p:spPr>
        <p:txBody>
          <a:bodyPr wrap="square" lIns="0" tIns="0" rIns="0" bIns="0" rtlCol="0" anchor="ctr"/>
          <a:lstStyle/>
          <a:p>
            <a:pPr algn="ctr" indent="0" marL="0">
              <a:buNone/>
            </a:pPr>
            <a:r>
              <a:rPr sz="2200">
                <a:solidFill>
                  <a:srgbClr val="F4EFE2"/>
                </a:solidFill>
                <a:latin typeface="Georgia"/>
              </a:rPr>
              <a:t>Take students outside</a:t>
            </a:r>
            <a:endParaRPr lang="en-US" sz="2600" dirty="0"/>
          </a:p>
        </p:txBody>
      </p:sp>
      <p:sp>
        <p:nvSpPr>
          <p:cNvPr id="19" name="Text 17"/>
          <p:cNvSpPr/>
          <p:nvPr/>
        </p:nvSpPr>
        <p:spPr>
          <a:xfrm>
            <a:off x="9345168" y="2606040"/>
            <a:ext cx="2359152" cy="2377440"/>
          </a:xfrm>
          <a:prstGeom prst="rect">
            <a:avLst/>
          </a:prstGeom>
          <a:noFill/>
          <a:ln/>
        </p:spPr>
        <p:txBody>
          <a:bodyPr wrap="square" lIns="0" tIns="0" rIns="0" bIns="0" rtlCol="0" anchor="ctr"/>
          <a:lstStyle/>
          <a:p>
            <a:pPr algn="ctr" indent="0" marL="0">
              <a:buNone/>
            </a:pPr>
            <a:r>
              <a:rPr sz="1400">
                <a:solidFill>
                  <a:srgbClr val="D9CFAE"/>
                </a:solidFill>
                <a:latin typeface="Arial"/>
              </a:rPr>
              <a:t>Five minutes on the grounds counts. Notice, name, return.</a:t>
            </a:r>
            <a:endParaRPr lang="en-US" sz="1500" dirty="0"/>
          </a:p>
        </p:txBody>
      </p:sp>
      <p:sp>
        <p:nvSpPr>
          <p:cNvPr id="20" name="Text 18"/>
          <p:cNvSpPr/>
          <p:nvPr/>
        </p:nvSpPr>
        <p:spPr>
          <a:xfrm>
            <a:off x="502920" y="5440680"/>
            <a:ext cx="11183112" cy="411480"/>
          </a:xfrm>
          <a:prstGeom prst="rect">
            <a:avLst/>
          </a:prstGeom>
          <a:noFill/>
          <a:ln/>
        </p:spPr>
        <p:txBody>
          <a:bodyPr wrap="square" lIns="0" tIns="0" rIns="0" bIns="0" rtlCol="0" anchor="ctr"/>
          <a:lstStyle/>
          <a:p>
            <a:pPr indent="0" marL="0">
              <a:buNone/>
            </a:pPr>
            <a:r>
              <a:rPr sz="1200">
                <a:solidFill>
                  <a:srgbClr val="1B3A2A"/>
                </a:solidFill>
                <a:latin typeface="Arial"/>
              </a:rPr>
              <a:t>Facilitator: 0:00 stand by the corner you already do · 1:00 one sentence with neighbors · 3:00 move to the corner you will try this month · 3:30 pair, name the first step · 6:30 sit, two voices share.</a:t>
            </a:r>
            <a:endParaRPr lang="en-US" sz="1500" dirty="0"/>
          </a:p>
        </p:txBody>
      </p:sp>
      <p:sp>
        <p:nvSpPr>
          <p:cNvPr id="21" name="Shape 19"/>
          <p:cNvSpPr/>
          <p:nvPr/>
        </p:nvSpPr>
        <p:spPr>
          <a:xfrm>
            <a:off x="502920" y="6510528"/>
            <a:ext cx="11183112" cy="0"/>
          </a:xfrm>
          <a:prstGeom prst="line">
            <a:avLst/>
          </a:prstGeom>
          <a:noFill/>
          <a:ln w="7620">
            <a:solidFill>
              <a:srgbClr val="C9C0A8"/>
            </a:solidFill>
            <a:prstDash val="solid"/>
          </a:ln>
        </p:spPr>
        <p:txBody>
          <a:bodyPr/>
          <a:p/>
        </p:txBody>
      </p:sp>
      <p:sp>
        <p:nvSpPr>
          <p:cNvPr id="22" name="Text 20"/>
          <p:cNvSpPr/>
          <p:nvPr/>
        </p:nvSpPr>
        <p:spPr>
          <a:xfrm>
            <a:off x="502920" y="6547104"/>
            <a:ext cx="8412480" cy="237744"/>
          </a:xfrm>
          <a:prstGeom prst="rect">
            <a:avLst/>
          </a:prstGeom>
          <a:noFill/>
          <a:ln/>
        </p:spPr>
        <p:txBody>
          <a:bodyPr wrap="square" lIns="0" tIns="0" rIns="0" bIns="0" rtlCol="0" anchor="ctr"/>
          <a:lstStyle/>
          <a:p>
            <a:pPr indent="0" marL="0">
              <a:buNone/>
            </a:pPr>
            <a:r>
              <a:rPr lang="en-US" sz="900" spc="120" kern="0" dirty="0">
                <a:solidFill>
                  <a:srgbClr val="6B736C"/>
                </a:solidFill>
                <a:latin typeface="Arial" pitchFamily="34" charset="0"/>
                <a:ea typeface="Arial" pitchFamily="34" charset="-122"/>
                <a:cs typeface="Arial" pitchFamily="34" charset="-120"/>
              </a:rPr>
              <a:t>CREATION CARE IN THE CLASSROOM  ·  K–5 CATHOLIC TEACHERS</a:t>
            </a:r>
            <a:endParaRPr lang="en-US" sz="900" dirty="0"/>
          </a:p>
        </p:txBody>
      </p:sp>
      <p:sp>
        <p:nvSpPr>
          <p:cNvPr id="23" name="Text 21"/>
          <p:cNvSpPr/>
          <p:nvPr/>
        </p:nvSpPr>
        <p:spPr>
          <a:xfrm>
            <a:off x="9509760" y="6547104"/>
            <a:ext cx="2176272" cy="237744"/>
          </a:xfrm>
          <a:prstGeom prst="rect">
            <a:avLst/>
          </a:prstGeom>
          <a:noFill/>
          <a:ln/>
        </p:spPr>
        <p:txBody>
          <a:bodyPr wrap="square" lIns="0" tIns="0" rIns="0" bIns="0" rtlCol="0" anchor="ctr"/>
          <a:lstStyle/>
          <a:p>
            <a:pPr algn="r" indent="0" marL="0">
              <a:buNone/>
            </a:pPr>
            <a:r>
              <a:rPr lang="en-US" sz="900" dirty="0">
                <a:solidFill>
                  <a:srgbClr val="6B736C"/>
                </a:solidFill>
                <a:latin typeface="Arial" pitchFamily="34" charset="0"/>
                <a:ea typeface="Arial" pitchFamily="34" charset="-122"/>
                <a:cs typeface="Arial" pitchFamily="34" charset="-120"/>
              </a:rPr>
              <a:t>10  /  30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4EFE2"/>
        </a:solidFill>
      </p:bgPr>
    </p:bg>
    <p:spTree>
      <p:nvGrpSpPr>
        <p:cNvPr id="1" name=""/>
        <p:cNvGrpSpPr/>
        <p:nvPr/>
      </p:nvGrpSpPr>
      <p:grpSpPr>
        <a:xfrm>
          <a:off x="0" y="0"/>
          <a:ext cx="0" cy="0"/>
          <a:chOff x="0" y="0"/>
          <a:chExt cx="0" cy="0"/>
        </a:xfrm>
      </p:grpSpPr>
      <p:sp>
        <p:nvSpPr>
          <p:cNvPr id="2" name="Text 0"/>
          <p:cNvSpPr/>
          <p:nvPr/>
        </p:nvSpPr>
        <p:spPr>
          <a:xfrm>
            <a:off x="502920" y="256032"/>
            <a:ext cx="11155680" cy="219456"/>
          </a:xfrm>
          <a:prstGeom prst="rect">
            <a:avLst/>
          </a:prstGeom>
          <a:noFill/>
          <a:ln/>
        </p:spPr>
        <p:txBody>
          <a:bodyPr wrap="square" lIns="0" tIns="0" rIns="0" bIns="0" rtlCol="0" anchor="ctr"/>
          <a:lstStyle/>
          <a:p>
            <a:pPr indent="0" marL="0">
              <a:buNone/>
            </a:pPr>
            <a:r>
              <a:rPr lang="en-US" sz="1100" b="1" spc="220" kern="0" dirty="0">
                <a:solidFill>
                  <a:srgbClr val="4F7A5C"/>
                </a:solidFill>
                <a:latin typeface="Arial" pitchFamily="34" charset="0"/>
                <a:ea typeface="Arial" pitchFamily="34" charset="-122"/>
                <a:cs typeface="Arial" pitchFamily="34" charset="-120"/>
              </a:rPr>
              <a:t>09  ·  LAUDATO SI’ ACTION PLATFORM</a:t>
            </a:r>
            <a:endParaRPr lang="en-US" sz="1100" dirty="0"/>
          </a:p>
        </p:txBody>
      </p:sp>
      <p:sp>
        <p:nvSpPr>
          <p:cNvPr id="3" name="Text 1"/>
          <p:cNvSpPr/>
          <p:nvPr/>
        </p:nvSpPr>
        <p:spPr>
          <a:xfrm>
            <a:off x="502920" y="475488"/>
            <a:ext cx="11155680" cy="475488"/>
          </a:xfrm>
          <a:prstGeom prst="rect">
            <a:avLst/>
          </a:prstGeom>
          <a:noFill/>
          <a:ln/>
        </p:spPr>
        <p:txBody>
          <a:bodyPr wrap="square" lIns="0" tIns="0" rIns="0" bIns="0" rtlCol="0" anchor="ctr"/>
          <a:lstStyle/>
          <a:p>
            <a:pPr indent="0" marL="0">
              <a:buNone/>
            </a:pPr>
            <a:r>
              <a:rPr lang="en-US" sz="2600" dirty="0">
                <a:solidFill>
                  <a:srgbClr val="1B3A2A"/>
                </a:solidFill>
                <a:latin typeface="Georgia" pitchFamily="34" charset="0"/>
                <a:ea typeface="Georgia" pitchFamily="34" charset="-122"/>
                <a:cs typeface="Georgia" pitchFamily="34" charset="-120"/>
              </a:rPr>
              <a:t>Seven goals, scaled for elementary</a:t>
            </a:r>
            <a:endParaRPr lang="en-US" sz="2600" dirty="0"/>
          </a:p>
        </p:txBody>
      </p:sp>
      <p:sp>
        <p:nvSpPr>
          <p:cNvPr id="4" name="Shape 2"/>
          <p:cNvSpPr/>
          <p:nvPr/>
        </p:nvSpPr>
        <p:spPr>
          <a:xfrm>
            <a:off x="502920" y="1115568"/>
            <a:ext cx="5623560" cy="969264"/>
          </a:xfrm>
          <a:prstGeom prst="roundRect">
            <a:avLst>
              <a:gd name="adj" fmla="val 5660"/>
            </a:avLst>
          </a:prstGeom>
          <a:solidFill>
            <a:srgbClr val="FFFBF3"/>
          </a:solidFill>
          <a:ln/>
        </p:spPr>
        <p:txBody>
          <a:bodyPr/>
          <a:p/>
        </p:txBody>
      </p:sp>
      <p:sp>
        <p:nvSpPr>
          <p:cNvPr id="5" name="Shape 3"/>
          <p:cNvSpPr/>
          <p:nvPr/>
        </p:nvSpPr>
        <p:spPr>
          <a:xfrm>
            <a:off x="630936" y="1371600"/>
            <a:ext cx="457200" cy="457200"/>
          </a:xfrm>
          <a:prstGeom prst="roundRect">
            <a:avLst>
              <a:gd name="adj" fmla="val 12000"/>
            </a:avLst>
          </a:prstGeom>
          <a:solidFill>
            <a:srgbClr val="1B3A2A"/>
          </a:solidFill>
          <a:ln/>
        </p:spPr>
        <p:txBody>
          <a:bodyPr/>
          <a:p/>
        </p:txBody>
      </p:sp>
      <p:sp>
        <p:nvSpPr>
          <p:cNvPr id="6" name="Text 4"/>
          <p:cNvSpPr/>
          <p:nvPr/>
        </p:nvSpPr>
        <p:spPr>
          <a:xfrm>
            <a:off x="630936" y="1371600"/>
            <a:ext cx="457200" cy="457200"/>
          </a:xfrm>
          <a:prstGeom prst="rect">
            <a:avLst/>
          </a:prstGeom>
          <a:noFill/>
          <a:ln/>
        </p:spPr>
        <p:txBody>
          <a:bodyPr wrap="square" lIns="0" tIns="0" rIns="0" bIns="0" rtlCol="0" anchor="ctr"/>
          <a:lstStyle/>
          <a:p>
            <a:pPr algn="ctr" indent="0" marL="0">
              <a:buNone/>
            </a:pPr>
            <a:r>
              <a:rPr lang="en-US" sz="1600" dirty="0">
                <a:solidFill>
                  <a:srgbClr val="C4A35A"/>
                </a:solidFill>
                <a:latin typeface="Georgia" pitchFamily="34" charset="0"/>
                <a:ea typeface="Georgia" pitchFamily="34" charset="-122"/>
                <a:cs typeface="Georgia" pitchFamily="34" charset="-120"/>
              </a:rPr>
              <a:t>1</a:t>
            </a:r>
            <a:endParaRPr lang="en-US" sz="1600" dirty="0"/>
          </a:p>
        </p:txBody>
      </p:sp>
      <p:sp>
        <p:nvSpPr>
          <p:cNvPr id="7" name="Text 5"/>
          <p:cNvSpPr/>
          <p:nvPr/>
        </p:nvSpPr>
        <p:spPr>
          <a:xfrm>
            <a:off x="1216152" y="1225296"/>
            <a:ext cx="4754880" cy="329184"/>
          </a:xfrm>
          <a:prstGeom prst="rect">
            <a:avLst/>
          </a:prstGeom>
          <a:noFill/>
          <a:ln/>
        </p:spPr>
        <p:txBody>
          <a:bodyPr wrap="square" lIns="0" tIns="0" rIns="0" bIns="0" rtlCol="0" anchor="ctr"/>
          <a:lstStyle/>
          <a:p>
            <a:pPr indent="0" marL="0">
              <a:buNone/>
            </a:pPr>
            <a:r>
              <a:rPr lang="en-US" sz="1500" b="1" dirty="0">
                <a:solidFill>
                  <a:srgbClr val="1B3A2A"/>
                </a:solidFill>
                <a:latin typeface="Arial" pitchFamily="34" charset="0"/>
                <a:ea typeface="Arial" pitchFamily="34" charset="-122"/>
                <a:cs typeface="Arial" pitchFamily="34" charset="-120"/>
              </a:rPr>
              <a:t>Cry of the Earth</a:t>
            </a:r>
            <a:endParaRPr lang="en-US" sz="1500" dirty="0"/>
          </a:p>
        </p:txBody>
      </p:sp>
      <p:sp>
        <p:nvSpPr>
          <p:cNvPr id="8" name="Text 6"/>
          <p:cNvSpPr/>
          <p:nvPr/>
        </p:nvSpPr>
        <p:spPr>
          <a:xfrm>
            <a:off x="1216152" y="1554480"/>
            <a:ext cx="4754880" cy="384048"/>
          </a:xfrm>
          <a:prstGeom prst="rect">
            <a:avLst/>
          </a:prstGeom>
          <a:noFill/>
          <a:ln/>
        </p:spPr>
        <p:txBody>
          <a:bodyPr wrap="square" lIns="0" tIns="0" rIns="0" bIns="0" rtlCol="0" anchor="ctr"/>
          <a:lstStyle/>
          <a:p>
            <a:pPr indent="0" marL="0">
              <a:buNone/>
            </a:pPr>
            <a:r>
              <a:rPr lang="en-US" sz="1300" dirty="0">
                <a:solidFill>
                  <a:srgbClr val="4A554C"/>
                </a:solidFill>
                <a:latin typeface="Arial" pitchFamily="34" charset="0"/>
                <a:ea typeface="Arial" pitchFamily="34" charset="-122"/>
                <a:cs typeface="Arial" pitchFamily="34" charset="-120"/>
              </a:rPr>
              <a:t>Protect the gift: water, soil, creatures, school grounds.</a:t>
            </a:r>
            <a:endParaRPr lang="en-US" sz="1300" dirty="0"/>
          </a:p>
        </p:txBody>
      </p:sp>
      <p:sp>
        <p:nvSpPr>
          <p:cNvPr id="9" name="Shape 7"/>
          <p:cNvSpPr/>
          <p:nvPr/>
        </p:nvSpPr>
        <p:spPr>
          <a:xfrm>
            <a:off x="502920" y="2194560"/>
            <a:ext cx="5623560" cy="969264"/>
          </a:xfrm>
          <a:prstGeom prst="roundRect">
            <a:avLst>
              <a:gd name="adj" fmla="val 5660"/>
            </a:avLst>
          </a:prstGeom>
          <a:solidFill>
            <a:srgbClr val="FFFBF3"/>
          </a:solidFill>
          <a:ln/>
        </p:spPr>
        <p:txBody>
          <a:bodyPr/>
          <a:p/>
        </p:txBody>
      </p:sp>
      <p:sp>
        <p:nvSpPr>
          <p:cNvPr id="10" name="Shape 8"/>
          <p:cNvSpPr/>
          <p:nvPr/>
        </p:nvSpPr>
        <p:spPr>
          <a:xfrm>
            <a:off x="630936" y="2450592"/>
            <a:ext cx="457200" cy="457200"/>
          </a:xfrm>
          <a:prstGeom prst="roundRect">
            <a:avLst>
              <a:gd name="adj" fmla="val 12000"/>
            </a:avLst>
          </a:prstGeom>
          <a:solidFill>
            <a:srgbClr val="1B3A2A"/>
          </a:solidFill>
          <a:ln/>
        </p:spPr>
        <p:txBody>
          <a:bodyPr/>
          <a:p/>
        </p:txBody>
      </p:sp>
      <p:sp>
        <p:nvSpPr>
          <p:cNvPr id="11" name="Text 9"/>
          <p:cNvSpPr/>
          <p:nvPr/>
        </p:nvSpPr>
        <p:spPr>
          <a:xfrm>
            <a:off x="630936" y="2450592"/>
            <a:ext cx="457200" cy="457200"/>
          </a:xfrm>
          <a:prstGeom prst="rect">
            <a:avLst/>
          </a:prstGeom>
          <a:noFill/>
          <a:ln/>
        </p:spPr>
        <p:txBody>
          <a:bodyPr wrap="square" lIns="0" tIns="0" rIns="0" bIns="0" rtlCol="0" anchor="ctr"/>
          <a:lstStyle/>
          <a:p>
            <a:pPr algn="ctr" indent="0" marL="0">
              <a:buNone/>
            </a:pPr>
            <a:r>
              <a:rPr lang="en-US" sz="1600" dirty="0">
                <a:solidFill>
                  <a:srgbClr val="C4A35A"/>
                </a:solidFill>
                <a:latin typeface="Georgia" pitchFamily="34" charset="0"/>
                <a:ea typeface="Georgia" pitchFamily="34" charset="-122"/>
                <a:cs typeface="Georgia" pitchFamily="34" charset="-120"/>
              </a:rPr>
              <a:t>2</a:t>
            </a:r>
            <a:endParaRPr lang="en-US" sz="1600" dirty="0"/>
          </a:p>
        </p:txBody>
      </p:sp>
      <p:sp>
        <p:nvSpPr>
          <p:cNvPr id="12" name="Text 10"/>
          <p:cNvSpPr/>
          <p:nvPr/>
        </p:nvSpPr>
        <p:spPr>
          <a:xfrm>
            <a:off x="1216152" y="2304288"/>
            <a:ext cx="4754880" cy="329184"/>
          </a:xfrm>
          <a:prstGeom prst="rect">
            <a:avLst/>
          </a:prstGeom>
          <a:noFill/>
          <a:ln/>
        </p:spPr>
        <p:txBody>
          <a:bodyPr wrap="square" lIns="0" tIns="0" rIns="0" bIns="0" rtlCol="0" anchor="ctr"/>
          <a:lstStyle/>
          <a:p>
            <a:pPr indent="0" marL="0">
              <a:buNone/>
            </a:pPr>
            <a:r>
              <a:rPr lang="en-US" sz="1500" b="1" dirty="0">
                <a:solidFill>
                  <a:srgbClr val="1B3A2A"/>
                </a:solidFill>
                <a:latin typeface="Arial" pitchFamily="34" charset="0"/>
                <a:ea typeface="Arial" pitchFamily="34" charset="-122"/>
                <a:cs typeface="Arial" pitchFamily="34" charset="-120"/>
              </a:rPr>
              <a:t>Cry of the Poor</a:t>
            </a:r>
            <a:endParaRPr lang="en-US" sz="1500" dirty="0"/>
          </a:p>
        </p:txBody>
      </p:sp>
      <p:sp>
        <p:nvSpPr>
          <p:cNvPr id="13" name="Text 11"/>
          <p:cNvSpPr/>
          <p:nvPr/>
        </p:nvSpPr>
        <p:spPr>
          <a:xfrm>
            <a:off x="1216152" y="2633472"/>
            <a:ext cx="4754880" cy="384048"/>
          </a:xfrm>
          <a:prstGeom prst="rect">
            <a:avLst/>
          </a:prstGeom>
          <a:noFill/>
          <a:ln/>
        </p:spPr>
        <p:txBody>
          <a:bodyPr wrap="square" lIns="0" tIns="0" rIns="0" bIns="0" rtlCol="0" anchor="ctr"/>
          <a:lstStyle/>
          <a:p>
            <a:pPr indent="0" marL="0">
              <a:buNone/>
            </a:pPr>
            <a:r>
              <a:rPr lang="en-US" sz="1300" dirty="0">
                <a:solidFill>
                  <a:srgbClr val="4A554C"/>
                </a:solidFill>
                <a:latin typeface="Arial" pitchFamily="34" charset="0"/>
                <a:ea typeface="Arial" pitchFamily="34" charset="-122"/>
                <a:cs typeface="Arial" pitchFamily="34" charset="-120"/>
              </a:rPr>
              <a:t>Notice who is hurt first when creation is wounded.</a:t>
            </a:r>
            <a:endParaRPr lang="en-US" sz="1300" dirty="0"/>
          </a:p>
        </p:txBody>
      </p:sp>
      <p:sp>
        <p:nvSpPr>
          <p:cNvPr id="14" name="Shape 12"/>
          <p:cNvSpPr/>
          <p:nvPr/>
        </p:nvSpPr>
        <p:spPr>
          <a:xfrm>
            <a:off x="502920" y="3273552"/>
            <a:ext cx="5623560" cy="969264"/>
          </a:xfrm>
          <a:prstGeom prst="roundRect">
            <a:avLst>
              <a:gd name="adj" fmla="val 5660"/>
            </a:avLst>
          </a:prstGeom>
          <a:solidFill>
            <a:srgbClr val="FFFBF3"/>
          </a:solidFill>
          <a:ln/>
        </p:spPr>
        <p:txBody>
          <a:bodyPr/>
          <a:p/>
        </p:txBody>
      </p:sp>
      <p:sp>
        <p:nvSpPr>
          <p:cNvPr id="15" name="Shape 13"/>
          <p:cNvSpPr/>
          <p:nvPr/>
        </p:nvSpPr>
        <p:spPr>
          <a:xfrm>
            <a:off x="630936" y="3529584"/>
            <a:ext cx="457200" cy="457200"/>
          </a:xfrm>
          <a:prstGeom prst="roundRect">
            <a:avLst>
              <a:gd name="adj" fmla="val 12000"/>
            </a:avLst>
          </a:prstGeom>
          <a:solidFill>
            <a:srgbClr val="1B3A2A"/>
          </a:solidFill>
          <a:ln/>
        </p:spPr>
        <p:txBody>
          <a:bodyPr/>
          <a:p/>
        </p:txBody>
      </p:sp>
      <p:sp>
        <p:nvSpPr>
          <p:cNvPr id="16" name="Text 14"/>
          <p:cNvSpPr/>
          <p:nvPr/>
        </p:nvSpPr>
        <p:spPr>
          <a:xfrm>
            <a:off x="630936" y="3529584"/>
            <a:ext cx="457200" cy="457200"/>
          </a:xfrm>
          <a:prstGeom prst="rect">
            <a:avLst/>
          </a:prstGeom>
          <a:noFill/>
          <a:ln/>
        </p:spPr>
        <p:txBody>
          <a:bodyPr wrap="square" lIns="0" tIns="0" rIns="0" bIns="0" rtlCol="0" anchor="ctr"/>
          <a:lstStyle/>
          <a:p>
            <a:pPr algn="ctr" indent="0" marL="0">
              <a:buNone/>
            </a:pPr>
            <a:r>
              <a:rPr lang="en-US" sz="1600" dirty="0">
                <a:solidFill>
                  <a:srgbClr val="C4A35A"/>
                </a:solidFill>
                <a:latin typeface="Georgia" pitchFamily="34" charset="0"/>
                <a:ea typeface="Georgia" pitchFamily="34" charset="-122"/>
                <a:cs typeface="Georgia" pitchFamily="34" charset="-120"/>
              </a:rPr>
              <a:t>3</a:t>
            </a:r>
            <a:endParaRPr lang="en-US" sz="1600" dirty="0"/>
          </a:p>
        </p:txBody>
      </p:sp>
      <p:sp>
        <p:nvSpPr>
          <p:cNvPr id="17" name="Text 15"/>
          <p:cNvSpPr/>
          <p:nvPr/>
        </p:nvSpPr>
        <p:spPr>
          <a:xfrm>
            <a:off x="1216152" y="3383280"/>
            <a:ext cx="4754880" cy="329184"/>
          </a:xfrm>
          <a:prstGeom prst="rect">
            <a:avLst/>
          </a:prstGeom>
          <a:noFill/>
          <a:ln/>
        </p:spPr>
        <p:txBody>
          <a:bodyPr wrap="square" lIns="0" tIns="0" rIns="0" bIns="0" rtlCol="0" anchor="ctr"/>
          <a:lstStyle/>
          <a:p>
            <a:pPr indent="0" marL="0">
              <a:buNone/>
            </a:pPr>
            <a:r>
              <a:rPr lang="en-US" sz="1500" b="1" dirty="0">
                <a:solidFill>
                  <a:srgbClr val="1B3A2A"/>
                </a:solidFill>
                <a:latin typeface="Arial" pitchFamily="34" charset="0"/>
                <a:ea typeface="Arial" pitchFamily="34" charset="-122"/>
                <a:cs typeface="Arial" pitchFamily="34" charset="-120"/>
              </a:rPr>
              <a:t>Ecological Economics</a:t>
            </a:r>
            <a:endParaRPr lang="en-US" sz="1500" dirty="0"/>
          </a:p>
        </p:txBody>
      </p:sp>
      <p:sp>
        <p:nvSpPr>
          <p:cNvPr id="18" name="Text 16"/>
          <p:cNvSpPr/>
          <p:nvPr/>
        </p:nvSpPr>
        <p:spPr>
          <a:xfrm>
            <a:off x="1216152" y="3712464"/>
            <a:ext cx="4754880" cy="384048"/>
          </a:xfrm>
          <a:prstGeom prst="rect">
            <a:avLst/>
          </a:prstGeom>
          <a:noFill/>
          <a:ln/>
        </p:spPr>
        <p:txBody>
          <a:bodyPr wrap="square" lIns="0" tIns="0" rIns="0" bIns="0" rtlCol="0" anchor="ctr"/>
          <a:lstStyle/>
          <a:p>
            <a:pPr indent="0" marL="0">
              <a:buNone/>
            </a:pPr>
            <a:r>
              <a:rPr lang="en-US" sz="1300" dirty="0">
                <a:solidFill>
                  <a:srgbClr val="4A554C"/>
                </a:solidFill>
                <a:latin typeface="Arial" pitchFamily="34" charset="0"/>
                <a:ea typeface="Arial" pitchFamily="34" charset="-122"/>
                <a:cs typeface="Arial" pitchFamily="34" charset="-120"/>
              </a:rPr>
              <a:t>Ask: is this purchase needed? Can we share or repair?</a:t>
            </a:r>
            <a:endParaRPr lang="en-US" sz="1300" dirty="0"/>
          </a:p>
        </p:txBody>
      </p:sp>
      <p:sp>
        <p:nvSpPr>
          <p:cNvPr id="19" name="Shape 17"/>
          <p:cNvSpPr/>
          <p:nvPr/>
        </p:nvSpPr>
        <p:spPr>
          <a:xfrm>
            <a:off x="502920" y="4352544"/>
            <a:ext cx="5623560" cy="969264"/>
          </a:xfrm>
          <a:prstGeom prst="roundRect">
            <a:avLst>
              <a:gd name="adj" fmla="val 5660"/>
            </a:avLst>
          </a:prstGeom>
          <a:solidFill>
            <a:srgbClr val="FFFBF3"/>
          </a:solidFill>
          <a:ln/>
        </p:spPr>
        <p:txBody>
          <a:bodyPr/>
          <a:p/>
        </p:txBody>
      </p:sp>
      <p:sp>
        <p:nvSpPr>
          <p:cNvPr id="20" name="Shape 18"/>
          <p:cNvSpPr/>
          <p:nvPr/>
        </p:nvSpPr>
        <p:spPr>
          <a:xfrm>
            <a:off x="630936" y="4608576"/>
            <a:ext cx="457200" cy="457200"/>
          </a:xfrm>
          <a:prstGeom prst="roundRect">
            <a:avLst>
              <a:gd name="adj" fmla="val 12000"/>
            </a:avLst>
          </a:prstGeom>
          <a:solidFill>
            <a:srgbClr val="1B3A2A"/>
          </a:solidFill>
          <a:ln/>
        </p:spPr>
        <p:txBody>
          <a:bodyPr/>
          <a:p/>
        </p:txBody>
      </p:sp>
      <p:sp>
        <p:nvSpPr>
          <p:cNvPr id="21" name="Text 19"/>
          <p:cNvSpPr/>
          <p:nvPr/>
        </p:nvSpPr>
        <p:spPr>
          <a:xfrm>
            <a:off x="630936" y="4608576"/>
            <a:ext cx="457200" cy="457200"/>
          </a:xfrm>
          <a:prstGeom prst="rect">
            <a:avLst/>
          </a:prstGeom>
          <a:noFill/>
          <a:ln/>
        </p:spPr>
        <p:txBody>
          <a:bodyPr wrap="square" lIns="0" tIns="0" rIns="0" bIns="0" rtlCol="0" anchor="ctr"/>
          <a:lstStyle/>
          <a:p>
            <a:pPr algn="ctr" indent="0" marL="0">
              <a:buNone/>
            </a:pPr>
            <a:r>
              <a:rPr lang="en-US" sz="1600" dirty="0">
                <a:solidFill>
                  <a:srgbClr val="C4A35A"/>
                </a:solidFill>
                <a:latin typeface="Georgia" pitchFamily="34" charset="0"/>
                <a:ea typeface="Georgia" pitchFamily="34" charset="-122"/>
                <a:cs typeface="Georgia" pitchFamily="34" charset="-120"/>
              </a:rPr>
              <a:t>4</a:t>
            </a:r>
            <a:endParaRPr lang="en-US" sz="1600" dirty="0"/>
          </a:p>
        </p:txBody>
      </p:sp>
      <p:sp>
        <p:nvSpPr>
          <p:cNvPr id="22" name="Text 20"/>
          <p:cNvSpPr/>
          <p:nvPr/>
        </p:nvSpPr>
        <p:spPr>
          <a:xfrm>
            <a:off x="1216152" y="4462272"/>
            <a:ext cx="4754880" cy="329184"/>
          </a:xfrm>
          <a:prstGeom prst="rect">
            <a:avLst/>
          </a:prstGeom>
          <a:noFill/>
          <a:ln/>
        </p:spPr>
        <p:txBody>
          <a:bodyPr wrap="square" lIns="0" tIns="0" rIns="0" bIns="0" rtlCol="0" anchor="ctr"/>
          <a:lstStyle/>
          <a:p>
            <a:pPr indent="0" marL="0">
              <a:buNone/>
            </a:pPr>
            <a:r>
              <a:rPr lang="en-US" sz="1500" b="1" dirty="0">
                <a:solidFill>
                  <a:srgbClr val="1B3A2A"/>
                </a:solidFill>
                <a:latin typeface="Arial" pitchFamily="34" charset="0"/>
                <a:ea typeface="Arial" pitchFamily="34" charset="-122"/>
                <a:cs typeface="Arial" pitchFamily="34" charset="-120"/>
              </a:rPr>
              <a:t>Sustainable Lifestyles</a:t>
            </a:r>
            <a:endParaRPr lang="en-US" sz="1500" dirty="0"/>
          </a:p>
        </p:txBody>
      </p:sp>
      <p:sp>
        <p:nvSpPr>
          <p:cNvPr id="23" name="Text 21"/>
          <p:cNvSpPr/>
          <p:nvPr/>
        </p:nvSpPr>
        <p:spPr>
          <a:xfrm>
            <a:off x="1216152" y="4791456"/>
            <a:ext cx="4754880" cy="384048"/>
          </a:xfrm>
          <a:prstGeom prst="rect">
            <a:avLst/>
          </a:prstGeom>
          <a:noFill/>
          <a:ln/>
        </p:spPr>
        <p:txBody>
          <a:bodyPr wrap="square" lIns="0" tIns="0" rIns="0" bIns="0" rtlCol="0" anchor="ctr"/>
          <a:lstStyle/>
          <a:p>
            <a:pPr indent="0" marL="0">
              <a:buNone/>
            </a:pPr>
            <a:r>
              <a:rPr lang="en-US" sz="1300" dirty="0">
                <a:solidFill>
                  <a:srgbClr val="4A554C"/>
                </a:solidFill>
                <a:latin typeface="Arial" pitchFamily="34" charset="0"/>
                <a:ea typeface="Arial" pitchFamily="34" charset="-122"/>
                <a:cs typeface="Arial" pitchFamily="34" charset="-120"/>
              </a:rPr>
              <a:t>Daily habits: lights, paper, lunch waste, walking.</a:t>
            </a:r>
            <a:endParaRPr lang="en-US" sz="1300" dirty="0"/>
          </a:p>
        </p:txBody>
      </p:sp>
      <p:sp>
        <p:nvSpPr>
          <p:cNvPr id="24" name="Shape 22"/>
          <p:cNvSpPr/>
          <p:nvPr/>
        </p:nvSpPr>
        <p:spPr>
          <a:xfrm>
            <a:off x="6309360" y="1115568"/>
            <a:ext cx="5623560" cy="969264"/>
          </a:xfrm>
          <a:prstGeom prst="roundRect">
            <a:avLst>
              <a:gd name="adj" fmla="val 5660"/>
            </a:avLst>
          </a:prstGeom>
          <a:solidFill>
            <a:srgbClr val="FFFBF3"/>
          </a:solidFill>
          <a:ln/>
        </p:spPr>
        <p:txBody>
          <a:bodyPr/>
          <a:p/>
        </p:txBody>
      </p:sp>
      <p:sp>
        <p:nvSpPr>
          <p:cNvPr id="25" name="Shape 23"/>
          <p:cNvSpPr/>
          <p:nvPr/>
        </p:nvSpPr>
        <p:spPr>
          <a:xfrm>
            <a:off x="6437376" y="1371600"/>
            <a:ext cx="457200" cy="457200"/>
          </a:xfrm>
          <a:prstGeom prst="roundRect">
            <a:avLst>
              <a:gd name="adj" fmla="val 12000"/>
            </a:avLst>
          </a:prstGeom>
          <a:solidFill>
            <a:srgbClr val="1B3A2A"/>
          </a:solidFill>
          <a:ln/>
        </p:spPr>
        <p:txBody>
          <a:bodyPr/>
          <a:p/>
        </p:txBody>
      </p:sp>
      <p:sp>
        <p:nvSpPr>
          <p:cNvPr id="26" name="Text 24"/>
          <p:cNvSpPr/>
          <p:nvPr/>
        </p:nvSpPr>
        <p:spPr>
          <a:xfrm>
            <a:off x="6437376" y="1371600"/>
            <a:ext cx="457200" cy="457200"/>
          </a:xfrm>
          <a:prstGeom prst="rect">
            <a:avLst/>
          </a:prstGeom>
          <a:noFill/>
          <a:ln/>
        </p:spPr>
        <p:txBody>
          <a:bodyPr wrap="square" lIns="0" tIns="0" rIns="0" bIns="0" rtlCol="0" anchor="ctr"/>
          <a:lstStyle/>
          <a:p>
            <a:pPr algn="ctr" indent="0" marL="0">
              <a:buNone/>
            </a:pPr>
            <a:r>
              <a:rPr lang="en-US" sz="1600" dirty="0">
                <a:solidFill>
                  <a:srgbClr val="C4A35A"/>
                </a:solidFill>
                <a:latin typeface="Georgia" pitchFamily="34" charset="0"/>
                <a:ea typeface="Georgia" pitchFamily="34" charset="-122"/>
                <a:cs typeface="Georgia" pitchFamily="34" charset="-120"/>
              </a:rPr>
              <a:t>5</a:t>
            </a:r>
            <a:endParaRPr lang="en-US" sz="1600" dirty="0"/>
          </a:p>
        </p:txBody>
      </p:sp>
      <p:sp>
        <p:nvSpPr>
          <p:cNvPr id="27" name="Text 25"/>
          <p:cNvSpPr/>
          <p:nvPr/>
        </p:nvSpPr>
        <p:spPr>
          <a:xfrm>
            <a:off x="7022592" y="1225296"/>
            <a:ext cx="4754880" cy="329184"/>
          </a:xfrm>
          <a:prstGeom prst="rect">
            <a:avLst/>
          </a:prstGeom>
          <a:noFill/>
          <a:ln/>
        </p:spPr>
        <p:txBody>
          <a:bodyPr wrap="square" lIns="0" tIns="0" rIns="0" bIns="0" rtlCol="0" anchor="ctr"/>
          <a:lstStyle/>
          <a:p>
            <a:pPr indent="0" marL="0">
              <a:buNone/>
            </a:pPr>
            <a:r>
              <a:rPr lang="en-US" sz="1500" b="1" dirty="0">
                <a:solidFill>
                  <a:srgbClr val="1B3A2A"/>
                </a:solidFill>
                <a:latin typeface="Arial" pitchFamily="34" charset="0"/>
                <a:ea typeface="Arial" pitchFamily="34" charset="-122"/>
                <a:cs typeface="Arial" pitchFamily="34" charset="-120"/>
              </a:rPr>
              <a:t>Ecological Education</a:t>
            </a:r>
            <a:endParaRPr lang="en-US" sz="1500" dirty="0"/>
          </a:p>
        </p:txBody>
      </p:sp>
      <p:sp>
        <p:nvSpPr>
          <p:cNvPr id="28" name="Text 26"/>
          <p:cNvSpPr/>
          <p:nvPr/>
        </p:nvSpPr>
        <p:spPr>
          <a:xfrm>
            <a:off x="7022592" y="1554480"/>
            <a:ext cx="4754880" cy="384048"/>
          </a:xfrm>
          <a:prstGeom prst="rect">
            <a:avLst/>
          </a:prstGeom>
          <a:noFill/>
          <a:ln/>
        </p:spPr>
        <p:txBody>
          <a:bodyPr wrap="square" lIns="0" tIns="0" rIns="0" bIns="0" rtlCol="0" anchor="ctr"/>
          <a:lstStyle/>
          <a:p>
            <a:pPr indent="0" marL="0">
              <a:buNone/>
            </a:pPr>
            <a:r>
              <a:rPr lang="en-US" sz="1300" dirty="0">
                <a:solidFill>
                  <a:srgbClr val="4A554C"/>
                </a:solidFill>
                <a:latin typeface="Arial" pitchFamily="34" charset="0"/>
                <a:ea typeface="Arial" pitchFamily="34" charset="-122"/>
                <a:cs typeface="Arial" pitchFamily="34" charset="-120"/>
              </a:rPr>
              <a:t>Teach it on purpose, in every subject, every year.</a:t>
            </a:r>
            <a:endParaRPr lang="en-US" sz="1300" dirty="0"/>
          </a:p>
        </p:txBody>
      </p:sp>
      <p:sp>
        <p:nvSpPr>
          <p:cNvPr id="29" name="Shape 27"/>
          <p:cNvSpPr/>
          <p:nvPr/>
        </p:nvSpPr>
        <p:spPr>
          <a:xfrm>
            <a:off x="6309360" y="2194560"/>
            <a:ext cx="5623560" cy="969264"/>
          </a:xfrm>
          <a:prstGeom prst="roundRect">
            <a:avLst>
              <a:gd name="adj" fmla="val 5660"/>
            </a:avLst>
          </a:prstGeom>
          <a:solidFill>
            <a:srgbClr val="FFFBF3"/>
          </a:solidFill>
          <a:ln/>
        </p:spPr>
        <p:txBody>
          <a:bodyPr/>
          <a:p/>
        </p:txBody>
      </p:sp>
      <p:sp>
        <p:nvSpPr>
          <p:cNvPr id="30" name="Shape 28"/>
          <p:cNvSpPr/>
          <p:nvPr/>
        </p:nvSpPr>
        <p:spPr>
          <a:xfrm>
            <a:off x="6437376" y="2450592"/>
            <a:ext cx="457200" cy="457200"/>
          </a:xfrm>
          <a:prstGeom prst="roundRect">
            <a:avLst>
              <a:gd name="adj" fmla="val 12000"/>
            </a:avLst>
          </a:prstGeom>
          <a:solidFill>
            <a:srgbClr val="1B3A2A"/>
          </a:solidFill>
          <a:ln/>
        </p:spPr>
        <p:txBody>
          <a:bodyPr/>
          <a:p/>
        </p:txBody>
      </p:sp>
      <p:sp>
        <p:nvSpPr>
          <p:cNvPr id="31" name="Text 29"/>
          <p:cNvSpPr/>
          <p:nvPr/>
        </p:nvSpPr>
        <p:spPr>
          <a:xfrm>
            <a:off x="6437376" y="2450592"/>
            <a:ext cx="457200" cy="457200"/>
          </a:xfrm>
          <a:prstGeom prst="rect">
            <a:avLst/>
          </a:prstGeom>
          <a:noFill/>
          <a:ln/>
        </p:spPr>
        <p:txBody>
          <a:bodyPr wrap="square" lIns="0" tIns="0" rIns="0" bIns="0" rtlCol="0" anchor="ctr"/>
          <a:lstStyle/>
          <a:p>
            <a:pPr algn="ctr" indent="0" marL="0">
              <a:buNone/>
            </a:pPr>
            <a:r>
              <a:rPr lang="en-US" sz="1600" dirty="0">
                <a:solidFill>
                  <a:srgbClr val="C4A35A"/>
                </a:solidFill>
                <a:latin typeface="Georgia" pitchFamily="34" charset="0"/>
                <a:ea typeface="Georgia" pitchFamily="34" charset="-122"/>
                <a:cs typeface="Georgia" pitchFamily="34" charset="-120"/>
              </a:rPr>
              <a:t>6</a:t>
            </a:r>
            <a:endParaRPr lang="en-US" sz="1600" dirty="0"/>
          </a:p>
        </p:txBody>
      </p:sp>
      <p:sp>
        <p:nvSpPr>
          <p:cNvPr id="32" name="Text 30"/>
          <p:cNvSpPr/>
          <p:nvPr/>
        </p:nvSpPr>
        <p:spPr>
          <a:xfrm>
            <a:off x="7022592" y="2304288"/>
            <a:ext cx="4754880" cy="329184"/>
          </a:xfrm>
          <a:prstGeom prst="rect">
            <a:avLst/>
          </a:prstGeom>
          <a:noFill/>
          <a:ln/>
        </p:spPr>
        <p:txBody>
          <a:bodyPr wrap="square" lIns="0" tIns="0" rIns="0" bIns="0" rtlCol="0" anchor="ctr"/>
          <a:lstStyle/>
          <a:p>
            <a:pPr indent="0" marL="0">
              <a:buNone/>
            </a:pPr>
            <a:r>
              <a:rPr lang="en-US" sz="1500" b="1" dirty="0">
                <a:solidFill>
                  <a:srgbClr val="1B3A2A"/>
                </a:solidFill>
                <a:latin typeface="Arial" pitchFamily="34" charset="0"/>
                <a:ea typeface="Arial" pitchFamily="34" charset="-122"/>
                <a:cs typeface="Arial" pitchFamily="34" charset="-120"/>
              </a:rPr>
              <a:t>Ecological Spirituality</a:t>
            </a:r>
            <a:endParaRPr lang="en-US" sz="1500" dirty="0"/>
          </a:p>
        </p:txBody>
      </p:sp>
      <p:sp>
        <p:nvSpPr>
          <p:cNvPr id="33" name="Text 31"/>
          <p:cNvSpPr/>
          <p:nvPr/>
        </p:nvSpPr>
        <p:spPr>
          <a:xfrm>
            <a:off x="7022592" y="2633472"/>
            <a:ext cx="4754880" cy="384048"/>
          </a:xfrm>
          <a:prstGeom prst="rect">
            <a:avLst/>
          </a:prstGeom>
          <a:noFill/>
          <a:ln/>
        </p:spPr>
        <p:txBody>
          <a:bodyPr wrap="square" lIns="0" tIns="0" rIns="0" bIns="0" rtlCol="0" anchor="ctr"/>
          <a:lstStyle/>
          <a:p>
            <a:pPr indent="0" marL="0">
              <a:buNone/>
            </a:pPr>
            <a:r>
              <a:rPr lang="en-US" sz="1300" dirty="0">
                <a:solidFill>
                  <a:srgbClr val="4A554C"/>
                </a:solidFill>
                <a:latin typeface="Arial" pitchFamily="34" charset="0"/>
                <a:ea typeface="Arial" pitchFamily="34" charset="-122"/>
                <a:cs typeface="Arial" pitchFamily="34" charset="-120"/>
              </a:rPr>
              <a:t>Find God in what He has made. Pray outdoors.</a:t>
            </a:r>
            <a:endParaRPr lang="en-US" sz="1300" dirty="0"/>
          </a:p>
        </p:txBody>
      </p:sp>
      <p:sp>
        <p:nvSpPr>
          <p:cNvPr id="34" name="Shape 32"/>
          <p:cNvSpPr/>
          <p:nvPr/>
        </p:nvSpPr>
        <p:spPr>
          <a:xfrm>
            <a:off x="6309360" y="3273552"/>
            <a:ext cx="5623560" cy="969264"/>
          </a:xfrm>
          <a:prstGeom prst="roundRect">
            <a:avLst>
              <a:gd name="adj" fmla="val 5660"/>
            </a:avLst>
          </a:prstGeom>
          <a:solidFill>
            <a:srgbClr val="FFFBF3"/>
          </a:solidFill>
          <a:ln/>
        </p:spPr>
        <p:txBody>
          <a:bodyPr/>
          <a:p/>
        </p:txBody>
      </p:sp>
      <p:sp>
        <p:nvSpPr>
          <p:cNvPr id="35" name="Shape 33"/>
          <p:cNvSpPr/>
          <p:nvPr/>
        </p:nvSpPr>
        <p:spPr>
          <a:xfrm>
            <a:off x="6437376" y="3529584"/>
            <a:ext cx="457200" cy="457200"/>
          </a:xfrm>
          <a:prstGeom prst="roundRect">
            <a:avLst>
              <a:gd name="adj" fmla="val 12000"/>
            </a:avLst>
          </a:prstGeom>
          <a:solidFill>
            <a:srgbClr val="1B3A2A"/>
          </a:solidFill>
          <a:ln/>
        </p:spPr>
        <p:txBody>
          <a:bodyPr/>
          <a:p/>
        </p:txBody>
      </p:sp>
      <p:sp>
        <p:nvSpPr>
          <p:cNvPr id="36" name="Text 34"/>
          <p:cNvSpPr/>
          <p:nvPr/>
        </p:nvSpPr>
        <p:spPr>
          <a:xfrm>
            <a:off x="6437376" y="3529584"/>
            <a:ext cx="457200" cy="457200"/>
          </a:xfrm>
          <a:prstGeom prst="rect">
            <a:avLst/>
          </a:prstGeom>
          <a:noFill/>
          <a:ln/>
        </p:spPr>
        <p:txBody>
          <a:bodyPr wrap="square" lIns="0" tIns="0" rIns="0" bIns="0" rtlCol="0" anchor="ctr"/>
          <a:lstStyle/>
          <a:p>
            <a:pPr algn="ctr" indent="0" marL="0">
              <a:buNone/>
            </a:pPr>
            <a:r>
              <a:rPr lang="en-US" sz="1600" dirty="0">
                <a:solidFill>
                  <a:srgbClr val="C4A35A"/>
                </a:solidFill>
                <a:latin typeface="Georgia" pitchFamily="34" charset="0"/>
                <a:ea typeface="Georgia" pitchFamily="34" charset="-122"/>
                <a:cs typeface="Georgia" pitchFamily="34" charset="-120"/>
              </a:rPr>
              <a:t>7</a:t>
            </a:r>
            <a:endParaRPr lang="en-US" sz="1600" dirty="0"/>
          </a:p>
        </p:txBody>
      </p:sp>
      <p:sp>
        <p:nvSpPr>
          <p:cNvPr id="37" name="Text 35"/>
          <p:cNvSpPr/>
          <p:nvPr/>
        </p:nvSpPr>
        <p:spPr>
          <a:xfrm>
            <a:off x="7022592" y="3383280"/>
            <a:ext cx="4754880" cy="329184"/>
          </a:xfrm>
          <a:prstGeom prst="rect">
            <a:avLst/>
          </a:prstGeom>
          <a:noFill/>
          <a:ln/>
        </p:spPr>
        <p:txBody>
          <a:bodyPr wrap="square" lIns="0" tIns="0" rIns="0" bIns="0" rtlCol="0" anchor="ctr"/>
          <a:lstStyle/>
          <a:p>
            <a:pPr indent="0" marL="0">
              <a:buNone/>
            </a:pPr>
            <a:r>
              <a:rPr lang="en-US" sz="1500" b="1" dirty="0">
                <a:solidFill>
                  <a:srgbClr val="1B3A2A"/>
                </a:solidFill>
                <a:latin typeface="Arial" pitchFamily="34" charset="0"/>
                <a:ea typeface="Arial" pitchFamily="34" charset="-122"/>
                <a:cs typeface="Arial" pitchFamily="34" charset="-120"/>
              </a:rPr>
              <a:t>Community Resilience</a:t>
            </a:r>
            <a:endParaRPr lang="en-US" sz="1500" dirty="0"/>
          </a:p>
        </p:txBody>
      </p:sp>
      <p:sp>
        <p:nvSpPr>
          <p:cNvPr id="38" name="Text 36"/>
          <p:cNvSpPr/>
          <p:nvPr/>
        </p:nvSpPr>
        <p:spPr>
          <a:xfrm>
            <a:off x="7022592" y="3712464"/>
            <a:ext cx="4754880" cy="384048"/>
          </a:xfrm>
          <a:prstGeom prst="rect">
            <a:avLst/>
          </a:prstGeom>
          <a:noFill/>
          <a:ln/>
        </p:spPr>
        <p:txBody>
          <a:bodyPr wrap="square" lIns="0" tIns="0" rIns="0" bIns="0" rtlCol="0" anchor="ctr"/>
          <a:lstStyle/>
          <a:p>
            <a:pPr indent="0" marL="0">
              <a:buNone/>
            </a:pPr>
            <a:r>
              <a:rPr lang="en-US" sz="1300" dirty="0">
                <a:solidFill>
                  <a:srgbClr val="4A554C"/>
                </a:solidFill>
                <a:latin typeface="Arial" pitchFamily="34" charset="0"/>
                <a:ea typeface="Arial" pitchFamily="34" charset="-122"/>
                <a:cs typeface="Arial" pitchFamily="34" charset="-120"/>
              </a:rPr>
              <a:t>Do this with parish, families, and neighborhood.</a:t>
            </a:r>
            <a:endParaRPr lang="en-US" sz="1300" dirty="0"/>
          </a:p>
        </p:txBody>
      </p:sp>
      <p:sp>
        <p:nvSpPr>
          <p:cNvPr id="39" name="Shape 37"/>
          <p:cNvSpPr/>
          <p:nvPr/>
        </p:nvSpPr>
        <p:spPr>
          <a:xfrm>
            <a:off x="6309360" y="4352544"/>
            <a:ext cx="5623560" cy="969264"/>
          </a:xfrm>
          <a:prstGeom prst="roundRect">
            <a:avLst>
              <a:gd name="adj" fmla="val 5660"/>
            </a:avLst>
          </a:prstGeom>
          <a:solidFill>
            <a:srgbClr val="1B3A2A"/>
          </a:solidFill>
          <a:ln/>
        </p:spPr>
        <p:txBody>
          <a:bodyPr/>
          <a:p/>
        </p:txBody>
      </p:sp>
      <p:sp>
        <p:nvSpPr>
          <p:cNvPr id="40" name="Text 38"/>
          <p:cNvSpPr/>
          <p:nvPr/>
        </p:nvSpPr>
        <p:spPr>
          <a:xfrm>
            <a:off x="6492240" y="4480560"/>
            <a:ext cx="5257800" cy="713232"/>
          </a:xfrm>
          <a:prstGeom prst="rect">
            <a:avLst/>
          </a:prstGeom>
          <a:noFill/>
          <a:ln/>
        </p:spPr>
        <p:txBody>
          <a:bodyPr wrap="square" lIns="0" tIns="0" rIns="0" bIns="0" rtlCol="0" anchor="ctr"/>
          <a:lstStyle/>
          <a:p>
            <a:pPr indent="0" marL="0">
              <a:buNone/>
            </a:pPr>
            <a:r>
              <a:rPr lang="en-US" sz="1400" dirty="0">
                <a:solidFill>
                  <a:srgbClr val="F4EFE2"/>
                </a:solidFill>
                <a:latin typeface="Arial" pitchFamily="34" charset="0"/>
                <a:ea typeface="Arial" pitchFamily="34" charset="-122"/>
                <a:cs typeface="Arial" pitchFamily="34" charset="-120"/>
              </a:rPr>
              <a:t>Teachers keep the framework. Children meet the goals as habits, stories, and jobs—not as a list of seven titles.</a:t>
            </a:r>
            <a:endParaRPr lang="en-US" sz="1400" dirty="0"/>
          </a:p>
        </p:txBody>
      </p:sp>
      <p:sp>
        <p:nvSpPr>
          <p:cNvPr id="41" name="Shape 39"/>
          <p:cNvSpPr/>
          <p:nvPr/>
        </p:nvSpPr>
        <p:spPr>
          <a:xfrm>
            <a:off x="502920" y="6510528"/>
            <a:ext cx="11183112" cy="0"/>
          </a:xfrm>
          <a:prstGeom prst="line">
            <a:avLst/>
          </a:prstGeom>
          <a:noFill/>
          <a:ln w="7620">
            <a:solidFill>
              <a:srgbClr val="C9C0A8"/>
            </a:solidFill>
            <a:prstDash val="solid"/>
          </a:ln>
        </p:spPr>
        <p:txBody>
          <a:bodyPr/>
          <a:p/>
        </p:txBody>
      </p:sp>
      <p:sp>
        <p:nvSpPr>
          <p:cNvPr id="42" name="Text 40"/>
          <p:cNvSpPr/>
          <p:nvPr/>
        </p:nvSpPr>
        <p:spPr>
          <a:xfrm>
            <a:off x="502920" y="6547104"/>
            <a:ext cx="8412480" cy="237744"/>
          </a:xfrm>
          <a:prstGeom prst="rect">
            <a:avLst/>
          </a:prstGeom>
          <a:noFill/>
          <a:ln/>
        </p:spPr>
        <p:txBody>
          <a:bodyPr wrap="square" lIns="0" tIns="0" rIns="0" bIns="0" rtlCol="0" anchor="ctr"/>
          <a:lstStyle/>
          <a:p>
            <a:pPr indent="0" marL="0">
              <a:buNone/>
            </a:pPr>
            <a:r>
              <a:rPr lang="en-US" sz="900" spc="120" kern="0" dirty="0">
                <a:solidFill>
                  <a:srgbClr val="6B736C"/>
                </a:solidFill>
                <a:latin typeface="Arial" pitchFamily="34" charset="0"/>
                <a:ea typeface="Arial" pitchFamily="34" charset="-122"/>
                <a:cs typeface="Arial" pitchFamily="34" charset="-120"/>
              </a:rPr>
              <a:t>CREATION CARE IN THE CLASSROOM  ·  K–5 CATHOLIC TEACHERS</a:t>
            </a:r>
            <a:endParaRPr lang="en-US" sz="900" dirty="0"/>
          </a:p>
        </p:txBody>
      </p:sp>
      <p:sp>
        <p:nvSpPr>
          <p:cNvPr id="43" name="Text 41"/>
          <p:cNvSpPr/>
          <p:nvPr/>
        </p:nvSpPr>
        <p:spPr>
          <a:xfrm>
            <a:off x="9509760" y="6547104"/>
            <a:ext cx="2176272" cy="237744"/>
          </a:xfrm>
          <a:prstGeom prst="rect">
            <a:avLst/>
          </a:prstGeom>
          <a:noFill/>
          <a:ln/>
        </p:spPr>
        <p:txBody>
          <a:bodyPr wrap="square" lIns="0" tIns="0" rIns="0" bIns="0" rtlCol="0" anchor="ctr"/>
          <a:lstStyle/>
          <a:p>
            <a:pPr algn="r" indent="0" marL="0">
              <a:buNone/>
            </a:pPr>
            <a:r>
              <a:rPr lang="en-US" sz="900" dirty="0">
                <a:solidFill>
                  <a:srgbClr val="6B736C"/>
                </a:solidFill>
                <a:latin typeface="Arial" pitchFamily="34" charset="0"/>
                <a:ea typeface="Arial" pitchFamily="34" charset="-122"/>
                <a:cs typeface="Arial" pitchFamily="34" charset="-120"/>
              </a:rPr>
              <a:t>11  /  30</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4EFE2"/>
        </a:solidFill>
      </p:bgPr>
    </p:bg>
    <p:spTree>
      <p:nvGrpSpPr>
        <p:cNvPr id="1" name=""/>
        <p:cNvGrpSpPr/>
        <p:nvPr/>
      </p:nvGrpSpPr>
      <p:grpSpPr>
        <a:xfrm>
          <a:off x="0" y="0"/>
          <a:ext cx="0" cy="0"/>
          <a:chOff x="0" y="0"/>
          <a:chExt cx="0" cy="0"/>
        </a:xfrm>
      </p:grpSpPr>
      <p:sp>
        <p:nvSpPr>
          <p:cNvPr id="2" name="Text 0"/>
          <p:cNvSpPr/>
          <p:nvPr/>
        </p:nvSpPr>
        <p:spPr>
          <a:xfrm>
            <a:off x="502920" y="256032"/>
            <a:ext cx="11155680" cy="219456"/>
          </a:xfrm>
          <a:prstGeom prst="rect">
            <a:avLst/>
          </a:prstGeom>
          <a:noFill/>
          <a:ln/>
        </p:spPr>
        <p:txBody>
          <a:bodyPr wrap="square" lIns="0" tIns="0" rIns="0" bIns="0" rtlCol="0" anchor="ctr"/>
          <a:lstStyle/>
          <a:p>
            <a:pPr indent="0" marL="0">
              <a:buNone/>
            </a:pPr>
            <a:r>
              <a:rPr lang="en-US" sz="1100" b="1" spc="220" kern="0" dirty="0">
                <a:solidFill>
                  <a:srgbClr val="4F7A5C"/>
                </a:solidFill>
                <a:latin typeface="Arial" pitchFamily="34" charset="0"/>
                <a:ea typeface="Arial" pitchFamily="34" charset="-122"/>
                <a:cs typeface="Arial" pitchFamily="34" charset="-120"/>
              </a:rPr>
              <a:t>10  ·  GRADES K–2</a:t>
            </a:r>
            <a:endParaRPr lang="en-US" sz="1100" dirty="0"/>
          </a:p>
        </p:txBody>
      </p:sp>
      <p:sp>
        <p:nvSpPr>
          <p:cNvPr id="3" name="Text 1"/>
          <p:cNvSpPr/>
          <p:nvPr/>
        </p:nvSpPr>
        <p:spPr>
          <a:xfrm>
            <a:off x="502920" y="475488"/>
            <a:ext cx="11155680" cy="475488"/>
          </a:xfrm>
          <a:prstGeom prst="rect">
            <a:avLst/>
          </a:prstGeom>
          <a:noFill/>
          <a:ln/>
        </p:spPr>
        <p:txBody>
          <a:bodyPr wrap="square" lIns="0" tIns="0" rIns="0" bIns="0" rtlCol="0" anchor="ctr"/>
          <a:lstStyle/>
          <a:p>
            <a:pPr indent="0" marL="0">
              <a:buNone/>
            </a:pPr>
            <a:r>
              <a:rPr lang="en-US" sz="2600" dirty="0">
                <a:solidFill>
                  <a:srgbClr val="1B3A2A"/>
                </a:solidFill>
                <a:latin typeface="Georgia" pitchFamily="34" charset="0"/>
                <a:ea typeface="Georgia" pitchFamily="34" charset="-122"/>
                <a:cs typeface="Georgia" pitchFamily="34" charset="-120"/>
              </a:rPr>
              <a:t>Wonder is the curriculum</a:t>
            </a:r>
            <a:endParaRPr lang="en-US" sz="2600" dirty="0"/>
          </a:p>
        </p:txBody>
      </p:sp>
      <p:sp>
        <p:nvSpPr>
          <p:cNvPr id="5" name="Shape 2"/>
          <p:cNvSpPr/>
          <p:nvPr/>
        </p:nvSpPr>
        <p:spPr>
          <a:xfrm>
            <a:off x="502920" y="4370832"/>
            <a:ext cx="4709160" cy="1508760"/>
          </a:xfrm>
          <a:prstGeom prst="roundRect">
            <a:avLst>
              <a:gd name="adj" fmla="val 3636"/>
            </a:avLst>
          </a:prstGeom>
          <a:solidFill>
            <a:srgbClr val="1B3A2A"/>
          </a:solidFill>
          <a:ln/>
        </p:spPr>
        <p:txBody>
          <a:bodyPr/>
          <a:p/>
        </p:txBody>
      </p:sp>
      <p:sp>
        <p:nvSpPr>
          <p:cNvPr id="6" name="Text 3"/>
          <p:cNvSpPr/>
          <p:nvPr/>
        </p:nvSpPr>
        <p:spPr>
          <a:xfrm>
            <a:off x="685800" y="4526280"/>
            <a:ext cx="4343400" cy="1234440"/>
          </a:xfrm>
          <a:prstGeom prst="rect">
            <a:avLst/>
          </a:prstGeom>
          <a:noFill/>
          <a:ln/>
        </p:spPr>
        <p:txBody>
          <a:bodyPr wrap="square" lIns="0" tIns="0" rIns="0" bIns="0" rtlCol="0" anchor="ctr"/>
          <a:lstStyle/>
          <a:p>
            <a:pPr indent="0" marL="0">
              <a:buNone/>
            </a:pPr>
            <a:r>
              <a:rPr lang="en-US" sz="1500" dirty="0">
                <a:solidFill>
                  <a:srgbClr val="F4EFE2"/>
                </a:solidFill>
                <a:latin typeface="Arial" pitchFamily="34" charset="0"/>
                <a:ea typeface="Arial" pitchFamily="34" charset="-122"/>
                <a:cs typeface="Arial" pitchFamily="34" charset="-120"/>
              </a:rPr>
              <a:t>Young children do not need a crisis. They need a relationship. Name the sparrow. Bless the rain. Let them get dirt under their nails.</a:t>
            </a:r>
            <a:endParaRPr lang="en-US" sz="1500" dirty="0"/>
          </a:p>
        </p:txBody>
      </p:sp>
      <p:sp>
        <p:nvSpPr>
          <p:cNvPr id="7" name="Text 4"/>
          <p:cNvSpPr/>
          <p:nvPr/>
        </p:nvSpPr>
        <p:spPr>
          <a:xfrm>
            <a:off x="5440680" y="1115568"/>
            <a:ext cx="6217920" cy="292608"/>
          </a:xfrm>
          <a:prstGeom prst="rect">
            <a:avLst/>
          </a:prstGeom>
          <a:noFill/>
          <a:ln/>
        </p:spPr>
        <p:txBody>
          <a:bodyPr wrap="square" lIns="0" tIns="0" rIns="0" bIns="0" rtlCol="0" anchor="ctr"/>
          <a:lstStyle/>
          <a:p>
            <a:pPr indent="0" marL="0">
              <a:buNone/>
            </a:pPr>
            <a:r>
              <a:rPr lang="en-US" sz="1500" b="1" dirty="0">
                <a:solidFill>
                  <a:srgbClr val="1B3A2A"/>
                </a:solidFill>
                <a:latin typeface="Arial" pitchFamily="34" charset="0"/>
                <a:ea typeface="Arial" pitchFamily="34" charset="-122"/>
                <a:cs typeface="Arial" pitchFamily="34" charset="-120"/>
              </a:rPr>
              <a:t>Creation walks</a:t>
            </a:r>
            <a:endParaRPr lang="en-US" sz="1500" dirty="0"/>
          </a:p>
        </p:txBody>
      </p:sp>
      <p:sp>
        <p:nvSpPr>
          <p:cNvPr id="8" name="Text 5"/>
          <p:cNvSpPr/>
          <p:nvPr/>
        </p:nvSpPr>
        <p:spPr>
          <a:xfrm>
            <a:off x="5440680" y="1408176"/>
            <a:ext cx="6217920" cy="566928"/>
          </a:xfrm>
          <a:prstGeom prst="rect">
            <a:avLst/>
          </a:prstGeom>
          <a:noFill/>
          <a:ln/>
        </p:spPr>
        <p:txBody>
          <a:bodyPr wrap="square" lIns="0" tIns="0" rIns="0" bIns="0" rtlCol="0" anchor="ctr"/>
          <a:lstStyle/>
          <a:p>
            <a:pPr indent="0" marL="0">
              <a:buNone/>
            </a:pPr>
            <a:r>
              <a:rPr lang="en-US" sz="1300" dirty="0">
                <a:solidFill>
                  <a:srgbClr val="4A554C"/>
                </a:solidFill>
                <a:latin typeface="Arial" pitchFamily="34" charset="0"/>
                <a:ea typeface="Arial" pitchFamily="34" charset="-122"/>
                <a:cs typeface="Arial" pitchFamily="34" charset="-120"/>
              </a:rPr>
              <a:t>Ten minutes. Five senses. One question: What did God make that you did not notice yesterday?</a:t>
            </a:r>
            <a:endParaRPr lang="en-US" sz="1300" dirty="0"/>
          </a:p>
        </p:txBody>
      </p:sp>
      <p:sp>
        <p:nvSpPr>
          <p:cNvPr id="9" name="Text 6"/>
          <p:cNvSpPr/>
          <p:nvPr/>
        </p:nvSpPr>
        <p:spPr>
          <a:xfrm>
            <a:off x="5440680" y="2066544"/>
            <a:ext cx="6217920" cy="292608"/>
          </a:xfrm>
          <a:prstGeom prst="rect">
            <a:avLst/>
          </a:prstGeom>
          <a:noFill/>
          <a:ln/>
        </p:spPr>
        <p:txBody>
          <a:bodyPr wrap="square" lIns="0" tIns="0" rIns="0" bIns="0" rtlCol="0" anchor="ctr"/>
          <a:lstStyle/>
          <a:p>
            <a:pPr indent="0" marL="0">
              <a:buNone/>
            </a:pPr>
            <a:r>
              <a:rPr lang="en-US" sz="1500" b="1" dirty="0">
                <a:solidFill>
                  <a:srgbClr val="1B3A2A"/>
                </a:solidFill>
                <a:latin typeface="Arial" pitchFamily="34" charset="0"/>
                <a:ea typeface="Arial" pitchFamily="34" charset="-122"/>
                <a:cs typeface="Arial" pitchFamily="34" charset="-120"/>
              </a:rPr>
              <a:t>Class creature care</a:t>
            </a:r>
            <a:endParaRPr lang="en-US" sz="1500" dirty="0"/>
          </a:p>
        </p:txBody>
      </p:sp>
      <p:sp>
        <p:nvSpPr>
          <p:cNvPr id="10" name="Text 7"/>
          <p:cNvSpPr/>
          <p:nvPr/>
        </p:nvSpPr>
        <p:spPr>
          <a:xfrm>
            <a:off x="5440680" y="2359152"/>
            <a:ext cx="6217920" cy="566928"/>
          </a:xfrm>
          <a:prstGeom prst="rect">
            <a:avLst/>
          </a:prstGeom>
          <a:noFill/>
          <a:ln/>
        </p:spPr>
        <p:txBody>
          <a:bodyPr wrap="square" lIns="0" tIns="0" rIns="0" bIns="0" rtlCol="0" anchor="ctr"/>
          <a:lstStyle/>
          <a:p>
            <a:pPr indent="0" marL="0">
              <a:buNone/>
            </a:pPr>
            <a:r>
              <a:rPr lang="en-US" sz="1300" dirty="0">
                <a:solidFill>
                  <a:srgbClr val="4A554C"/>
                </a:solidFill>
                <a:latin typeface="Arial" pitchFamily="34" charset="0"/>
                <a:ea typeface="Arial" pitchFamily="34" charset="-122"/>
                <a:cs typeface="Arial" pitchFamily="34" charset="-120"/>
              </a:rPr>
              <a:t>A plant, a worm bin, or a class pet with a roster of keepers and a short blessing.</a:t>
            </a:r>
            <a:endParaRPr lang="en-US" sz="1300" dirty="0"/>
          </a:p>
        </p:txBody>
      </p:sp>
      <p:sp>
        <p:nvSpPr>
          <p:cNvPr id="11" name="Text 8"/>
          <p:cNvSpPr/>
          <p:nvPr/>
        </p:nvSpPr>
        <p:spPr>
          <a:xfrm>
            <a:off x="5440680" y="3017520"/>
            <a:ext cx="6217920" cy="292608"/>
          </a:xfrm>
          <a:prstGeom prst="rect">
            <a:avLst/>
          </a:prstGeom>
          <a:noFill/>
          <a:ln/>
        </p:spPr>
        <p:txBody>
          <a:bodyPr wrap="square" lIns="0" tIns="0" rIns="0" bIns="0" rtlCol="0" anchor="ctr"/>
          <a:lstStyle/>
          <a:p>
            <a:pPr indent="0" marL="0">
              <a:buNone/>
            </a:pPr>
            <a:r>
              <a:rPr lang="en-US" sz="1500" b="1" dirty="0">
                <a:solidFill>
                  <a:srgbClr val="1B3A2A"/>
                </a:solidFill>
                <a:latin typeface="Arial" pitchFamily="34" charset="0"/>
                <a:ea typeface="Arial" pitchFamily="34" charset="-122"/>
                <a:cs typeface="Arial" pitchFamily="34" charset="-120"/>
              </a:rPr>
              <a:t>Picture-book theology</a:t>
            </a:r>
            <a:endParaRPr lang="en-US" sz="1500" dirty="0"/>
          </a:p>
        </p:txBody>
      </p:sp>
      <p:sp>
        <p:nvSpPr>
          <p:cNvPr id="12" name="Text 9"/>
          <p:cNvSpPr/>
          <p:nvPr/>
        </p:nvSpPr>
        <p:spPr>
          <a:xfrm>
            <a:off x="5440680" y="3310128"/>
            <a:ext cx="6217920" cy="566928"/>
          </a:xfrm>
          <a:prstGeom prst="rect">
            <a:avLst/>
          </a:prstGeom>
          <a:noFill/>
          <a:ln/>
        </p:spPr>
        <p:txBody>
          <a:bodyPr wrap="square" lIns="0" tIns="0" rIns="0" bIns="0" rtlCol="0" anchor="ctr"/>
          <a:lstStyle/>
          <a:p>
            <a:pPr indent="0" marL="0">
              <a:buNone/>
            </a:pPr>
            <a:r>
              <a:rPr lang="en-US" sz="1300" dirty="0">
                <a:solidFill>
                  <a:srgbClr val="4A554C"/>
                </a:solidFill>
                <a:latin typeface="Arial" pitchFamily="34" charset="0"/>
                <a:ea typeface="Arial" pitchFamily="34" charset="-122"/>
                <a:cs typeface="Arial" pitchFamily="34" charset="-120"/>
              </a:rPr>
              <a:t>Genesis 1, Noah, the Good Shepherd, plus stories of Francis and the birds.</a:t>
            </a:r>
            <a:endParaRPr lang="en-US" sz="1300" dirty="0"/>
          </a:p>
        </p:txBody>
      </p:sp>
      <p:sp>
        <p:nvSpPr>
          <p:cNvPr id="13" name="Text 10"/>
          <p:cNvSpPr/>
          <p:nvPr/>
        </p:nvSpPr>
        <p:spPr>
          <a:xfrm>
            <a:off x="5440680" y="3968496"/>
            <a:ext cx="6217920" cy="292608"/>
          </a:xfrm>
          <a:prstGeom prst="rect">
            <a:avLst/>
          </a:prstGeom>
          <a:noFill/>
          <a:ln/>
        </p:spPr>
        <p:txBody>
          <a:bodyPr wrap="square" lIns="0" tIns="0" rIns="0" bIns="0" rtlCol="0" anchor="ctr"/>
          <a:lstStyle/>
          <a:p>
            <a:pPr indent="0" marL="0">
              <a:buNone/>
            </a:pPr>
            <a:r>
              <a:rPr lang="en-US" sz="1500" b="1" dirty="0">
                <a:solidFill>
                  <a:srgbClr val="1B3A2A"/>
                </a:solidFill>
                <a:latin typeface="Arial" pitchFamily="34" charset="0"/>
                <a:ea typeface="Arial" pitchFamily="34" charset="-122"/>
                <a:cs typeface="Arial" pitchFamily="34" charset="-120"/>
              </a:rPr>
              <a:t>Liturgical noticing</a:t>
            </a:r>
            <a:endParaRPr lang="en-US" sz="1500" dirty="0"/>
          </a:p>
        </p:txBody>
      </p:sp>
      <p:sp>
        <p:nvSpPr>
          <p:cNvPr id="14" name="Text 11"/>
          <p:cNvSpPr/>
          <p:nvPr/>
        </p:nvSpPr>
        <p:spPr>
          <a:xfrm>
            <a:off x="5440680" y="4261104"/>
            <a:ext cx="6217920" cy="566928"/>
          </a:xfrm>
          <a:prstGeom prst="rect">
            <a:avLst/>
          </a:prstGeom>
          <a:noFill/>
          <a:ln/>
        </p:spPr>
        <p:txBody>
          <a:bodyPr wrap="square" lIns="0" tIns="0" rIns="0" bIns="0" rtlCol="0" anchor="ctr"/>
          <a:lstStyle/>
          <a:p>
            <a:pPr indent="0" marL="0">
              <a:buNone/>
            </a:pPr>
            <a:r>
              <a:rPr lang="en-US" sz="1300" dirty="0">
                <a:solidFill>
                  <a:srgbClr val="4A554C"/>
                </a:solidFill>
                <a:latin typeface="Arial" pitchFamily="34" charset="0"/>
                <a:ea typeface="Arial" pitchFamily="34" charset="-122"/>
                <a:cs typeface="Arial" pitchFamily="34" charset="-120"/>
              </a:rPr>
              <a:t>Holy water, beeswax candles, palms, ashes, flowers at Mary’s altar—creation already in the Church year.</a:t>
            </a:r>
            <a:endParaRPr lang="en-US" sz="1300" dirty="0"/>
          </a:p>
        </p:txBody>
      </p:sp>
      <p:sp>
        <p:nvSpPr>
          <p:cNvPr id="15" name="Text 12"/>
          <p:cNvSpPr/>
          <p:nvPr/>
        </p:nvSpPr>
        <p:spPr>
          <a:xfrm>
            <a:off x="5440680" y="4919472"/>
            <a:ext cx="6217920" cy="292608"/>
          </a:xfrm>
          <a:prstGeom prst="rect">
            <a:avLst/>
          </a:prstGeom>
          <a:noFill/>
          <a:ln/>
        </p:spPr>
        <p:txBody>
          <a:bodyPr wrap="square" lIns="0" tIns="0" rIns="0" bIns="0" rtlCol="0" anchor="ctr"/>
          <a:lstStyle/>
          <a:p>
            <a:pPr indent="0" marL="0">
              <a:buNone/>
            </a:pPr>
            <a:r>
              <a:rPr lang="en-US" sz="1500" b="1" dirty="0">
                <a:solidFill>
                  <a:srgbClr val="1B3A2A"/>
                </a:solidFill>
                <a:latin typeface="Arial" pitchFamily="34" charset="0"/>
                <a:ea typeface="Arial" pitchFamily="34" charset="-122"/>
                <a:cs typeface="Arial" pitchFamily="34" charset="-120"/>
              </a:rPr>
              <a:t>Tiny jobs with dignity</a:t>
            </a:r>
            <a:endParaRPr lang="en-US" sz="1500" dirty="0"/>
          </a:p>
        </p:txBody>
      </p:sp>
      <p:sp>
        <p:nvSpPr>
          <p:cNvPr id="16" name="Text 13"/>
          <p:cNvSpPr/>
          <p:nvPr/>
        </p:nvSpPr>
        <p:spPr>
          <a:xfrm>
            <a:off x="5440680" y="5212080"/>
            <a:ext cx="6217920" cy="566928"/>
          </a:xfrm>
          <a:prstGeom prst="rect">
            <a:avLst/>
          </a:prstGeom>
          <a:noFill/>
          <a:ln/>
        </p:spPr>
        <p:txBody>
          <a:bodyPr wrap="square" lIns="0" tIns="0" rIns="0" bIns="0" rtlCol="0" anchor="ctr"/>
          <a:lstStyle/>
          <a:p>
            <a:pPr indent="0" marL="0">
              <a:buNone/>
            </a:pPr>
            <a:r>
              <a:rPr lang="en-US" sz="1300" dirty="0">
                <a:solidFill>
                  <a:srgbClr val="4A554C"/>
                </a:solidFill>
                <a:latin typeface="Arial" pitchFamily="34" charset="0"/>
                <a:ea typeface="Arial" pitchFamily="34" charset="-122"/>
                <a:cs typeface="Arial" pitchFamily="34" charset="-120"/>
              </a:rPr>
              <a:t>Lights monitor, paper saver, water-the-plant, compost helper. Virtue is practiced, not announced.</a:t>
            </a:r>
            <a:endParaRPr lang="en-US" sz="1300" dirty="0"/>
          </a:p>
        </p:txBody>
      </p:sp>
      <p:sp>
        <p:nvSpPr>
          <p:cNvPr id="17" name="Shape 14"/>
          <p:cNvSpPr/>
          <p:nvPr/>
        </p:nvSpPr>
        <p:spPr>
          <a:xfrm>
            <a:off x="502920" y="6510528"/>
            <a:ext cx="11183112" cy="0"/>
          </a:xfrm>
          <a:prstGeom prst="line">
            <a:avLst/>
          </a:prstGeom>
          <a:noFill/>
          <a:ln w="7620">
            <a:solidFill>
              <a:srgbClr val="C9C0A8"/>
            </a:solidFill>
            <a:prstDash val="solid"/>
          </a:ln>
        </p:spPr>
        <p:txBody>
          <a:bodyPr/>
          <a:p/>
        </p:txBody>
      </p:sp>
      <p:sp>
        <p:nvSpPr>
          <p:cNvPr id="18" name="Text 15"/>
          <p:cNvSpPr/>
          <p:nvPr/>
        </p:nvSpPr>
        <p:spPr>
          <a:xfrm>
            <a:off x="502920" y="6547104"/>
            <a:ext cx="8412480" cy="237744"/>
          </a:xfrm>
          <a:prstGeom prst="rect">
            <a:avLst/>
          </a:prstGeom>
          <a:noFill/>
          <a:ln/>
        </p:spPr>
        <p:txBody>
          <a:bodyPr wrap="square" lIns="0" tIns="0" rIns="0" bIns="0" rtlCol="0" anchor="ctr"/>
          <a:lstStyle/>
          <a:p>
            <a:pPr indent="0" marL="0">
              <a:buNone/>
            </a:pPr>
            <a:r>
              <a:rPr lang="en-US" sz="900" spc="120" kern="0" dirty="0">
                <a:solidFill>
                  <a:srgbClr val="6B736C"/>
                </a:solidFill>
                <a:latin typeface="Arial" pitchFamily="34" charset="0"/>
                <a:ea typeface="Arial" pitchFamily="34" charset="-122"/>
                <a:cs typeface="Arial" pitchFamily="34" charset="-120"/>
              </a:rPr>
              <a:t>CREATION CARE IN THE CLASSROOM  ·  K–5 CATHOLIC TEACHERS</a:t>
            </a:r>
            <a:endParaRPr lang="en-US" sz="900" dirty="0"/>
          </a:p>
        </p:txBody>
      </p:sp>
      <p:sp>
        <p:nvSpPr>
          <p:cNvPr id="19" name="Text 16"/>
          <p:cNvSpPr/>
          <p:nvPr/>
        </p:nvSpPr>
        <p:spPr>
          <a:xfrm>
            <a:off x="9509760" y="6547104"/>
            <a:ext cx="2176272" cy="237744"/>
          </a:xfrm>
          <a:prstGeom prst="rect">
            <a:avLst/>
          </a:prstGeom>
          <a:noFill/>
          <a:ln/>
        </p:spPr>
        <p:txBody>
          <a:bodyPr wrap="square" lIns="0" tIns="0" rIns="0" bIns="0" rtlCol="0" anchor="ctr"/>
          <a:lstStyle/>
          <a:p>
            <a:pPr algn="r" indent="0" marL="0">
              <a:buNone/>
            </a:pPr>
            <a:r>
              <a:rPr lang="en-US" sz="900" dirty="0">
                <a:solidFill>
                  <a:srgbClr val="6B736C"/>
                </a:solidFill>
                <a:latin typeface="Arial" pitchFamily="34" charset="0"/>
                <a:ea typeface="Arial" pitchFamily="34" charset="-122"/>
                <a:cs typeface="Arial" pitchFamily="34" charset="-120"/>
              </a:rPr>
              <a:t>12  /  30</a:t>
            </a:r>
            <a:endParaRPr lang="en-US" sz="900" dirty="0"/>
          </a:p>
        </p:txBody>
      </p:sp>
      <p:pic>
        <p:nvPicPr>
          <p:cNvPr id="20" name="Picture 19" descr="slide11.jpg"/>
          <p:cNvPicPr>
            <a:picLocks noChangeAspect="1"/>
          </p:cNvPicPr>
          <p:nvPr/>
        </p:nvPicPr>
        <p:blipFill>
          <a:blip r:embed="rId4"/>
          <a:stretch>
            <a:fillRect/>
          </a:stretch>
        </p:blipFill>
        <p:spPr>
          <a:xfrm>
            <a:off x="502920" y="1115568"/>
            <a:ext cx="4709160" cy="3136392"/>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EF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01168"/>
            <a:ext cx="11338560" cy="219456"/>
          </a:xfrm>
          <a:prstGeom prst="rect">
            <a:avLst/>
          </a:prstGeom>
          <a:noFill/>
        </p:spPr>
        <p:txBody>
          <a:bodyPr wrap="none">
            <a:spAutoFit/>
          </a:bodyPr>
          <a:lstStyle/>
          <a:p>
            <a:pPr algn="l"/>
            <a:r>
              <a:rPr sz="1100" b="1" i="0">
                <a:solidFill>
                  <a:srgbClr val="4F7A5C"/>
                </a:solidFill>
                <a:latin typeface="Arial"/>
              </a:rPr>
              <a:t>THIS WEEK AT ST. FRANCIS</a:t>
            </a:r>
          </a:p>
        </p:txBody>
      </p:sp>
      <p:sp>
        <p:nvSpPr>
          <p:cNvPr id="4" name="TextBox 3"/>
          <p:cNvSpPr txBox="1"/>
          <p:nvPr/>
        </p:nvSpPr>
        <p:spPr>
          <a:xfrm>
            <a:off x="411480" y="402336"/>
            <a:ext cx="11338560" cy="384048"/>
          </a:xfrm>
          <a:prstGeom prst="rect">
            <a:avLst/>
          </a:prstGeom>
          <a:noFill/>
        </p:spPr>
        <p:txBody>
          <a:bodyPr wrap="none">
            <a:spAutoFit/>
          </a:bodyPr>
          <a:lstStyle/>
          <a:p>
            <a:pPr algn="l"/>
            <a:r>
              <a:rPr sz="2400" b="0" i="0">
                <a:solidFill>
                  <a:srgbClr val="1B3A2A"/>
                </a:solidFill>
                <a:latin typeface="Georgia"/>
              </a:rPr>
              <a:t>Creation care is already happening here</a:t>
            </a:r>
          </a:p>
        </p:txBody>
      </p:sp>
      <p:pic>
        <p:nvPicPr>
          <p:cNvPr id="5" name="Picture 4" descr="t1.jpg"/>
          <p:cNvPicPr>
            <a:picLocks noChangeAspect="1"/>
          </p:cNvPicPr>
          <p:nvPr/>
        </p:nvPicPr>
        <p:blipFill>
          <a:blip r:embed="rId2"/>
          <a:stretch>
            <a:fillRect/>
          </a:stretch>
        </p:blipFill>
        <p:spPr>
          <a:xfrm>
            <a:off x="411480" y="914400"/>
            <a:ext cx="3703320" cy="2194560"/>
          </a:xfrm>
          <a:prstGeom prst="rect">
            <a:avLst/>
          </a:prstGeom>
        </p:spPr>
      </p:pic>
      <p:sp>
        <p:nvSpPr>
          <p:cNvPr id="6" name="TextBox 5"/>
          <p:cNvSpPr txBox="1"/>
          <p:nvPr/>
        </p:nvSpPr>
        <p:spPr>
          <a:xfrm>
            <a:off x="411480" y="3127248"/>
            <a:ext cx="3703320" cy="256032"/>
          </a:xfrm>
          <a:prstGeom prst="rect">
            <a:avLst/>
          </a:prstGeom>
          <a:noFill/>
        </p:spPr>
        <p:txBody>
          <a:bodyPr wrap="none">
            <a:spAutoFit/>
          </a:bodyPr>
          <a:lstStyle/>
          <a:p>
            <a:r>
              <a:rPr sz="1100" b="0" i="0">
                <a:solidFill>
                  <a:srgbClr val="1B3A2A"/>
                </a:solidFill>
                <a:latin typeface="Arial"/>
              </a:rPr>
              <a:t>Wonder — hands in the soil</a:t>
            </a:r>
          </a:p>
        </p:txBody>
      </p:sp>
      <p:pic>
        <p:nvPicPr>
          <p:cNvPr id="7" name="Picture 6" descr="t2.jpg"/>
          <p:cNvPicPr>
            <a:picLocks noChangeAspect="1"/>
          </p:cNvPicPr>
          <p:nvPr/>
        </p:nvPicPr>
        <p:blipFill>
          <a:blip r:embed="rId3"/>
          <a:stretch>
            <a:fillRect/>
          </a:stretch>
        </p:blipFill>
        <p:spPr>
          <a:xfrm>
            <a:off x="4224528" y="914400"/>
            <a:ext cx="3703320" cy="2194560"/>
          </a:xfrm>
          <a:prstGeom prst="rect">
            <a:avLst/>
          </a:prstGeom>
        </p:spPr>
      </p:pic>
      <p:sp>
        <p:nvSpPr>
          <p:cNvPr id="8" name="TextBox 7"/>
          <p:cNvSpPr txBox="1"/>
          <p:nvPr/>
        </p:nvSpPr>
        <p:spPr>
          <a:xfrm>
            <a:off x="4224528" y="3127248"/>
            <a:ext cx="3703320" cy="256032"/>
          </a:xfrm>
          <a:prstGeom prst="rect">
            <a:avLst/>
          </a:prstGeom>
          <a:noFill/>
        </p:spPr>
        <p:txBody>
          <a:bodyPr wrap="none">
            <a:spAutoFit/>
          </a:bodyPr>
          <a:lstStyle/>
          <a:p>
            <a:r>
              <a:rPr sz="1100" b="0" i="0">
                <a:solidFill>
                  <a:srgbClr val="1B3A2A"/>
                </a:solidFill>
                <a:latin typeface="Arial"/>
              </a:rPr>
              <a:t>Living water — watering the beds</a:t>
            </a:r>
          </a:p>
        </p:txBody>
      </p:sp>
      <p:pic>
        <p:nvPicPr>
          <p:cNvPr id="9" name="Picture 8" descr="t3.jpg"/>
          <p:cNvPicPr>
            <a:picLocks noChangeAspect="1"/>
          </p:cNvPicPr>
          <p:nvPr/>
        </p:nvPicPr>
        <p:blipFill>
          <a:blip r:embed="rId4"/>
          <a:stretch>
            <a:fillRect/>
          </a:stretch>
        </p:blipFill>
        <p:spPr>
          <a:xfrm>
            <a:off x="8037575" y="914400"/>
            <a:ext cx="3703320" cy="2194560"/>
          </a:xfrm>
          <a:prstGeom prst="rect">
            <a:avLst/>
          </a:prstGeom>
        </p:spPr>
      </p:pic>
      <p:sp>
        <p:nvSpPr>
          <p:cNvPr id="10" name="TextBox 9"/>
          <p:cNvSpPr txBox="1"/>
          <p:nvPr/>
        </p:nvSpPr>
        <p:spPr>
          <a:xfrm>
            <a:off x="8037575" y="3127248"/>
            <a:ext cx="3703320" cy="256032"/>
          </a:xfrm>
          <a:prstGeom prst="rect">
            <a:avLst/>
          </a:prstGeom>
          <a:noFill/>
        </p:spPr>
        <p:txBody>
          <a:bodyPr wrap="none">
            <a:spAutoFit/>
          </a:bodyPr>
          <a:lstStyle/>
          <a:p>
            <a:r>
              <a:rPr sz="1100" b="0" i="0">
                <a:solidFill>
                  <a:srgbClr val="1B3A2A"/>
                </a:solidFill>
                <a:latin typeface="Arial"/>
              </a:rPr>
              <a:t>Stewardship — one plant, one child</a:t>
            </a:r>
          </a:p>
        </p:txBody>
      </p:sp>
      <p:pic>
        <p:nvPicPr>
          <p:cNvPr id="11" name="Picture 10" descr="t4.jpg"/>
          <p:cNvPicPr>
            <a:picLocks noChangeAspect="1"/>
          </p:cNvPicPr>
          <p:nvPr/>
        </p:nvPicPr>
        <p:blipFill>
          <a:blip r:embed="rId5"/>
          <a:stretch>
            <a:fillRect/>
          </a:stretch>
        </p:blipFill>
        <p:spPr>
          <a:xfrm>
            <a:off x="411480" y="3566160"/>
            <a:ext cx="3703320" cy="2194560"/>
          </a:xfrm>
          <a:prstGeom prst="rect">
            <a:avLst/>
          </a:prstGeom>
        </p:spPr>
      </p:pic>
      <p:sp>
        <p:nvSpPr>
          <p:cNvPr id="12" name="TextBox 11"/>
          <p:cNvSpPr txBox="1"/>
          <p:nvPr/>
        </p:nvSpPr>
        <p:spPr>
          <a:xfrm>
            <a:off x="411480" y="5779008"/>
            <a:ext cx="3703320" cy="256032"/>
          </a:xfrm>
          <a:prstGeom prst="rect">
            <a:avLst/>
          </a:prstGeom>
          <a:noFill/>
        </p:spPr>
        <p:txBody>
          <a:bodyPr wrap="none">
            <a:spAutoFit/>
          </a:bodyPr>
          <a:lstStyle/>
          <a:p>
            <a:r>
              <a:rPr sz="1100" b="0" i="0">
                <a:solidFill>
                  <a:srgbClr val="1B3A2A"/>
                </a:solidFill>
                <a:latin typeface="Arial"/>
              </a:rPr>
              <a:t>Action — planting together</a:t>
            </a:r>
          </a:p>
        </p:txBody>
      </p:sp>
      <p:sp>
        <p:nvSpPr>
          <p:cNvPr id="14" name="TextBox 13"/>
          <p:cNvSpPr txBox="1"/>
          <p:nvPr/>
        </p:nvSpPr>
        <p:spPr>
          <a:xfrm>
            <a:off x="4224528" y="5779008"/>
            <a:ext cx="3703320" cy="256032"/>
          </a:xfrm>
          <a:prstGeom prst="rect">
            <a:avLst/>
          </a:prstGeom>
          <a:noFill/>
        </p:spPr>
        <p:txBody>
          <a:bodyPr wrap="none">
            <a:spAutoFit/>
          </a:bodyPr>
          <a:lstStyle/>
          <a:p>
            <a:r>
              <a:rPr sz="1100" b="0" i="0">
                <a:solidFill>
                  <a:srgbClr val="1B3A2A"/>
                </a:solidFill>
                <a:latin typeface="Arial"/>
              </a:rPr>
              <a:t>Compost — nothing is thrown away</a:t>
            </a:r>
          </a:p>
        </p:txBody>
      </p:sp>
      <p:pic>
        <p:nvPicPr>
          <p:cNvPr id="15" name="Picture 14" descr="t6.jpg"/>
          <p:cNvPicPr>
            <a:picLocks noChangeAspect="1"/>
          </p:cNvPicPr>
          <p:nvPr/>
        </p:nvPicPr>
        <p:blipFill>
          <a:blip r:embed="rId7"/>
          <a:stretch>
            <a:fillRect/>
          </a:stretch>
        </p:blipFill>
        <p:spPr>
          <a:xfrm>
            <a:off x="8037575" y="3566160"/>
            <a:ext cx="3703320" cy="2194560"/>
          </a:xfrm>
          <a:prstGeom prst="rect">
            <a:avLst/>
          </a:prstGeom>
        </p:spPr>
      </p:pic>
      <p:sp>
        <p:nvSpPr>
          <p:cNvPr id="16" name="TextBox 15"/>
          <p:cNvSpPr txBox="1"/>
          <p:nvPr/>
        </p:nvSpPr>
        <p:spPr>
          <a:xfrm>
            <a:off x="8037575" y="5779008"/>
            <a:ext cx="3703320" cy="256032"/>
          </a:xfrm>
          <a:prstGeom prst="rect">
            <a:avLst/>
          </a:prstGeom>
          <a:noFill/>
        </p:spPr>
        <p:txBody>
          <a:bodyPr wrap="none">
            <a:spAutoFit/>
          </a:bodyPr>
          <a:lstStyle/>
          <a:p>
            <a:r>
              <a:rPr sz="1100" b="0" i="0">
                <a:solidFill>
                  <a:srgbClr val="1B3A2A"/>
                </a:solidFill>
                <a:latin typeface="Arial"/>
              </a:rPr>
              <a:t>Older students leading the work</a:t>
            </a:r>
          </a:p>
        </p:txBody>
      </p:sp>
      <p:sp>
        <p:nvSpPr>
          <p:cNvPr id="17" name="Rectangle 16"/>
          <p:cNvSpPr/>
          <p:nvPr/>
        </p:nvSpPr>
        <p:spPr>
          <a:xfrm>
            <a:off x="502920" y="6510528"/>
            <a:ext cx="11183112" cy="9144"/>
          </a:xfrm>
          <a:prstGeom prst="rect">
            <a:avLst/>
          </a:prstGeom>
          <a:solidFill>
            <a:srgbClr val="C9C0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6547104"/>
            <a:ext cx="8412480" cy="237744"/>
          </a:xfrm>
          <a:prstGeom prst="rect">
            <a:avLst/>
          </a:prstGeom>
          <a:noFill/>
        </p:spPr>
        <p:txBody>
          <a:bodyPr wrap="none">
            <a:spAutoFit/>
          </a:bodyPr>
          <a:lstStyle/>
          <a:p>
            <a:r>
              <a:rPr sz="900" b="0" i="0">
                <a:solidFill>
                  <a:srgbClr val="6B736C"/>
                </a:solidFill>
                <a:latin typeface="Arial"/>
              </a:rPr>
              <a:t>CREATION CARE IN THE CLASSROOM  ·  K–5 CATHOLIC TEACHERS</a:t>
            </a:r>
          </a:p>
        </p:txBody>
      </p:sp>
      <p:sp>
        <p:nvSpPr>
          <p:cNvPr id="19" name="TextBox 18"/>
          <p:cNvSpPr txBox="1"/>
          <p:nvPr/>
        </p:nvSpPr>
        <p:spPr>
          <a:xfrm>
            <a:off x="9509760" y="6547104"/>
            <a:ext cx="2176272" cy="237744"/>
          </a:xfrm>
          <a:prstGeom prst="rect">
            <a:avLst/>
          </a:prstGeom>
          <a:noFill/>
        </p:spPr>
        <p:txBody>
          <a:bodyPr wrap="none">
            <a:spAutoFit/>
          </a:bodyPr>
          <a:lstStyle/>
          <a:p>
            <a:pPr algn="r"/>
            <a:r>
              <a:rPr sz="900" b="0" i="0">
                <a:solidFill>
                  <a:srgbClr val="6B736C"/>
                </a:solidFill>
                <a:latin typeface="Arial"/>
              </a:rPr>
              <a:t>13  /  30</a:t>
            </a:r>
          </a:p>
        </p:txBody>
      </p:sp>
      <p:pic>
        <p:nvPicPr>
          <p:cNvPr id="20" name="Picture 19" descr="t5b.jpg"/>
          <p:cNvPicPr>
            <a:picLocks noChangeAspect="1"/>
          </p:cNvPicPr>
          <p:nvPr/>
        </p:nvPicPr>
        <p:blipFill>
          <a:blip r:embed="rId9"/>
          <a:stretch>
            <a:fillRect/>
          </a:stretch>
        </p:blipFill>
        <p:spPr>
          <a:xfrm>
            <a:off x="4224528" y="3566160"/>
            <a:ext cx="3703320" cy="219456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2">
    <p:bg>
      <p:bgPr>
        <a:solidFill>
          <a:srgbClr val="F4EFE2"/>
        </a:solidFill>
      </p:bgPr>
    </p:bg>
    <p:spTree>
      <p:nvGrpSpPr>
        <p:cNvPr id="1" name=""/>
        <p:cNvGrpSpPr/>
        <p:nvPr/>
      </p:nvGrpSpPr>
      <p:grpSpPr>
        <a:xfrm>
          <a:off x="0" y="0"/>
          <a:ext cx="0" cy="0"/>
          <a:chOff x="0" y="0"/>
          <a:chExt cx="0" cy="0"/>
        </a:xfrm>
      </p:grpSpPr>
      <p:sp>
        <p:nvSpPr>
          <p:cNvPr id="2" name="Text 0"/>
          <p:cNvSpPr/>
          <p:nvPr/>
        </p:nvSpPr>
        <p:spPr>
          <a:xfrm>
            <a:off x="502920" y="256032"/>
            <a:ext cx="11155680" cy="219456"/>
          </a:xfrm>
          <a:prstGeom prst="rect">
            <a:avLst/>
          </a:prstGeom>
          <a:noFill/>
          <a:ln/>
        </p:spPr>
        <p:txBody>
          <a:bodyPr wrap="square" lIns="0" tIns="0" rIns="0" bIns="0" rtlCol="0" anchor="ctr"/>
          <a:lstStyle/>
          <a:p>
            <a:pPr indent="0" marL="0">
              <a:buNone/>
            </a:pPr>
            <a:r>
              <a:rPr lang="en-US" sz="1100" b="1" spc="220" kern="0" dirty="0">
                <a:solidFill>
                  <a:srgbClr val="4F7A5C"/>
                </a:solidFill>
                <a:latin typeface="Arial" pitchFamily="34" charset="0"/>
                <a:ea typeface="Arial" pitchFamily="34" charset="-122"/>
                <a:cs typeface="Arial" pitchFamily="34" charset="-120"/>
              </a:rPr>
              <a:t>11  ·  GRADES 3–5</a:t>
            </a:r>
            <a:endParaRPr lang="en-US" sz="1100" dirty="0"/>
          </a:p>
        </p:txBody>
      </p:sp>
      <p:sp>
        <p:nvSpPr>
          <p:cNvPr id="3" name="Text 1"/>
          <p:cNvSpPr/>
          <p:nvPr/>
        </p:nvSpPr>
        <p:spPr>
          <a:xfrm>
            <a:off x="502920" y="475488"/>
            <a:ext cx="11155680" cy="475488"/>
          </a:xfrm>
          <a:prstGeom prst="rect">
            <a:avLst/>
          </a:prstGeom>
          <a:noFill/>
          <a:ln/>
        </p:spPr>
        <p:txBody>
          <a:bodyPr wrap="square" lIns="0" tIns="0" rIns="0" bIns="0" rtlCol="0" anchor="ctr"/>
          <a:lstStyle/>
          <a:p>
            <a:pPr indent="0" marL="0">
              <a:buNone/>
            </a:pPr>
            <a:r>
              <a:rPr lang="en-US" sz="2600" dirty="0">
                <a:solidFill>
                  <a:srgbClr val="1B3A2A"/>
                </a:solidFill>
                <a:latin typeface="Georgia" pitchFamily="34" charset="0"/>
                <a:ea typeface="Georgia" pitchFamily="34" charset="-122"/>
                <a:cs typeface="Georgia" pitchFamily="34" charset="-120"/>
              </a:rPr>
              <a:t>From noticing to responsible love</a:t>
            </a:r>
            <a:endParaRPr lang="en-US" sz="2600" dirty="0"/>
          </a:p>
        </p:txBody>
      </p:sp>
      <p:sp>
        <p:nvSpPr>
          <p:cNvPr id="4" name="Shape 2"/>
          <p:cNvSpPr/>
          <p:nvPr/>
        </p:nvSpPr>
        <p:spPr>
          <a:xfrm>
            <a:off x="502920" y="1115568"/>
            <a:ext cx="3639312" cy="2331720"/>
          </a:xfrm>
          <a:prstGeom prst="roundRect">
            <a:avLst>
              <a:gd name="adj" fmla="val 3137"/>
            </a:avLst>
          </a:prstGeom>
          <a:solidFill>
            <a:srgbClr val="FFFBF3"/>
          </a:solidFill>
          <a:ln/>
        </p:spPr>
        <p:txBody>
          <a:bodyPr/>
          <a:p/>
        </p:txBody>
      </p:sp>
      <p:sp>
        <p:nvSpPr>
          <p:cNvPr id="5" name="Text 3"/>
          <p:cNvSpPr/>
          <p:nvPr/>
        </p:nvSpPr>
        <p:spPr>
          <a:xfrm>
            <a:off x="704088" y="1316736"/>
            <a:ext cx="3236976" cy="502920"/>
          </a:xfrm>
          <a:prstGeom prst="rect">
            <a:avLst/>
          </a:prstGeom>
          <a:noFill/>
          <a:ln/>
        </p:spPr>
        <p:txBody>
          <a:bodyPr wrap="square" lIns="0" tIns="0" rIns="0" bIns="0" rtlCol="0" anchor="ctr"/>
          <a:lstStyle/>
          <a:p>
            <a:pPr indent="0" marL="0">
              <a:buNone/>
            </a:pPr>
            <a:r>
              <a:rPr lang="en-US" sz="1600" dirty="0">
                <a:solidFill>
                  <a:srgbClr val="1B3A2A"/>
                </a:solidFill>
                <a:latin typeface="Georgia" pitchFamily="34" charset="0"/>
                <a:ea typeface="Georgia" pitchFamily="34" charset="-122"/>
                <a:cs typeface="Georgia" pitchFamily="34" charset="-120"/>
              </a:rPr>
              <a:t>See, Judge, Act</a:t>
            </a:r>
            <a:endParaRPr lang="en-US" sz="1600" dirty="0"/>
          </a:p>
        </p:txBody>
      </p:sp>
      <p:sp>
        <p:nvSpPr>
          <p:cNvPr id="6" name="Text 4"/>
          <p:cNvSpPr/>
          <p:nvPr/>
        </p:nvSpPr>
        <p:spPr>
          <a:xfrm>
            <a:off x="704088" y="1865376"/>
            <a:ext cx="3236976" cy="1371600"/>
          </a:xfrm>
          <a:prstGeom prst="rect">
            <a:avLst/>
          </a:prstGeom>
          <a:noFill/>
          <a:ln/>
        </p:spPr>
        <p:txBody>
          <a:bodyPr wrap="square" lIns="0" tIns="0" rIns="0" bIns="0" rtlCol="0" anchor="ctr"/>
          <a:lstStyle/>
          <a:p>
            <a:pPr indent="0" marL="0">
              <a:buNone/>
            </a:pPr>
            <a:r>
              <a:rPr lang="en-US" sz="1300" dirty="0">
                <a:solidFill>
                  <a:srgbClr val="4A554C"/>
                </a:solidFill>
                <a:latin typeface="Arial" pitchFamily="34" charset="0"/>
                <a:ea typeface="Arial" pitchFamily="34" charset="-122"/>
                <a:cs typeface="Arial" pitchFamily="34" charset="-120"/>
              </a:rPr>
              <a:t>The Cardijn method used across Catholic schools. See a local place. Judge it in the light of faith. Act in a way a child can finish.</a:t>
            </a:r>
            <a:endParaRPr lang="en-US" sz="1300" dirty="0"/>
          </a:p>
        </p:txBody>
      </p:sp>
      <p:sp>
        <p:nvSpPr>
          <p:cNvPr id="7" name="Shape 5"/>
          <p:cNvSpPr/>
          <p:nvPr/>
        </p:nvSpPr>
        <p:spPr>
          <a:xfrm>
            <a:off x="4297680" y="1115568"/>
            <a:ext cx="3639312" cy="2331720"/>
          </a:xfrm>
          <a:prstGeom prst="roundRect">
            <a:avLst>
              <a:gd name="adj" fmla="val 3137"/>
            </a:avLst>
          </a:prstGeom>
          <a:solidFill>
            <a:srgbClr val="FFFBF3"/>
          </a:solidFill>
          <a:ln/>
        </p:spPr>
        <p:txBody>
          <a:bodyPr/>
          <a:p/>
        </p:txBody>
      </p:sp>
      <p:sp>
        <p:nvSpPr>
          <p:cNvPr id="8" name="Text 6"/>
          <p:cNvSpPr/>
          <p:nvPr/>
        </p:nvSpPr>
        <p:spPr>
          <a:xfrm>
            <a:off x="4498848" y="1316736"/>
            <a:ext cx="3236976" cy="502920"/>
          </a:xfrm>
          <a:prstGeom prst="rect">
            <a:avLst/>
          </a:prstGeom>
          <a:noFill/>
          <a:ln/>
        </p:spPr>
        <p:txBody>
          <a:bodyPr wrap="square" lIns="0" tIns="0" rIns="0" bIns="0" rtlCol="0" anchor="ctr"/>
          <a:lstStyle/>
          <a:p>
            <a:pPr indent="0" marL="0">
              <a:buNone/>
            </a:pPr>
            <a:r>
              <a:rPr lang="en-US" sz="1600" dirty="0">
                <a:solidFill>
                  <a:srgbClr val="1B3A2A"/>
                </a:solidFill>
                <a:latin typeface="Georgia" pitchFamily="34" charset="0"/>
                <a:ea typeface="Georgia" pitchFamily="34" charset="-122"/>
                <a:cs typeface="Georgia" pitchFamily="34" charset="-120"/>
              </a:rPr>
              <a:t>Water as this year’s teacher</a:t>
            </a:r>
            <a:endParaRPr lang="en-US" sz="1600" dirty="0"/>
          </a:p>
        </p:txBody>
      </p:sp>
      <p:sp>
        <p:nvSpPr>
          <p:cNvPr id="9" name="Text 7"/>
          <p:cNvSpPr/>
          <p:nvPr/>
        </p:nvSpPr>
        <p:spPr>
          <a:xfrm>
            <a:off x="4498848" y="1865376"/>
            <a:ext cx="3236976" cy="1371600"/>
          </a:xfrm>
          <a:prstGeom prst="rect">
            <a:avLst/>
          </a:prstGeom>
          <a:noFill/>
          <a:ln/>
        </p:spPr>
        <p:txBody>
          <a:bodyPr wrap="square" lIns="0" tIns="0" rIns="0" bIns="0" rtlCol="0" anchor="ctr"/>
          <a:lstStyle/>
          <a:p>
            <a:pPr indent="0" marL="0">
              <a:buNone/>
            </a:pPr>
            <a:r>
              <a:rPr lang="en-US" sz="1300" dirty="0">
                <a:solidFill>
                  <a:srgbClr val="4A554C"/>
                </a:solidFill>
                <a:latin typeface="Arial" pitchFamily="34" charset="0"/>
                <a:ea typeface="Arial" pitchFamily="34" charset="-122"/>
                <a:cs typeface="Arial" pitchFamily="34" charset="-120"/>
              </a:rPr>
              <a:t>Season of Creation 2026 is Living Water. Trace water from tap to storm drain. Bless water. Measure use. Read Ezekiel 47 simply.</a:t>
            </a:r>
            <a:endParaRPr lang="en-US" sz="1300" dirty="0"/>
          </a:p>
        </p:txBody>
      </p:sp>
      <p:sp>
        <p:nvSpPr>
          <p:cNvPr id="10" name="Shape 8"/>
          <p:cNvSpPr/>
          <p:nvPr/>
        </p:nvSpPr>
        <p:spPr>
          <a:xfrm>
            <a:off x="8092440" y="1115568"/>
            <a:ext cx="3639312" cy="2331720"/>
          </a:xfrm>
          <a:prstGeom prst="roundRect">
            <a:avLst>
              <a:gd name="adj" fmla="val 3137"/>
            </a:avLst>
          </a:prstGeom>
          <a:solidFill>
            <a:srgbClr val="FFFBF3"/>
          </a:solidFill>
          <a:ln/>
        </p:spPr>
        <p:txBody>
          <a:bodyPr/>
          <a:p/>
        </p:txBody>
      </p:sp>
      <p:sp>
        <p:nvSpPr>
          <p:cNvPr id="11" name="Text 9"/>
          <p:cNvSpPr/>
          <p:nvPr/>
        </p:nvSpPr>
        <p:spPr>
          <a:xfrm>
            <a:off x="8293608" y="1316736"/>
            <a:ext cx="3236976" cy="502920"/>
          </a:xfrm>
          <a:prstGeom prst="rect">
            <a:avLst/>
          </a:prstGeom>
          <a:noFill/>
          <a:ln/>
        </p:spPr>
        <p:txBody>
          <a:bodyPr wrap="square" lIns="0" tIns="0" rIns="0" bIns="0" rtlCol="0" anchor="ctr"/>
          <a:lstStyle/>
          <a:p>
            <a:pPr indent="0" marL="0">
              <a:buNone/>
            </a:pPr>
            <a:r>
              <a:rPr lang="en-US" sz="1600" dirty="0">
                <a:solidFill>
                  <a:srgbClr val="1B3A2A"/>
                </a:solidFill>
                <a:latin typeface="Georgia" pitchFamily="34" charset="0"/>
                <a:ea typeface="Georgia" pitchFamily="34" charset="-122"/>
                <a:cs typeface="Georgia" pitchFamily="34" charset="-120"/>
              </a:rPr>
              <a:t>Saints of creation</a:t>
            </a:r>
            <a:endParaRPr lang="en-US" sz="1600" dirty="0"/>
          </a:p>
        </p:txBody>
      </p:sp>
      <p:sp>
        <p:nvSpPr>
          <p:cNvPr id="12" name="Text 10"/>
          <p:cNvSpPr/>
          <p:nvPr/>
        </p:nvSpPr>
        <p:spPr>
          <a:xfrm>
            <a:off x="8293608" y="1865376"/>
            <a:ext cx="3236976" cy="1371600"/>
          </a:xfrm>
          <a:prstGeom prst="rect">
            <a:avLst/>
          </a:prstGeom>
          <a:noFill/>
          <a:ln/>
        </p:spPr>
        <p:txBody>
          <a:bodyPr wrap="square" lIns="0" tIns="0" rIns="0" bIns="0" rtlCol="0" anchor="ctr"/>
          <a:lstStyle/>
          <a:p>
            <a:pPr indent="0" marL="0">
              <a:buNone/>
            </a:pPr>
            <a:r>
              <a:rPr lang="en-US" sz="1300" dirty="0">
                <a:solidFill>
                  <a:srgbClr val="4A554C"/>
                </a:solidFill>
                <a:latin typeface="Arial" pitchFamily="34" charset="0"/>
                <a:ea typeface="Arial" pitchFamily="34" charset="-122"/>
                <a:cs typeface="Arial" pitchFamily="34" charset="-120"/>
              </a:rPr>
              <a:t>Francis and Clare, Kateri Tekakwitha, Hildegard, Isidore the Farmer. Children need holy friends, not only facts.</a:t>
            </a:r>
            <a:endParaRPr lang="en-US" sz="1300" dirty="0"/>
          </a:p>
        </p:txBody>
      </p:sp>
      <p:sp>
        <p:nvSpPr>
          <p:cNvPr id="13" name="Shape 11"/>
          <p:cNvSpPr/>
          <p:nvPr/>
        </p:nvSpPr>
        <p:spPr>
          <a:xfrm>
            <a:off x="502920" y="3630168"/>
            <a:ext cx="3639312" cy="2331720"/>
          </a:xfrm>
          <a:prstGeom prst="roundRect">
            <a:avLst>
              <a:gd name="adj" fmla="val 3137"/>
            </a:avLst>
          </a:prstGeom>
          <a:solidFill>
            <a:srgbClr val="FFFBF3"/>
          </a:solidFill>
          <a:ln/>
        </p:spPr>
        <p:txBody>
          <a:bodyPr/>
          <a:p/>
        </p:txBody>
      </p:sp>
      <p:sp>
        <p:nvSpPr>
          <p:cNvPr id="14" name="Text 12"/>
          <p:cNvSpPr/>
          <p:nvPr/>
        </p:nvSpPr>
        <p:spPr>
          <a:xfrm>
            <a:off x="704088" y="3831336"/>
            <a:ext cx="3236976" cy="502920"/>
          </a:xfrm>
          <a:prstGeom prst="rect">
            <a:avLst/>
          </a:prstGeom>
          <a:noFill/>
          <a:ln/>
        </p:spPr>
        <p:txBody>
          <a:bodyPr wrap="square" lIns="0" tIns="0" rIns="0" bIns="0" rtlCol="0" anchor="ctr"/>
          <a:lstStyle/>
          <a:p>
            <a:pPr indent="0" marL="0">
              <a:buNone/>
            </a:pPr>
            <a:r>
              <a:rPr lang="en-US" sz="1600" dirty="0">
                <a:solidFill>
                  <a:srgbClr val="1B3A2A"/>
                </a:solidFill>
                <a:latin typeface="Georgia" pitchFamily="34" charset="0"/>
                <a:ea typeface="Georgia" pitchFamily="34" charset="-122"/>
                <a:cs typeface="Georgia" pitchFamily="34" charset="-120"/>
              </a:rPr>
              <a:t>Science with a soul</a:t>
            </a:r>
            <a:endParaRPr lang="en-US" sz="1600" dirty="0"/>
          </a:p>
        </p:txBody>
      </p:sp>
      <p:sp>
        <p:nvSpPr>
          <p:cNvPr id="15" name="Text 13"/>
          <p:cNvSpPr/>
          <p:nvPr/>
        </p:nvSpPr>
        <p:spPr>
          <a:xfrm>
            <a:off x="704088" y="4379976"/>
            <a:ext cx="3236976" cy="1371600"/>
          </a:xfrm>
          <a:prstGeom prst="rect">
            <a:avLst/>
          </a:prstGeom>
          <a:noFill/>
          <a:ln/>
        </p:spPr>
        <p:txBody>
          <a:bodyPr wrap="square" lIns="0" tIns="0" rIns="0" bIns="0" rtlCol="0" anchor="ctr"/>
          <a:lstStyle/>
          <a:p>
            <a:pPr indent="0" marL="0">
              <a:buNone/>
            </a:pPr>
            <a:r>
              <a:rPr lang="en-US" sz="1300" dirty="0">
                <a:solidFill>
                  <a:srgbClr val="4A554C"/>
                </a:solidFill>
                <a:latin typeface="Arial" pitchFamily="34" charset="0"/>
                <a:ea typeface="Arial" pitchFamily="34" charset="-122"/>
                <a:cs typeface="Arial" pitchFamily="34" charset="-120"/>
              </a:rPr>
              <a:t>Habitats, food webs, weather, soil. Then the Catholic question: What is my duty to what I now understand?</a:t>
            </a:r>
            <a:endParaRPr lang="en-US" sz="1300" dirty="0"/>
          </a:p>
        </p:txBody>
      </p:sp>
      <p:sp>
        <p:nvSpPr>
          <p:cNvPr id="16" name="Shape 14"/>
          <p:cNvSpPr/>
          <p:nvPr/>
        </p:nvSpPr>
        <p:spPr>
          <a:xfrm>
            <a:off x="4297680" y="3630168"/>
            <a:ext cx="3639312" cy="2331720"/>
          </a:xfrm>
          <a:prstGeom prst="roundRect">
            <a:avLst>
              <a:gd name="adj" fmla="val 3137"/>
            </a:avLst>
          </a:prstGeom>
          <a:solidFill>
            <a:srgbClr val="FFFBF3"/>
          </a:solidFill>
          <a:ln/>
        </p:spPr>
        <p:txBody>
          <a:bodyPr/>
          <a:p/>
        </p:txBody>
      </p:sp>
      <p:sp>
        <p:nvSpPr>
          <p:cNvPr id="17" name="Text 15"/>
          <p:cNvSpPr/>
          <p:nvPr/>
        </p:nvSpPr>
        <p:spPr>
          <a:xfrm>
            <a:off x="4498848" y="3831336"/>
            <a:ext cx="3236976" cy="502920"/>
          </a:xfrm>
          <a:prstGeom prst="rect">
            <a:avLst/>
          </a:prstGeom>
          <a:noFill/>
          <a:ln/>
        </p:spPr>
        <p:txBody>
          <a:bodyPr wrap="square" lIns="0" tIns="0" rIns="0" bIns="0" rtlCol="0" anchor="ctr"/>
          <a:lstStyle/>
          <a:p>
            <a:pPr indent="0" marL="0">
              <a:buNone/>
            </a:pPr>
            <a:r>
              <a:rPr lang="en-US" sz="1600" dirty="0">
                <a:solidFill>
                  <a:srgbClr val="1B3A2A"/>
                </a:solidFill>
                <a:latin typeface="Georgia" pitchFamily="34" charset="0"/>
                <a:ea typeface="Georgia" pitchFamily="34" charset="-122"/>
                <a:cs typeface="Georgia" pitchFamily="34" charset="-120"/>
              </a:rPr>
              <a:t>Student voice</a:t>
            </a:r>
            <a:endParaRPr lang="en-US" sz="1600" dirty="0"/>
          </a:p>
        </p:txBody>
      </p:sp>
      <p:sp>
        <p:nvSpPr>
          <p:cNvPr id="18" name="Text 16"/>
          <p:cNvSpPr/>
          <p:nvPr/>
        </p:nvSpPr>
        <p:spPr>
          <a:xfrm>
            <a:off x="4498848" y="4379976"/>
            <a:ext cx="3236976" cy="1371600"/>
          </a:xfrm>
          <a:prstGeom prst="rect">
            <a:avLst/>
          </a:prstGeom>
          <a:noFill/>
          <a:ln/>
        </p:spPr>
        <p:txBody>
          <a:bodyPr wrap="square" lIns="0" tIns="0" rIns="0" bIns="0" rtlCol="0" anchor="ctr"/>
          <a:lstStyle/>
          <a:p>
            <a:pPr indent="0" marL="0">
              <a:buNone/>
            </a:pPr>
            <a:r>
              <a:rPr lang="en-US" sz="1300" dirty="0">
                <a:solidFill>
                  <a:srgbClr val="4A554C"/>
                </a:solidFill>
                <a:latin typeface="Arial" pitchFamily="34" charset="0"/>
                <a:ea typeface="Arial" pitchFamily="34" charset="-122"/>
                <a:cs typeface="Arial" pitchFamily="34" charset="-120"/>
              </a:rPr>
              <a:t>A Green Team or Creation Care Crew with real jobs: audit lunch waste, tend a garden bed, lead a decade of the Rosary outdoors.</a:t>
            </a:r>
            <a:endParaRPr lang="en-US" sz="1300" dirty="0"/>
          </a:p>
        </p:txBody>
      </p:sp>
      <p:sp>
        <p:nvSpPr>
          <p:cNvPr id="19" name="Shape 17"/>
          <p:cNvSpPr/>
          <p:nvPr/>
        </p:nvSpPr>
        <p:spPr>
          <a:xfrm>
            <a:off x="8092440" y="3630168"/>
            <a:ext cx="3639312" cy="2331720"/>
          </a:xfrm>
          <a:prstGeom prst="roundRect">
            <a:avLst>
              <a:gd name="adj" fmla="val 3137"/>
            </a:avLst>
          </a:prstGeom>
          <a:solidFill>
            <a:srgbClr val="FFFBF3"/>
          </a:solidFill>
          <a:ln/>
        </p:spPr>
        <p:txBody>
          <a:bodyPr/>
          <a:p/>
        </p:txBody>
      </p:sp>
      <p:sp>
        <p:nvSpPr>
          <p:cNvPr id="20" name="Text 18"/>
          <p:cNvSpPr/>
          <p:nvPr/>
        </p:nvSpPr>
        <p:spPr>
          <a:xfrm>
            <a:off x="8293608" y="3831336"/>
            <a:ext cx="3236976" cy="502920"/>
          </a:xfrm>
          <a:prstGeom prst="rect">
            <a:avLst/>
          </a:prstGeom>
          <a:noFill/>
          <a:ln/>
        </p:spPr>
        <p:txBody>
          <a:bodyPr wrap="square" lIns="0" tIns="0" rIns="0" bIns="0" rtlCol="0" anchor="ctr"/>
          <a:lstStyle/>
          <a:p>
            <a:pPr indent="0" marL="0">
              <a:buNone/>
            </a:pPr>
            <a:r>
              <a:rPr lang="en-US" sz="1600" dirty="0">
                <a:solidFill>
                  <a:srgbClr val="1B3A2A"/>
                </a:solidFill>
                <a:latin typeface="Georgia" pitchFamily="34" charset="0"/>
                <a:ea typeface="Georgia" pitchFamily="34" charset="-122"/>
                <a:cs typeface="Georgia" pitchFamily="34" charset="-120"/>
              </a:rPr>
              <a:t>Hopeful honesty</a:t>
            </a:r>
            <a:endParaRPr lang="en-US" sz="1600" dirty="0"/>
          </a:p>
        </p:txBody>
      </p:sp>
      <p:sp>
        <p:nvSpPr>
          <p:cNvPr id="21" name="Text 19"/>
          <p:cNvSpPr/>
          <p:nvPr/>
        </p:nvSpPr>
        <p:spPr>
          <a:xfrm>
            <a:off x="8293608" y="4379976"/>
            <a:ext cx="3236976" cy="1371600"/>
          </a:xfrm>
          <a:prstGeom prst="rect">
            <a:avLst/>
          </a:prstGeom>
          <a:noFill/>
          <a:ln/>
        </p:spPr>
        <p:txBody>
          <a:bodyPr wrap="square" lIns="0" tIns="0" rIns="0" bIns="0" rtlCol="0" anchor="ctr"/>
          <a:lstStyle/>
          <a:p>
            <a:pPr indent="0" marL="0">
              <a:buNone/>
            </a:pPr>
            <a:r>
              <a:rPr lang="en-US" sz="1300" dirty="0">
                <a:solidFill>
                  <a:srgbClr val="4A554C"/>
                </a:solidFill>
                <a:latin typeface="Arial" pitchFamily="34" charset="0"/>
                <a:ea typeface="Arial" pitchFamily="34" charset="-122"/>
                <a:cs typeface="Arial" pitchFamily="34" charset="-120"/>
              </a:rPr>
              <a:t>Name waste and habitat loss without despair. Always pair a hard truth with a concrete good the class can do.</a:t>
            </a:r>
            <a:endParaRPr lang="en-US" sz="1300" dirty="0"/>
          </a:p>
        </p:txBody>
      </p:sp>
      <p:sp>
        <p:nvSpPr>
          <p:cNvPr id="22" name="Shape 20"/>
          <p:cNvSpPr/>
          <p:nvPr/>
        </p:nvSpPr>
        <p:spPr>
          <a:xfrm>
            <a:off x="502920" y="6510528"/>
            <a:ext cx="11183112" cy="0"/>
          </a:xfrm>
          <a:prstGeom prst="line">
            <a:avLst/>
          </a:prstGeom>
          <a:noFill/>
          <a:ln w="7620">
            <a:solidFill>
              <a:srgbClr val="C9C0A8"/>
            </a:solidFill>
            <a:prstDash val="solid"/>
          </a:ln>
        </p:spPr>
        <p:txBody>
          <a:bodyPr/>
          <a:p/>
        </p:txBody>
      </p:sp>
      <p:sp>
        <p:nvSpPr>
          <p:cNvPr id="23" name="Text 21"/>
          <p:cNvSpPr/>
          <p:nvPr/>
        </p:nvSpPr>
        <p:spPr>
          <a:xfrm>
            <a:off x="502920" y="6547104"/>
            <a:ext cx="8412480" cy="237744"/>
          </a:xfrm>
          <a:prstGeom prst="rect">
            <a:avLst/>
          </a:prstGeom>
          <a:noFill/>
          <a:ln/>
        </p:spPr>
        <p:txBody>
          <a:bodyPr wrap="square" lIns="0" tIns="0" rIns="0" bIns="0" rtlCol="0" anchor="ctr"/>
          <a:lstStyle/>
          <a:p>
            <a:pPr indent="0" marL="0">
              <a:buNone/>
            </a:pPr>
            <a:r>
              <a:rPr lang="en-US" sz="900" spc="120" kern="0" dirty="0">
                <a:solidFill>
                  <a:srgbClr val="6B736C"/>
                </a:solidFill>
                <a:latin typeface="Arial" pitchFamily="34" charset="0"/>
                <a:ea typeface="Arial" pitchFamily="34" charset="-122"/>
                <a:cs typeface="Arial" pitchFamily="34" charset="-120"/>
              </a:rPr>
              <a:t>CREATION CARE IN THE CLASSROOM  ·  K–5 CATHOLIC TEACHERS</a:t>
            </a:r>
            <a:endParaRPr lang="en-US" sz="900" dirty="0"/>
          </a:p>
        </p:txBody>
      </p:sp>
      <p:sp>
        <p:nvSpPr>
          <p:cNvPr id="24" name="Text 22"/>
          <p:cNvSpPr/>
          <p:nvPr/>
        </p:nvSpPr>
        <p:spPr>
          <a:xfrm>
            <a:off x="9509760" y="6547104"/>
            <a:ext cx="2176272" cy="237744"/>
          </a:xfrm>
          <a:prstGeom prst="rect">
            <a:avLst/>
          </a:prstGeom>
          <a:noFill/>
          <a:ln/>
        </p:spPr>
        <p:txBody>
          <a:bodyPr wrap="square" lIns="0" tIns="0" rIns="0" bIns="0" rtlCol="0" anchor="ctr"/>
          <a:lstStyle/>
          <a:p>
            <a:pPr algn="r" indent="0" marL="0">
              <a:buNone/>
            </a:pPr>
            <a:r>
              <a:rPr lang="en-US" sz="900" dirty="0">
                <a:solidFill>
                  <a:srgbClr val="6B736C"/>
                </a:solidFill>
                <a:latin typeface="Arial" pitchFamily="34" charset="0"/>
                <a:ea typeface="Arial" pitchFamily="34" charset="-122"/>
                <a:cs typeface="Arial" pitchFamily="34" charset="-120"/>
              </a:rPr>
              <a:t>14  /  30</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3">
    <p:bg>
      <p:bgPr>
        <a:solidFill>
          <a:srgbClr val="F4EFE2"/>
        </a:solidFill>
      </p:bgPr>
    </p:bg>
    <p:spTree>
      <p:nvGrpSpPr>
        <p:cNvPr id="1" name=""/>
        <p:cNvGrpSpPr/>
        <p:nvPr/>
      </p:nvGrpSpPr>
      <p:grpSpPr>
        <a:xfrm>
          <a:off x="0" y="0"/>
          <a:ext cx="0" cy="0"/>
          <a:chOff x="0" y="0"/>
          <a:chExt cx="0" cy="0"/>
        </a:xfrm>
      </p:grpSpPr>
      <p:sp>
        <p:nvSpPr>
          <p:cNvPr id="2" name="Text 0"/>
          <p:cNvSpPr/>
          <p:nvPr/>
        </p:nvSpPr>
        <p:spPr>
          <a:xfrm>
            <a:off x="502920" y="256032"/>
            <a:ext cx="11155680" cy="219456"/>
          </a:xfrm>
          <a:prstGeom prst="rect">
            <a:avLst/>
          </a:prstGeom>
          <a:noFill/>
          <a:ln/>
        </p:spPr>
        <p:txBody>
          <a:bodyPr wrap="square" lIns="0" tIns="0" rIns="0" bIns="0" rtlCol="0" anchor="ctr"/>
          <a:lstStyle/>
          <a:p>
            <a:pPr indent="0" marL="0">
              <a:buNone/>
            </a:pPr>
            <a:r>
              <a:rPr lang="en-US" sz="1100" b="1" spc="220" kern="0" dirty="0">
                <a:solidFill>
                  <a:srgbClr val="4F7A5C"/>
                </a:solidFill>
                <a:latin typeface="Arial" pitchFamily="34" charset="0"/>
                <a:ea typeface="Arial" pitchFamily="34" charset="-122"/>
                <a:cs typeface="Arial" pitchFamily="34" charset="-120"/>
              </a:rPr>
              <a:t>12  ·  CULTURE IS BUILT IN MINUTES</a:t>
            </a:r>
            <a:endParaRPr lang="en-US" sz="1100" dirty="0"/>
          </a:p>
        </p:txBody>
      </p:sp>
      <p:sp>
        <p:nvSpPr>
          <p:cNvPr id="3" name="Text 1"/>
          <p:cNvSpPr/>
          <p:nvPr/>
        </p:nvSpPr>
        <p:spPr>
          <a:xfrm>
            <a:off x="502920" y="475488"/>
            <a:ext cx="11155680" cy="475488"/>
          </a:xfrm>
          <a:prstGeom prst="rect">
            <a:avLst/>
          </a:prstGeom>
          <a:noFill/>
          <a:ln/>
        </p:spPr>
        <p:txBody>
          <a:bodyPr wrap="square" lIns="0" tIns="0" rIns="0" bIns="0" rtlCol="0" anchor="ctr"/>
          <a:lstStyle/>
          <a:p>
            <a:pPr indent="0" marL="0">
              <a:buNone/>
            </a:pPr>
            <a:r>
              <a:rPr lang="en-US" sz="2600" dirty="0">
                <a:solidFill>
                  <a:srgbClr val="1B3A2A"/>
                </a:solidFill>
                <a:latin typeface="Georgia" pitchFamily="34" charset="0"/>
                <a:ea typeface="Georgia" pitchFamily="34" charset="-122"/>
                <a:cs typeface="Georgia" pitchFamily="34" charset="-120"/>
              </a:rPr>
              <a:t>Routines that form disciples</a:t>
            </a:r>
            <a:endParaRPr lang="en-US" sz="2600" dirty="0"/>
          </a:p>
        </p:txBody>
      </p:sp>
      <p:sp>
        <p:nvSpPr>
          <p:cNvPr id="4" name="Shape 2"/>
          <p:cNvSpPr/>
          <p:nvPr/>
        </p:nvSpPr>
        <p:spPr>
          <a:xfrm>
            <a:off x="502920" y="1143000"/>
            <a:ext cx="3639312" cy="4736592"/>
          </a:xfrm>
          <a:prstGeom prst="roundRect">
            <a:avLst>
              <a:gd name="adj" fmla="val 2010"/>
            </a:avLst>
          </a:prstGeom>
          <a:solidFill>
            <a:srgbClr val="FFFBF3"/>
          </a:solidFill>
          <a:ln/>
        </p:spPr>
        <p:txBody>
          <a:bodyPr/>
          <a:p/>
        </p:txBody>
      </p:sp>
      <p:sp>
        <p:nvSpPr>
          <p:cNvPr id="5" name="Text 3"/>
          <p:cNvSpPr/>
          <p:nvPr/>
        </p:nvSpPr>
        <p:spPr>
          <a:xfrm>
            <a:off x="731520" y="1371600"/>
            <a:ext cx="3182112" cy="320040"/>
          </a:xfrm>
          <a:prstGeom prst="rect">
            <a:avLst/>
          </a:prstGeom>
          <a:noFill/>
          <a:ln/>
        </p:spPr>
        <p:txBody>
          <a:bodyPr wrap="square" lIns="0" tIns="0" rIns="0" bIns="0" rtlCol="0" anchor="ctr"/>
          <a:lstStyle/>
          <a:p>
            <a:pPr indent="0" marL="0">
              <a:buNone/>
            </a:pPr>
            <a:r>
              <a:rPr lang="en-US" sz="1300" b="1" spc="160" kern="0" dirty="0">
                <a:solidFill>
                  <a:srgbClr val="1B3A2A"/>
                </a:solidFill>
                <a:latin typeface="Arial" pitchFamily="34" charset="0"/>
                <a:ea typeface="Arial" pitchFamily="34" charset="-122"/>
                <a:cs typeface="Arial" pitchFamily="34" charset="-120"/>
              </a:rPr>
              <a:t>DAILY</a:t>
            </a:r>
            <a:endParaRPr lang="en-US" sz="1300" dirty="0"/>
          </a:p>
        </p:txBody>
      </p:sp>
      <p:sp>
        <p:nvSpPr>
          <p:cNvPr id="6" name="Text 4"/>
          <p:cNvSpPr/>
          <p:nvPr/>
        </p:nvSpPr>
        <p:spPr>
          <a:xfrm>
            <a:off x="731520" y="1965960"/>
            <a:ext cx="3182112" cy="960120"/>
          </a:xfrm>
          <a:prstGeom prst="rect">
            <a:avLst/>
          </a:prstGeom>
          <a:noFill/>
          <a:ln/>
        </p:spPr>
        <p:txBody>
          <a:bodyPr wrap="square" lIns="0" tIns="0" rIns="0" bIns="0" rtlCol="0" anchor="ctr"/>
          <a:lstStyle/>
          <a:p>
            <a:pPr indent="0" marL="0">
              <a:buNone/>
            </a:pPr>
            <a:r>
              <a:rPr lang="en-US" sz="1600" dirty="0">
                <a:solidFill>
                  <a:srgbClr val="4A554C"/>
                </a:solidFill>
                <a:latin typeface="Arial" pitchFamily="34" charset="0"/>
                <a:ea typeface="Arial" pitchFamily="34" charset="-122"/>
                <a:cs typeface="Arial" pitchFamily="34" charset="-120"/>
              </a:rPr>
              <a:t>Morning offering that names one gift of creation</a:t>
            </a:r>
            <a:endParaRPr lang="en-US" sz="1600" dirty="0"/>
          </a:p>
        </p:txBody>
      </p:sp>
      <p:sp>
        <p:nvSpPr>
          <p:cNvPr id="7" name="Text 5"/>
          <p:cNvSpPr/>
          <p:nvPr/>
        </p:nvSpPr>
        <p:spPr>
          <a:xfrm>
            <a:off x="731520" y="3063240"/>
            <a:ext cx="3182112" cy="960120"/>
          </a:xfrm>
          <a:prstGeom prst="rect">
            <a:avLst/>
          </a:prstGeom>
          <a:noFill/>
          <a:ln/>
        </p:spPr>
        <p:txBody>
          <a:bodyPr wrap="square" lIns="0" tIns="0" rIns="0" bIns="0" rtlCol="0" anchor="ctr"/>
          <a:lstStyle/>
          <a:p>
            <a:pPr indent="0" marL="0">
              <a:buNone/>
            </a:pPr>
            <a:r>
              <a:rPr lang="en-US" sz="1600" dirty="0">
                <a:solidFill>
                  <a:srgbClr val="4A554C"/>
                </a:solidFill>
                <a:latin typeface="Arial" pitchFamily="34" charset="0"/>
                <a:ea typeface="Arial" pitchFamily="34" charset="-122"/>
                <a:cs typeface="Arial" pitchFamily="34" charset="-120"/>
              </a:rPr>
              <a:t>Lights and paper monitors with a 20-second rationale</a:t>
            </a:r>
            <a:endParaRPr lang="en-US" sz="1600" dirty="0"/>
          </a:p>
        </p:txBody>
      </p:sp>
      <p:sp>
        <p:nvSpPr>
          <p:cNvPr id="8" name="Text 6"/>
          <p:cNvSpPr/>
          <p:nvPr/>
        </p:nvSpPr>
        <p:spPr>
          <a:xfrm>
            <a:off x="731520" y="4160520"/>
            <a:ext cx="3182112" cy="960120"/>
          </a:xfrm>
          <a:prstGeom prst="rect">
            <a:avLst/>
          </a:prstGeom>
          <a:noFill/>
          <a:ln/>
        </p:spPr>
        <p:txBody>
          <a:bodyPr wrap="square" lIns="0" tIns="0" rIns="0" bIns="0" rtlCol="0" anchor="ctr"/>
          <a:lstStyle/>
          <a:p>
            <a:pPr indent="0" marL="0">
              <a:buNone/>
            </a:pPr>
            <a:r>
              <a:rPr lang="en-US" sz="1600" dirty="0">
                <a:solidFill>
                  <a:srgbClr val="4A554C"/>
                </a:solidFill>
                <a:latin typeface="Arial" pitchFamily="34" charset="0"/>
                <a:ea typeface="Arial" pitchFamily="34" charset="-122"/>
                <a:cs typeface="Arial" pitchFamily="34" charset="-120"/>
              </a:rPr>
              <a:t>A plant or pet check before dismissal</a:t>
            </a:r>
            <a:endParaRPr lang="en-US" sz="1600" dirty="0"/>
          </a:p>
        </p:txBody>
      </p:sp>
      <p:sp>
        <p:nvSpPr>
          <p:cNvPr id="9" name="Shape 7"/>
          <p:cNvSpPr/>
          <p:nvPr/>
        </p:nvSpPr>
        <p:spPr>
          <a:xfrm>
            <a:off x="4297680" y="1143000"/>
            <a:ext cx="3639312" cy="4736592"/>
          </a:xfrm>
          <a:prstGeom prst="roundRect">
            <a:avLst>
              <a:gd name="adj" fmla="val 2010"/>
            </a:avLst>
          </a:prstGeom>
          <a:solidFill>
            <a:srgbClr val="1B3A2A"/>
          </a:solidFill>
          <a:ln/>
        </p:spPr>
        <p:txBody>
          <a:bodyPr/>
          <a:p/>
        </p:txBody>
      </p:sp>
      <p:sp>
        <p:nvSpPr>
          <p:cNvPr id="10" name="Text 8"/>
          <p:cNvSpPr/>
          <p:nvPr/>
        </p:nvSpPr>
        <p:spPr>
          <a:xfrm>
            <a:off x="4526280" y="1371600"/>
            <a:ext cx="3182112" cy="320040"/>
          </a:xfrm>
          <a:prstGeom prst="rect">
            <a:avLst/>
          </a:prstGeom>
          <a:noFill/>
          <a:ln/>
        </p:spPr>
        <p:txBody>
          <a:bodyPr wrap="square" lIns="0" tIns="0" rIns="0" bIns="0" rtlCol="0" anchor="ctr"/>
          <a:lstStyle/>
          <a:p>
            <a:pPr indent="0" marL="0">
              <a:buNone/>
            </a:pPr>
            <a:r>
              <a:rPr lang="en-US" sz="1300" b="1" spc="160" kern="0" dirty="0">
                <a:solidFill>
                  <a:srgbClr val="C4A35A"/>
                </a:solidFill>
                <a:latin typeface="Arial" pitchFamily="34" charset="0"/>
                <a:ea typeface="Arial" pitchFamily="34" charset="-122"/>
                <a:cs typeface="Arial" pitchFamily="34" charset="-120"/>
              </a:rPr>
              <a:t>WEEKLY</a:t>
            </a:r>
            <a:endParaRPr lang="en-US" sz="1300" dirty="0"/>
          </a:p>
        </p:txBody>
      </p:sp>
      <p:sp>
        <p:nvSpPr>
          <p:cNvPr id="11" name="Text 9"/>
          <p:cNvSpPr/>
          <p:nvPr/>
        </p:nvSpPr>
        <p:spPr>
          <a:xfrm>
            <a:off x="4526280" y="1965960"/>
            <a:ext cx="3182112" cy="960120"/>
          </a:xfrm>
          <a:prstGeom prst="rect">
            <a:avLst/>
          </a:prstGeom>
          <a:noFill/>
          <a:ln/>
        </p:spPr>
        <p:txBody>
          <a:bodyPr wrap="square" lIns="0" tIns="0" rIns="0" bIns="0" rtlCol="0" anchor="ctr"/>
          <a:lstStyle/>
          <a:p>
            <a:pPr indent="0" marL="0">
              <a:buNone/>
            </a:pPr>
            <a:r>
              <a:rPr lang="en-US" sz="1600" dirty="0">
                <a:solidFill>
                  <a:srgbClr val="F4EFE2"/>
                </a:solidFill>
                <a:latin typeface="Arial" pitchFamily="34" charset="0"/>
                <a:ea typeface="Arial" pitchFamily="34" charset="-122"/>
                <a:cs typeface="Arial" pitchFamily="34" charset="-120"/>
              </a:rPr>
              <a:t>Ten-minute outdoor prayer or nature observation</a:t>
            </a:r>
            <a:endParaRPr lang="en-US" sz="1600" dirty="0"/>
          </a:p>
        </p:txBody>
      </p:sp>
      <p:sp>
        <p:nvSpPr>
          <p:cNvPr id="12" name="Text 10"/>
          <p:cNvSpPr/>
          <p:nvPr/>
        </p:nvSpPr>
        <p:spPr>
          <a:xfrm>
            <a:off x="4526280" y="3063240"/>
            <a:ext cx="3182112" cy="960120"/>
          </a:xfrm>
          <a:prstGeom prst="rect">
            <a:avLst/>
          </a:prstGeom>
          <a:noFill/>
          <a:ln/>
        </p:spPr>
        <p:txBody>
          <a:bodyPr wrap="square" lIns="0" tIns="0" rIns="0" bIns="0" rtlCol="0" anchor="ctr"/>
          <a:lstStyle/>
          <a:p>
            <a:pPr indent="0" marL="0">
              <a:buNone/>
            </a:pPr>
            <a:r>
              <a:rPr lang="en-US" sz="1600" dirty="0">
                <a:solidFill>
                  <a:srgbClr val="F4EFE2"/>
                </a:solidFill>
                <a:latin typeface="Arial" pitchFamily="34" charset="0"/>
                <a:ea typeface="Arial" pitchFamily="34" charset="-122"/>
                <a:cs typeface="Arial" pitchFamily="34" charset="-120"/>
              </a:rPr>
              <a:t>One literacy or science block that touches creation</a:t>
            </a:r>
            <a:endParaRPr lang="en-US" sz="1600" dirty="0"/>
          </a:p>
        </p:txBody>
      </p:sp>
      <p:sp>
        <p:nvSpPr>
          <p:cNvPr id="13" name="Text 11"/>
          <p:cNvSpPr/>
          <p:nvPr/>
        </p:nvSpPr>
        <p:spPr>
          <a:xfrm>
            <a:off x="4526280" y="4160520"/>
            <a:ext cx="3182112" cy="960120"/>
          </a:xfrm>
          <a:prstGeom prst="rect">
            <a:avLst/>
          </a:prstGeom>
          <a:noFill/>
          <a:ln/>
        </p:spPr>
        <p:txBody>
          <a:bodyPr wrap="square" lIns="0" tIns="0" rIns="0" bIns="0" rtlCol="0" anchor="ctr"/>
          <a:lstStyle/>
          <a:p>
            <a:pPr indent="0" marL="0">
              <a:buNone/>
            </a:pPr>
            <a:r>
              <a:rPr lang="en-US" sz="1600" dirty="0">
                <a:solidFill>
                  <a:srgbClr val="F4EFE2"/>
                </a:solidFill>
                <a:latin typeface="Arial" pitchFamily="34" charset="0"/>
                <a:ea typeface="Arial" pitchFamily="34" charset="-122"/>
                <a:cs typeface="Arial" pitchFamily="34" charset="-120"/>
              </a:rPr>
              <a:t>Classroom waste sort with a quick count</a:t>
            </a:r>
            <a:endParaRPr lang="en-US" sz="1600" dirty="0"/>
          </a:p>
        </p:txBody>
      </p:sp>
      <p:sp>
        <p:nvSpPr>
          <p:cNvPr id="14" name="Shape 12"/>
          <p:cNvSpPr/>
          <p:nvPr/>
        </p:nvSpPr>
        <p:spPr>
          <a:xfrm>
            <a:off x="8092440" y="1143000"/>
            <a:ext cx="3639312" cy="4736592"/>
          </a:xfrm>
          <a:prstGeom prst="roundRect">
            <a:avLst>
              <a:gd name="adj" fmla="val 2010"/>
            </a:avLst>
          </a:prstGeom>
          <a:solidFill>
            <a:srgbClr val="FFFBF3"/>
          </a:solidFill>
          <a:ln/>
        </p:spPr>
        <p:txBody>
          <a:bodyPr/>
          <a:p/>
        </p:txBody>
      </p:sp>
      <p:sp>
        <p:nvSpPr>
          <p:cNvPr id="15" name="Text 13"/>
          <p:cNvSpPr/>
          <p:nvPr/>
        </p:nvSpPr>
        <p:spPr>
          <a:xfrm>
            <a:off x="8321040" y="1371600"/>
            <a:ext cx="3182112" cy="320040"/>
          </a:xfrm>
          <a:prstGeom prst="rect">
            <a:avLst/>
          </a:prstGeom>
          <a:noFill/>
          <a:ln/>
        </p:spPr>
        <p:txBody>
          <a:bodyPr wrap="square" lIns="0" tIns="0" rIns="0" bIns="0" rtlCol="0" anchor="ctr"/>
          <a:lstStyle/>
          <a:p>
            <a:pPr indent="0" marL="0">
              <a:buNone/>
            </a:pPr>
            <a:r>
              <a:rPr lang="en-US" sz="1300" b="1" spc="160" kern="0" dirty="0">
                <a:solidFill>
                  <a:srgbClr val="1B3A2A"/>
                </a:solidFill>
                <a:latin typeface="Arial" pitchFamily="34" charset="0"/>
                <a:ea typeface="Arial" pitchFamily="34" charset="-122"/>
                <a:cs typeface="Arial" pitchFamily="34" charset="-120"/>
              </a:rPr>
              <a:t>SEASONAL</a:t>
            </a:r>
            <a:endParaRPr lang="en-US" sz="1300" dirty="0"/>
          </a:p>
        </p:txBody>
      </p:sp>
      <p:sp>
        <p:nvSpPr>
          <p:cNvPr id="16" name="Text 14"/>
          <p:cNvSpPr/>
          <p:nvPr/>
        </p:nvSpPr>
        <p:spPr>
          <a:xfrm>
            <a:off x="8321040" y="1965960"/>
            <a:ext cx="3182112" cy="960120"/>
          </a:xfrm>
          <a:prstGeom prst="rect">
            <a:avLst/>
          </a:prstGeom>
          <a:noFill/>
          <a:ln/>
        </p:spPr>
        <p:txBody>
          <a:bodyPr wrap="square" lIns="0" tIns="0" rIns="0" bIns="0" rtlCol="0" anchor="ctr"/>
          <a:lstStyle/>
          <a:p>
            <a:pPr indent="0" marL="0">
              <a:buNone/>
            </a:pPr>
            <a:r>
              <a:rPr lang="en-US" sz="1600" dirty="0">
                <a:solidFill>
                  <a:srgbClr val="4A554C"/>
                </a:solidFill>
                <a:latin typeface="Arial" pitchFamily="34" charset="0"/>
                <a:ea typeface="Arial" pitchFamily="34" charset="-122"/>
                <a:cs typeface="Arial" pitchFamily="34" charset="-120"/>
              </a:rPr>
              <a:t>Season of Creation, Sept 1–Oct 4</a:t>
            </a:r>
            <a:endParaRPr lang="en-US" sz="1600" dirty="0"/>
          </a:p>
        </p:txBody>
      </p:sp>
      <p:sp>
        <p:nvSpPr>
          <p:cNvPr id="17" name="Text 15"/>
          <p:cNvSpPr/>
          <p:nvPr/>
        </p:nvSpPr>
        <p:spPr>
          <a:xfrm>
            <a:off x="8321040" y="3063240"/>
            <a:ext cx="3182112" cy="960120"/>
          </a:xfrm>
          <a:prstGeom prst="rect">
            <a:avLst/>
          </a:prstGeom>
          <a:noFill/>
          <a:ln/>
        </p:spPr>
        <p:txBody>
          <a:bodyPr wrap="square" lIns="0" tIns="0" rIns="0" bIns="0" rtlCol="0" anchor="ctr"/>
          <a:lstStyle/>
          <a:p>
            <a:pPr indent="0" marL="0">
              <a:buNone/>
            </a:pPr>
            <a:r>
              <a:rPr lang="en-US" sz="1600" dirty="0">
                <a:solidFill>
                  <a:srgbClr val="4A554C"/>
                </a:solidFill>
                <a:latin typeface="Arial" pitchFamily="34" charset="0"/>
                <a:ea typeface="Arial" pitchFamily="34" charset="-122"/>
                <a:cs typeface="Arial" pitchFamily="34" charset="-120"/>
              </a:rPr>
              <a:t>St. Francis feast and blessing of animals</a:t>
            </a:r>
            <a:endParaRPr lang="en-US" sz="1600" dirty="0"/>
          </a:p>
        </p:txBody>
      </p:sp>
      <p:sp>
        <p:nvSpPr>
          <p:cNvPr id="18" name="Text 16"/>
          <p:cNvSpPr/>
          <p:nvPr/>
        </p:nvSpPr>
        <p:spPr>
          <a:xfrm>
            <a:off x="8321040" y="4160520"/>
            <a:ext cx="3182112" cy="960120"/>
          </a:xfrm>
          <a:prstGeom prst="rect">
            <a:avLst/>
          </a:prstGeom>
          <a:noFill/>
          <a:ln/>
        </p:spPr>
        <p:txBody>
          <a:bodyPr wrap="square" lIns="0" tIns="0" rIns="0" bIns="0" rtlCol="0" anchor="ctr"/>
          <a:lstStyle/>
          <a:p>
            <a:pPr indent="0" marL="0">
              <a:buNone/>
            </a:pPr>
            <a:r>
              <a:rPr lang="en-US" sz="1600" dirty="0">
                <a:solidFill>
                  <a:srgbClr val="4A554C"/>
                </a:solidFill>
                <a:latin typeface="Arial" pitchFamily="34" charset="0"/>
                <a:ea typeface="Arial" pitchFamily="34" charset="-122"/>
                <a:cs typeface="Arial" pitchFamily="34" charset="-120"/>
              </a:rPr>
              <a:t>Advent simplicity, Lent repair-and-give, Easter garden</a:t>
            </a:r>
            <a:endParaRPr lang="en-US" sz="1600" dirty="0"/>
          </a:p>
        </p:txBody>
      </p:sp>
      <p:sp>
        <p:nvSpPr>
          <p:cNvPr id="19" name="Shape 17"/>
          <p:cNvSpPr/>
          <p:nvPr/>
        </p:nvSpPr>
        <p:spPr>
          <a:xfrm>
            <a:off x="502920" y="6510528"/>
            <a:ext cx="11183112" cy="0"/>
          </a:xfrm>
          <a:prstGeom prst="line">
            <a:avLst/>
          </a:prstGeom>
          <a:noFill/>
          <a:ln w="7620">
            <a:solidFill>
              <a:srgbClr val="C9C0A8"/>
            </a:solidFill>
            <a:prstDash val="solid"/>
          </a:ln>
        </p:spPr>
        <p:txBody>
          <a:bodyPr/>
          <a:p/>
        </p:txBody>
      </p:sp>
      <p:sp>
        <p:nvSpPr>
          <p:cNvPr id="20" name="Text 18"/>
          <p:cNvSpPr/>
          <p:nvPr/>
        </p:nvSpPr>
        <p:spPr>
          <a:xfrm>
            <a:off x="502920" y="6547104"/>
            <a:ext cx="8412480" cy="237744"/>
          </a:xfrm>
          <a:prstGeom prst="rect">
            <a:avLst/>
          </a:prstGeom>
          <a:noFill/>
          <a:ln/>
        </p:spPr>
        <p:txBody>
          <a:bodyPr wrap="square" lIns="0" tIns="0" rIns="0" bIns="0" rtlCol="0" anchor="ctr"/>
          <a:lstStyle/>
          <a:p>
            <a:pPr indent="0" marL="0">
              <a:buNone/>
            </a:pPr>
            <a:r>
              <a:rPr lang="en-US" sz="900" spc="120" kern="0" dirty="0">
                <a:solidFill>
                  <a:srgbClr val="6B736C"/>
                </a:solidFill>
                <a:latin typeface="Arial" pitchFamily="34" charset="0"/>
                <a:ea typeface="Arial" pitchFamily="34" charset="-122"/>
                <a:cs typeface="Arial" pitchFamily="34" charset="-120"/>
              </a:rPr>
              <a:t>CREATION CARE IN THE CLASSROOM  ·  K–5 CATHOLIC TEACHERS</a:t>
            </a:r>
            <a:endParaRPr lang="en-US" sz="900" dirty="0"/>
          </a:p>
        </p:txBody>
      </p:sp>
      <p:sp>
        <p:nvSpPr>
          <p:cNvPr id="21" name="Text 19"/>
          <p:cNvSpPr/>
          <p:nvPr/>
        </p:nvSpPr>
        <p:spPr>
          <a:xfrm>
            <a:off x="9509760" y="6547104"/>
            <a:ext cx="2176272" cy="237744"/>
          </a:xfrm>
          <a:prstGeom prst="rect">
            <a:avLst/>
          </a:prstGeom>
          <a:noFill/>
          <a:ln/>
        </p:spPr>
        <p:txBody>
          <a:bodyPr wrap="square" lIns="0" tIns="0" rIns="0" bIns="0" rtlCol="0" anchor="ctr"/>
          <a:lstStyle/>
          <a:p>
            <a:pPr algn="r" indent="0" marL="0">
              <a:buNone/>
            </a:pPr>
            <a:r>
              <a:rPr lang="en-US" sz="900" dirty="0">
                <a:solidFill>
                  <a:srgbClr val="6B736C"/>
                </a:solidFill>
                <a:latin typeface="Arial" pitchFamily="34" charset="0"/>
                <a:ea typeface="Arial" pitchFamily="34" charset="-122"/>
                <a:cs typeface="Arial" pitchFamily="34" charset="-120"/>
              </a:rPr>
              <a:t>15  /  30</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4">
    <p:bg>
      <p:bgPr>
        <a:solidFill>
          <a:srgbClr val="F4EFE2"/>
        </a:solidFill>
      </p:bgPr>
    </p:bg>
    <p:spTree>
      <p:nvGrpSpPr>
        <p:cNvPr id="1" name=""/>
        <p:cNvGrpSpPr/>
        <p:nvPr/>
      </p:nvGrpSpPr>
      <p:grpSpPr>
        <a:xfrm>
          <a:off x="0" y="0"/>
          <a:ext cx="0" cy="0"/>
          <a:chOff x="0" y="0"/>
          <a:chExt cx="0" cy="0"/>
        </a:xfrm>
      </p:grpSpPr>
      <p:sp>
        <p:nvSpPr>
          <p:cNvPr id="2" name="Text 0"/>
          <p:cNvSpPr/>
          <p:nvPr/>
        </p:nvSpPr>
        <p:spPr>
          <a:xfrm>
            <a:off x="502920" y="256032"/>
            <a:ext cx="11155680" cy="219456"/>
          </a:xfrm>
          <a:prstGeom prst="rect">
            <a:avLst/>
          </a:prstGeom>
          <a:noFill/>
          <a:ln/>
        </p:spPr>
        <p:txBody>
          <a:bodyPr wrap="square" lIns="0" tIns="0" rIns="0" bIns="0" rtlCol="0" anchor="ctr"/>
          <a:lstStyle/>
          <a:p>
            <a:pPr indent="0" marL="0">
              <a:buNone/>
            </a:pPr>
            <a:r>
              <a:rPr lang="en-US" sz="1100" b="1" spc="220" kern="0" dirty="0">
                <a:solidFill>
                  <a:srgbClr val="4F7A5C"/>
                </a:solidFill>
                <a:latin typeface="Arial" pitchFamily="34" charset="0"/>
                <a:ea typeface="Arial" pitchFamily="34" charset="-122"/>
                <a:cs typeface="Arial" pitchFamily="34" charset="-120"/>
              </a:rPr>
              <a:t>13  ·  NOT AN ADD-ON</a:t>
            </a:r>
            <a:endParaRPr lang="en-US" sz="1100" dirty="0"/>
          </a:p>
        </p:txBody>
      </p:sp>
      <p:sp>
        <p:nvSpPr>
          <p:cNvPr id="3" name="Text 1"/>
          <p:cNvSpPr/>
          <p:nvPr/>
        </p:nvSpPr>
        <p:spPr>
          <a:xfrm>
            <a:off x="502920" y="475488"/>
            <a:ext cx="11155680" cy="475488"/>
          </a:xfrm>
          <a:prstGeom prst="rect">
            <a:avLst/>
          </a:prstGeom>
          <a:noFill/>
          <a:ln/>
        </p:spPr>
        <p:txBody>
          <a:bodyPr wrap="square" lIns="0" tIns="0" rIns="0" bIns="0" rtlCol="0" anchor="ctr"/>
          <a:lstStyle/>
          <a:p>
            <a:pPr indent="0" marL="0">
              <a:buNone/>
            </a:pPr>
            <a:r>
              <a:rPr lang="en-US" sz="2600" dirty="0">
                <a:solidFill>
                  <a:srgbClr val="1B3A2A"/>
                </a:solidFill>
                <a:latin typeface="Georgia" pitchFamily="34" charset="0"/>
                <a:ea typeface="Georgia" pitchFamily="34" charset="-122"/>
                <a:cs typeface="Georgia" pitchFamily="34" charset="-120"/>
              </a:rPr>
              <a:t>Where creation care already lives</a:t>
            </a:r>
            <a:endParaRPr lang="en-US" sz="2600" dirty="0"/>
          </a:p>
        </p:txBody>
      </p:sp>
      <p:sp>
        <p:nvSpPr>
          <p:cNvPr id="4" name="Shape 2"/>
          <p:cNvSpPr/>
          <p:nvPr/>
        </p:nvSpPr>
        <p:spPr>
          <a:xfrm>
            <a:off x="502920" y="1115568"/>
            <a:ext cx="3639312" cy="2331720"/>
          </a:xfrm>
          <a:prstGeom prst="roundRect">
            <a:avLst>
              <a:gd name="adj" fmla="val 3137"/>
            </a:avLst>
          </a:prstGeom>
          <a:solidFill>
            <a:srgbClr val="FFFBF3"/>
          </a:solidFill>
          <a:ln/>
        </p:spPr>
        <p:txBody>
          <a:bodyPr/>
          <a:p/>
        </p:txBody>
      </p:sp>
      <p:pic>
        <p:nvPicPr>
          <p:cNvPr id="5" name="Image 0" descr="preencoded.png">    </p:cNvPr>
          <p:cNvPicPr>
            <a:picLocks noChangeAspect="1"/>
          </p:cNvPicPr>
          <p:nvPr/>
        </p:nvPicPr>
        <p:blipFill>
          <a:blip r:embed="rId1"/>
          <a:stretch>
            <a:fillRect/>
          </a:stretch>
        </p:blipFill>
        <p:spPr>
          <a:xfrm>
            <a:off x="704088" y="1316736"/>
            <a:ext cx="292608" cy="292608"/>
          </a:xfrm>
          <a:prstGeom prst="rect">
            <a:avLst/>
          </a:prstGeom>
        </p:spPr>
      </p:pic>
      <p:sp>
        <p:nvSpPr>
          <p:cNvPr id="6" name="Text 3"/>
          <p:cNvSpPr/>
          <p:nvPr/>
        </p:nvSpPr>
        <p:spPr>
          <a:xfrm>
            <a:off x="1069848" y="1298448"/>
            <a:ext cx="2880360" cy="329184"/>
          </a:xfrm>
          <a:prstGeom prst="rect">
            <a:avLst/>
          </a:prstGeom>
          <a:noFill/>
          <a:ln/>
        </p:spPr>
        <p:txBody>
          <a:bodyPr wrap="square" lIns="0" tIns="0" rIns="0" bIns="0" rtlCol="0" anchor="ctr"/>
          <a:lstStyle/>
          <a:p>
            <a:pPr indent="0" marL="0">
              <a:buNone/>
            </a:pPr>
            <a:r>
              <a:rPr lang="en-US" sz="1800" dirty="0">
                <a:solidFill>
                  <a:srgbClr val="1B3A2A"/>
                </a:solidFill>
                <a:latin typeface="Georgia" pitchFamily="34" charset="0"/>
                <a:ea typeface="Georgia" pitchFamily="34" charset="-122"/>
                <a:cs typeface="Georgia" pitchFamily="34" charset="-120"/>
              </a:rPr>
              <a:t>Religion</a:t>
            </a:r>
            <a:endParaRPr lang="en-US" sz="1800" dirty="0"/>
          </a:p>
        </p:txBody>
      </p:sp>
      <p:sp>
        <p:nvSpPr>
          <p:cNvPr id="7" name="Text 4"/>
          <p:cNvSpPr/>
          <p:nvPr/>
        </p:nvSpPr>
        <p:spPr>
          <a:xfrm>
            <a:off x="704088" y="1755648"/>
            <a:ext cx="3236976" cy="1508760"/>
          </a:xfrm>
          <a:prstGeom prst="rect">
            <a:avLst/>
          </a:prstGeom>
          <a:noFill/>
          <a:ln/>
        </p:spPr>
        <p:txBody>
          <a:bodyPr wrap="square" lIns="0" tIns="0" rIns="0" bIns="0" rtlCol="0" anchor="ctr"/>
          <a:lstStyle/>
          <a:p>
            <a:pPr indent="0" marL="0">
              <a:buNone/>
            </a:pPr>
            <a:r>
              <a:rPr lang="en-US" sz="1400" dirty="0">
                <a:solidFill>
                  <a:srgbClr val="4A554C"/>
                </a:solidFill>
                <a:latin typeface="Arial" pitchFamily="34" charset="0"/>
                <a:ea typeface="Arial" pitchFamily="34" charset="-122"/>
                <a:cs typeface="Arial" pitchFamily="34" charset="-120"/>
              </a:rPr>
              <a:t>Genesis 1–2, Psalms 8 and 104, parables of seed and vineyard, saints, examination of conscience on waste and kindness.</a:t>
            </a:r>
            <a:endParaRPr lang="en-US" sz="1400" dirty="0"/>
          </a:p>
        </p:txBody>
      </p:sp>
      <p:sp>
        <p:nvSpPr>
          <p:cNvPr id="8" name="Shape 5"/>
          <p:cNvSpPr/>
          <p:nvPr/>
        </p:nvSpPr>
        <p:spPr>
          <a:xfrm>
            <a:off x="4297680" y="1115568"/>
            <a:ext cx="3639312" cy="2331720"/>
          </a:xfrm>
          <a:prstGeom prst="roundRect">
            <a:avLst>
              <a:gd name="adj" fmla="val 3137"/>
            </a:avLst>
          </a:prstGeom>
          <a:solidFill>
            <a:srgbClr val="FFFBF3"/>
          </a:solidFill>
          <a:ln/>
        </p:spPr>
        <p:txBody>
          <a:bodyPr/>
          <a:p/>
        </p:txBody>
      </p:sp>
      <p:pic>
        <p:nvPicPr>
          <p:cNvPr id="9" name="Image 1" descr="preencoded.png">    </p:cNvPr>
          <p:cNvPicPr>
            <a:picLocks noChangeAspect="1"/>
          </p:cNvPicPr>
          <p:nvPr/>
        </p:nvPicPr>
        <p:blipFill>
          <a:blip r:embed="rId2"/>
          <a:stretch>
            <a:fillRect/>
          </a:stretch>
        </p:blipFill>
        <p:spPr>
          <a:xfrm>
            <a:off x="4498848" y="1316736"/>
            <a:ext cx="292608" cy="292608"/>
          </a:xfrm>
          <a:prstGeom prst="rect">
            <a:avLst/>
          </a:prstGeom>
        </p:spPr>
      </p:pic>
      <p:sp>
        <p:nvSpPr>
          <p:cNvPr id="10" name="Text 6"/>
          <p:cNvSpPr/>
          <p:nvPr/>
        </p:nvSpPr>
        <p:spPr>
          <a:xfrm>
            <a:off x="4864608" y="1298448"/>
            <a:ext cx="2880360" cy="329184"/>
          </a:xfrm>
          <a:prstGeom prst="rect">
            <a:avLst/>
          </a:prstGeom>
          <a:noFill/>
          <a:ln/>
        </p:spPr>
        <p:txBody>
          <a:bodyPr wrap="square" lIns="0" tIns="0" rIns="0" bIns="0" rtlCol="0" anchor="ctr"/>
          <a:lstStyle/>
          <a:p>
            <a:pPr indent="0" marL="0">
              <a:buNone/>
            </a:pPr>
            <a:r>
              <a:rPr lang="en-US" sz="1800" dirty="0">
                <a:solidFill>
                  <a:srgbClr val="1B3A2A"/>
                </a:solidFill>
                <a:latin typeface="Georgia" pitchFamily="34" charset="0"/>
                <a:ea typeface="Georgia" pitchFamily="34" charset="-122"/>
                <a:cs typeface="Georgia" pitchFamily="34" charset="-120"/>
              </a:rPr>
              <a:t>Science</a:t>
            </a:r>
            <a:endParaRPr lang="en-US" sz="1800" dirty="0"/>
          </a:p>
        </p:txBody>
      </p:sp>
      <p:sp>
        <p:nvSpPr>
          <p:cNvPr id="11" name="Text 7"/>
          <p:cNvSpPr/>
          <p:nvPr/>
        </p:nvSpPr>
        <p:spPr>
          <a:xfrm>
            <a:off x="4498848" y="1755648"/>
            <a:ext cx="3236976" cy="1508760"/>
          </a:xfrm>
          <a:prstGeom prst="rect">
            <a:avLst/>
          </a:prstGeom>
          <a:noFill/>
          <a:ln/>
        </p:spPr>
        <p:txBody>
          <a:bodyPr wrap="square" lIns="0" tIns="0" rIns="0" bIns="0" rtlCol="0" anchor="ctr"/>
          <a:lstStyle/>
          <a:p>
            <a:pPr indent="0" marL="0">
              <a:buNone/>
            </a:pPr>
            <a:r>
              <a:rPr lang="en-US" sz="1400" dirty="0">
                <a:solidFill>
                  <a:srgbClr val="4A554C"/>
                </a:solidFill>
                <a:latin typeface="Arial" pitchFamily="34" charset="0"/>
                <a:ea typeface="Arial" pitchFamily="34" charset="-122"/>
                <a:cs typeface="Arial" pitchFamily="34" charset="-120"/>
              </a:rPr>
              <a:t>Observation journals, habitats, water cycle, soil, pollinators. End every unit with a stewardship question.</a:t>
            </a:r>
            <a:endParaRPr lang="en-US" sz="1400" dirty="0"/>
          </a:p>
        </p:txBody>
      </p:sp>
      <p:sp>
        <p:nvSpPr>
          <p:cNvPr id="12" name="Shape 8"/>
          <p:cNvSpPr/>
          <p:nvPr/>
        </p:nvSpPr>
        <p:spPr>
          <a:xfrm>
            <a:off x="8092440" y="1115568"/>
            <a:ext cx="3639312" cy="2331720"/>
          </a:xfrm>
          <a:prstGeom prst="roundRect">
            <a:avLst>
              <a:gd name="adj" fmla="val 3137"/>
            </a:avLst>
          </a:prstGeom>
          <a:solidFill>
            <a:srgbClr val="FFFBF3"/>
          </a:solidFill>
          <a:ln/>
        </p:spPr>
        <p:txBody>
          <a:bodyPr/>
          <a:p/>
        </p:txBody>
      </p:sp>
      <p:pic>
        <p:nvPicPr>
          <p:cNvPr id="13" name="Image 2" descr="preencoded.png">    </p:cNvPr>
          <p:cNvPicPr>
            <a:picLocks noChangeAspect="1"/>
          </p:cNvPicPr>
          <p:nvPr/>
        </p:nvPicPr>
        <p:blipFill>
          <a:blip r:embed="rId3"/>
          <a:stretch>
            <a:fillRect/>
          </a:stretch>
        </p:blipFill>
        <p:spPr>
          <a:xfrm>
            <a:off x="8293608" y="1316736"/>
            <a:ext cx="292608" cy="292608"/>
          </a:xfrm>
          <a:prstGeom prst="rect">
            <a:avLst/>
          </a:prstGeom>
        </p:spPr>
      </p:pic>
      <p:sp>
        <p:nvSpPr>
          <p:cNvPr id="14" name="Text 9"/>
          <p:cNvSpPr/>
          <p:nvPr/>
        </p:nvSpPr>
        <p:spPr>
          <a:xfrm>
            <a:off x="8659368" y="1298448"/>
            <a:ext cx="2880360" cy="329184"/>
          </a:xfrm>
          <a:prstGeom prst="rect">
            <a:avLst/>
          </a:prstGeom>
          <a:noFill/>
          <a:ln/>
        </p:spPr>
        <p:txBody>
          <a:bodyPr wrap="square" lIns="0" tIns="0" rIns="0" bIns="0" rtlCol="0" anchor="ctr"/>
          <a:lstStyle/>
          <a:p>
            <a:pPr indent="0" marL="0">
              <a:buNone/>
            </a:pPr>
            <a:r>
              <a:rPr lang="en-US" sz="1800" dirty="0">
                <a:solidFill>
                  <a:srgbClr val="1B3A2A"/>
                </a:solidFill>
                <a:latin typeface="Georgia" pitchFamily="34" charset="0"/>
                <a:ea typeface="Georgia" pitchFamily="34" charset="-122"/>
                <a:cs typeface="Georgia" pitchFamily="34" charset="-120"/>
              </a:rPr>
              <a:t>Literacy</a:t>
            </a:r>
            <a:endParaRPr lang="en-US" sz="1800" dirty="0"/>
          </a:p>
        </p:txBody>
      </p:sp>
      <p:sp>
        <p:nvSpPr>
          <p:cNvPr id="15" name="Text 10"/>
          <p:cNvSpPr/>
          <p:nvPr/>
        </p:nvSpPr>
        <p:spPr>
          <a:xfrm>
            <a:off x="8293608" y="1755648"/>
            <a:ext cx="3236976" cy="1508760"/>
          </a:xfrm>
          <a:prstGeom prst="rect">
            <a:avLst/>
          </a:prstGeom>
          <a:noFill/>
          <a:ln/>
        </p:spPr>
        <p:txBody>
          <a:bodyPr wrap="square" lIns="0" tIns="0" rIns="0" bIns="0" rtlCol="0" anchor="ctr"/>
          <a:lstStyle/>
          <a:p>
            <a:pPr indent="0" marL="0">
              <a:buNone/>
            </a:pPr>
            <a:r>
              <a:rPr lang="en-US" sz="1400" dirty="0">
                <a:solidFill>
                  <a:srgbClr val="4A554C"/>
                </a:solidFill>
                <a:latin typeface="Arial" pitchFamily="34" charset="0"/>
                <a:ea typeface="Arial" pitchFamily="34" charset="-122"/>
                <a:cs typeface="Arial" pitchFamily="34" charset="-120"/>
              </a:rPr>
              <a:t>Nature poems, retellings of the Song, persuasive notes to the principal, read-alouds that train attention.</a:t>
            </a:r>
            <a:endParaRPr lang="en-US" sz="1400" dirty="0"/>
          </a:p>
        </p:txBody>
      </p:sp>
      <p:sp>
        <p:nvSpPr>
          <p:cNvPr id="16" name="Shape 11"/>
          <p:cNvSpPr/>
          <p:nvPr/>
        </p:nvSpPr>
        <p:spPr>
          <a:xfrm>
            <a:off x="502920" y="3630168"/>
            <a:ext cx="3639312" cy="2331720"/>
          </a:xfrm>
          <a:prstGeom prst="roundRect">
            <a:avLst>
              <a:gd name="adj" fmla="val 3137"/>
            </a:avLst>
          </a:prstGeom>
          <a:solidFill>
            <a:srgbClr val="FFFBF3"/>
          </a:solidFill>
          <a:ln/>
        </p:spPr>
        <p:txBody>
          <a:bodyPr/>
          <a:p/>
        </p:txBody>
      </p:sp>
      <p:pic>
        <p:nvPicPr>
          <p:cNvPr id="17" name="Image 3" descr="preencoded.png">    </p:cNvPr>
          <p:cNvPicPr>
            <a:picLocks noChangeAspect="1"/>
          </p:cNvPicPr>
          <p:nvPr/>
        </p:nvPicPr>
        <p:blipFill>
          <a:blip r:embed="rId4"/>
          <a:stretch>
            <a:fillRect/>
          </a:stretch>
        </p:blipFill>
        <p:spPr>
          <a:xfrm>
            <a:off x="704088" y="3831336"/>
            <a:ext cx="292608" cy="292608"/>
          </a:xfrm>
          <a:prstGeom prst="rect">
            <a:avLst/>
          </a:prstGeom>
        </p:spPr>
      </p:pic>
      <p:sp>
        <p:nvSpPr>
          <p:cNvPr id="18" name="Text 12"/>
          <p:cNvSpPr/>
          <p:nvPr/>
        </p:nvSpPr>
        <p:spPr>
          <a:xfrm>
            <a:off x="1069848" y="3813048"/>
            <a:ext cx="2880360" cy="329184"/>
          </a:xfrm>
          <a:prstGeom prst="rect">
            <a:avLst/>
          </a:prstGeom>
          <a:noFill/>
          <a:ln/>
        </p:spPr>
        <p:txBody>
          <a:bodyPr wrap="square" lIns="0" tIns="0" rIns="0" bIns="0" rtlCol="0" anchor="ctr"/>
          <a:lstStyle/>
          <a:p>
            <a:pPr indent="0" marL="0">
              <a:buNone/>
            </a:pPr>
            <a:r>
              <a:rPr lang="en-US" sz="1800" dirty="0">
                <a:solidFill>
                  <a:srgbClr val="1B3A2A"/>
                </a:solidFill>
                <a:latin typeface="Georgia" pitchFamily="34" charset="0"/>
                <a:ea typeface="Georgia" pitchFamily="34" charset="-122"/>
                <a:cs typeface="Georgia" pitchFamily="34" charset="-120"/>
              </a:rPr>
              <a:t>Math</a:t>
            </a:r>
            <a:endParaRPr lang="en-US" sz="1800" dirty="0"/>
          </a:p>
        </p:txBody>
      </p:sp>
      <p:sp>
        <p:nvSpPr>
          <p:cNvPr id="19" name="Text 13"/>
          <p:cNvSpPr/>
          <p:nvPr/>
        </p:nvSpPr>
        <p:spPr>
          <a:xfrm>
            <a:off x="704088" y="4270248"/>
            <a:ext cx="3236976" cy="1508760"/>
          </a:xfrm>
          <a:prstGeom prst="rect">
            <a:avLst/>
          </a:prstGeom>
          <a:noFill/>
          <a:ln/>
        </p:spPr>
        <p:txBody>
          <a:bodyPr wrap="square" lIns="0" tIns="0" rIns="0" bIns="0" rtlCol="0" anchor="ctr"/>
          <a:lstStyle/>
          <a:p>
            <a:pPr indent="0" marL="0">
              <a:buNone/>
            </a:pPr>
            <a:r>
              <a:rPr lang="en-US" sz="1400" dirty="0">
                <a:solidFill>
                  <a:srgbClr val="4A554C"/>
                </a:solidFill>
                <a:latin typeface="Arial" pitchFamily="34" charset="0"/>
                <a:ea typeface="Arial" pitchFamily="34" charset="-122"/>
                <a:cs typeface="Arial" pitchFamily="34" charset="-120"/>
              </a:rPr>
              <a:t>Measure rainfall, graph lunch waste, count birds, compare water used with tap off vs. tap on.</a:t>
            </a:r>
            <a:endParaRPr lang="en-US" sz="1400" dirty="0"/>
          </a:p>
        </p:txBody>
      </p:sp>
      <p:sp>
        <p:nvSpPr>
          <p:cNvPr id="20" name="Shape 14"/>
          <p:cNvSpPr/>
          <p:nvPr/>
        </p:nvSpPr>
        <p:spPr>
          <a:xfrm>
            <a:off x="4297680" y="3630168"/>
            <a:ext cx="3639312" cy="2331720"/>
          </a:xfrm>
          <a:prstGeom prst="roundRect">
            <a:avLst>
              <a:gd name="adj" fmla="val 3137"/>
            </a:avLst>
          </a:prstGeom>
          <a:solidFill>
            <a:srgbClr val="FFFBF3"/>
          </a:solidFill>
          <a:ln/>
        </p:spPr>
        <p:txBody>
          <a:bodyPr/>
          <a:p/>
        </p:txBody>
      </p:sp>
      <p:pic>
        <p:nvPicPr>
          <p:cNvPr id="21" name="Image 4" descr="preencoded.png">    </p:cNvPr>
          <p:cNvPicPr>
            <a:picLocks noChangeAspect="1"/>
          </p:cNvPicPr>
          <p:nvPr/>
        </p:nvPicPr>
        <p:blipFill>
          <a:blip r:embed="rId5"/>
          <a:stretch>
            <a:fillRect/>
          </a:stretch>
        </p:blipFill>
        <p:spPr>
          <a:xfrm>
            <a:off x="4498848" y="3831336"/>
            <a:ext cx="292608" cy="292608"/>
          </a:xfrm>
          <a:prstGeom prst="rect">
            <a:avLst/>
          </a:prstGeom>
        </p:spPr>
      </p:pic>
      <p:sp>
        <p:nvSpPr>
          <p:cNvPr id="22" name="Text 15"/>
          <p:cNvSpPr/>
          <p:nvPr/>
        </p:nvSpPr>
        <p:spPr>
          <a:xfrm>
            <a:off x="4864608" y="3813048"/>
            <a:ext cx="2880360" cy="329184"/>
          </a:xfrm>
          <a:prstGeom prst="rect">
            <a:avLst/>
          </a:prstGeom>
          <a:noFill/>
          <a:ln/>
        </p:spPr>
        <p:txBody>
          <a:bodyPr wrap="square" lIns="0" tIns="0" rIns="0" bIns="0" rtlCol="0" anchor="ctr"/>
          <a:lstStyle/>
          <a:p>
            <a:pPr indent="0" marL="0">
              <a:buNone/>
            </a:pPr>
            <a:r>
              <a:rPr lang="en-US" sz="1800" dirty="0">
                <a:solidFill>
                  <a:srgbClr val="1B3A2A"/>
                </a:solidFill>
                <a:latin typeface="Georgia" pitchFamily="34" charset="0"/>
                <a:ea typeface="Georgia" pitchFamily="34" charset="-122"/>
                <a:cs typeface="Georgia" pitchFamily="34" charset="-120"/>
              </a:rPr>
              <a:t>Art &amp; music</a:t>
            </a:r>
            <a:endParaRPr lang="en-US" sz="1800" dirty="0"/>
          </a:p>
        </p:txBody>
      </p:sp>
      <p:sp>
        <p:nvSpPr>
          <p:cNvPr id="23" name="Text 16"/>
          <p:cNvSpPr/>
          <p:nvPr/>
        </p:nvSpPr>
        <p:spPr>
          <a:xfrm>
            <a:off x="4498848" y="4270248"/>
            <a:ext cx="3236976" cy="1508760"/>
          </a:xfrm>
          <a:prstGeom prst="rect">
            <a:avLst/>
          </a:prstGeom>
          <a:noFill/>
          <a:ln/>
        </p:spPr>
        <p:txBody>
          <a:bodyPr wrap="square" lIns="0" tIns="0" rIns="0" bIns="0" rtlCol="0" anchor="ctr"/>
          <a:lstStyle/>
          <a:p>
            <a:pPr indent="0" marL="0">
              <a:buNone/>
            </a:pPr>
            <a:r>
              <a:rPr lang="en-US" sz="1400" dirty="0">
                <a:solidFill>
                  <a:srgbClr val="4A554C"/>
                </a:solidFill>
                <a:latin typeface="Arial" pitchFamily="34" charset="0"/>
                <a:ea typeface="Arial" pitchFamily="34" charset="-122"/>
                <a:cs typeface="Arial" pitchFamily="34" charset="-120"/>
              </a:rPr>
              <a:t>Illustrate Brother Sun and Sister Moon. Learn the Song. Make instruments from safe reused materials.</a:t>
            </a:r>
            <a:endParaRPr lang="en-US" sz="1400" dirty="0"/>
          </a:p>
        </p:txBody>
      </p:sp>
      <p:sp>
        <p:nvSpPr>
          <p:cNvPr id="24" name="Shape 17"/>
          <p:cNvSpPr/>
          <p:nvPr/>
        </p:nvSpPr>
        <p:spPr>
          <a:xfrm>
            <a:off x="8092440" y="3630168"/>
            <a:ext cx="3639312" cy="2331720"/>
          </a:xfrm>
          <a:prstGeom prst="roundRect">
            <a:avLst>
              <a:gd name="adj" fmla="val 3137"/>
            </a:avLst>
          </a:prstGeom>
          <a:solidFill>
            <a:srgbClr val="FFFBF3"/>
          </a:solidFill>
          <a:ln/>
        </p:spPr>
        <p:txBody>
          <a:bodyPr/>
          <a:p/>
        </p:txBody>
      </p:sp>
      <p:pic>
        <p:nvPicPr>
          <p:cNvPr id="25" name="Image 5" descr="preencoded.png">    </p:cNvPr>
          <p:cNvPicPr>
            <a:picLocks noChangeAspect="1"/>
          </p:cNvPicPr>
          <p:nvPr/>
        </p:nvPicPr>
        <p:blipFill>
          <a:blip r:embed="rId6"/>
          <a:stretch>
            <a:fillRect/>
          </a:stretch>
        </p:blipFill>
        <p:spPr>
          <a:xfrm>
            <a:off x="8293608" y="3831336"/>
            <a:ext cx="292608" cy="292608"/>
          </a:xfrm>
          <a:prstGeom prst="rect">
            <a:avLst/>
          </a:prstGeom>
        </p:spPr>
      </p:pic>
      <p:sp>
        <p:nvSpPr>
          <p:cNvPr id="26" name="Text 18"/>
          <p:cNvSpPr/>
          <p:nvPr/>
        </p:nvSpPr>
        <p:spPr>
          <a:xfrm>
            <a:off x="8659368" y="3813048"/>
            <a:ext cx="2880360" cy="329184"/>
          </a:xfrm>
          <a:prstGeom prst="rect">
            <a:avLst/>
          </a:prstGeom>
          <a:noFill/>
          <a:ln/>
        </p:spPr>
        <p:txBody>
          <a:bodyPr wrap="square" lIns="0" tIns="0" rIns="0" bIns="0" rtlCol="0" anchor="ctr"/>
          <a:lstStyle/>
          <a:p>
            <a:pPr indent="0" marL="0">
              <a:buNone/>
            </a:pPr>
            <a:r>
              <a:rPr lang="en-US" sz="1800" dirty="0">
                <a:solidFill>
                  <a:srgbClr val="1B3A2A"/>
                </a:solidFill>
                <a:latin typeface="Georgia" pitchFamily="34" charset="0"/>
                <a:ea typeface="Georgia" pitchFamily="34" charset="-122"/>
                <a:cs typeface="Georgia" pitchFamily="34" charset="-120"/>
              </a:rPr>
              <a:t>Community</a:t>
            </a:r>
            <a:endParaRPr lang="en-US" sz="1800" dirty="0"/>
          </a:p>
        </p:txBody>
      </p:sp>
      <p:sp>
        <p:nvSpPr>
          <p:cNvPr id="27" name="Text 19"/>
          <p:cNvSpPr/>
          <p:nvPr/>
        </p:nvSpPr>
        <p:spPr>
          <a:xfrm>
            <a:off x="8293608" y="4270248"/>
            <a:ext cx="3236976" cy="1508760"/>
          </a:xfrm>
          <a:prstGeom prst="rect">
            <a:avLst/>
          </a:prstGeom>
          <a:noFill/>
          <a:ln/>
        </p:spPr>
        <p:txBody>
          <a:bodyPr wrap="square" lIns="0" tIns="0" rIns="0" bIns="0" rtlCol="0" anchor="ctr"/>
          <a:lstStyle/>
          <a:p>
            <a:pPr indent="0" marL="0">
              <a:buNone/>
            </a:pPr>
            <a:r>
              <a:rPr lang="en-US" sz="1400" dirty="0">
                <a:solidFill>
                  <a:srgbClr val="4A554C"/>
                </a:solidFill>
                <a:latin typeface="Arial" pitchFamily="34" charset="0"/>
                <a:ea typeface="Arial" pitchFamily="34" charset="-122"/>
                <a:cs typeface="Arial" pitchFamily="34" charset="-120"/>
              </a:rPr>
              <a:t>Campus clean-up as service, not punishment. Visit a parish garden. Write thank-you notes to custodians.</a:t>
            </a:r>
            <a:endParaRPr lang="en-US" sz="1400" dirty="0"/>
          </a:p>
        </p:txBody>
      </p:sp>
      <p:sp>
        <p:nvSpPr>
          <p:cNvPr id="28" name="Shape 20"/>
          <p:cNvSpPr/>
          <p:nvPr/>
        </p:nvSpPr>
        <p:spPr>
          <a:xfrm>
            <a:off x="502920" y="6510528"/>
            <a:ext cx="11183112" cy="0"/>
          </a:xfrm>
          <a:prstGeom prst="line">
            <a:avLst/>
          </a:prstGeom>
          <a:noFill/>
          <a:ln w="7620">
            <a:solidFill>
              <a:srgbClr val="C9C0A8"/>
            </a:solidFill>
            <a:prstDash val="solid"/>
          </a:ln>
        </p:spPr>
        <p:txBody>
          <a:bodyPr/>
          <a:p/>
        </p:txBody>
      </p:sp>
      <p:sp>
        <p:nvSpPr>
          <p:cNvPr id="29" name="Text 21"/>
          <p:cNvSpPr/>
          <p:nvPr/>
        </p:nvSpPr>
        <p:spPr>
          <a:xfrm>
            <a:off x="502920" y="6547104"/>
            <a:ext cx="8412480" cy="237744"/>
          </a:xfrm>
          <a:prstGeom prst="rect">
            <a:avLst/>
          </a:prstGeom>
          <a:noFill/>
          <a:ln/>
        </p:spPr>
        <p:txBody>
          <a:bodyPr wrap="square" lIns="0" tIns="0" rIns="0" bIns="0" rtlCol="0" anchor="ctr"/>
          <a:lstStyle/>
          <a:p>
            <a:pPr indent="0" marL="0">
              <a:buNone/>
            </a:pPr>
            <a:r>
              <a:rPr lang="en-US" sz="900" spc="120" kern="0" dirty="0">
                <a:solidFill>
                  <a:srgbClr val="6B736C"/>
                </a:solidFill>
                <a:latin typeface="Arial" pitchFamily="34" charset="0"/>
                <a:ea typeface="Arial" pitchFamily="34" charset="-122"/>
                <a:cs typeface="Arial" pitchFamily="34" charset="-120"/>
              </a:rPr>
              <a:t>CREATION CARE IN THE CLASSROOM  ·  K–5 CATHOLIC TEACHERS</a:t>
            </a:r>
            <a:endParaRPr lang="en-US" sz="900" dirty="0"/>
          </a:p>
        </p:txBody>
      </p:sp>
      <p:sp>
        <p:nvSpPr>
          <p:cNvPr id="30" name="Text 22"/>
          <p:cNvSpPr/>
          <p:nvPr/>
        </p:nvSpPr>
        <p:spPr>
          <a:xfrm>
            <a:off x="9509760" y="6547104"/>
            <a:ext cx="2176272" cy="237744"/>
          </a:xfrm>
          <a:prstGeom prst="rect">
            <a:avLst/>
          </a:prstGeom>
          <a:noFill/>
          <a:ln/>
        </p:spPr>
        <p:txBody>
          <a:bodyPr wrap="square" lIns="0" tIns="0" rIns="0" bIns="0" rtlCol="0" anchor="ctr"/>
          <a:lstStyle/>
          <a:p>
            <a:pPr algn="r" indent="0" marL="0">
              <a:buNone/>
            </a:pPr>
            <a:r>
              <a:rPr lang="en-US" sz="900" dirty="0">
                <a:solidFill>
                  <a:srgbClr val="6B736C"/>
                </a:solidFill>
                <a:latin typeface="Arial" pitchFamily="34" charset="0"/>
                <a:ea typeface="Arial" pitchFamily="34" charset="-122"/>
                <a:cs typeface="Arial" pitchFamily="34" charset="-120"/>
              </a:rPr>
              <a:t>16  /  30</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5">
    <p:bg>
      <p:bgPr>
        <a:solidFill>
          <a:srgbClr val="F4EFE2"/>
        </a:solidFill>
      </p:bgPr>
    </p:bg>
    <p:spTree>
      <p:nvGrpSpPr>
        <p:cNvPr id="1" name=""/>
        <p:cNvGrpSpPr/>
        <p:nvPr/>
      </p:nvGrpSpPr>
      <p:grpSpPr>
        <a:xfrm>
          <a:off x="0" y="0"/>
          <a:ext cx="0" cy="0"/>
          <a:chOff x="0" y="0"/>
          <a:chExt cx="0" cy="0"/>
        </a:xfrm>
      </p:grpSpPr>
      <p:sp>
        <p:nvSpPr>
          <p:cNvPr id="2" name="Text 0"/>
          <p:cNvSpPr/>
          <p:nvPr/>
        </p:nvSpPr>
        <p:spPr>
          <a:xfrm>
            <a:off x="502920" y="256032"/>
            <a:ext cx="11155680" cy="219456"/>
          </a:xfrm>
          <a:prstGeom prst="rect">
            <a:avLst/>
          </a:prstGeom>
          <a:noFill/>
          <a:ln/>
        </p:spPr>
        <p:txBody>
          <a:bodyPr wrap="square" lIns="0" tIns="0" rIns="0" bIns="0" rtlCol="0" anchor="ctr"/>
          <a:lstStyle/>
          <a:p>
            <a:pPr indent="0" marL="0">
              <a:buNone/>
            </a:pPr>
            <a:r>
              <a:rPr lang="en-US" sz="1100" b="1" spc="220" kern="0" dirty="0">
                <a:solidFill>
                  <a:srgbClr val="4F7A5C"/>
                </a:solidFill>
                <a:latin typeface="Arial" pitchFamily="34" charset="0"/>
                <a:ea typeface="Arial" pitchFamily="34" charset="-122"/>
                <a:cs typeface="Arial" pitchFamily="34" charset="-120"/>
              </a:rPr>
              <a:t>14  ·  THE CLASSROOM AS ORATORY</a:t>
            </a:r>
            <a:endParaRPr lang="en-US" sz="1100" dirty="0"/>
          </a:p>
        </p:txBody>
      </p:sp>
      <p:sp>
        <p:nvSpPr>
          <p:cNvPr id="3" name="Text 1"/>
          <p:cNvSpPr/>
          <p:nvPr/>
        </p:nvSpPr>
        <p:spPr>
          <a:xfrm>
            <a:off x="502920" y="475488"/>
            <a:ext cx="11155680" cy="475488"/>
          </a:xfrm>
          <a:prstGeom prst="rect">
            <a:avLst/>
          </a:prstGeom>
          <a:noFill/>
          <a:ln/>
        </p:spPr>
        <p:txBody>
          <a:bodyPr wrap="square" lIns="0" tIns="0" rIns="0" bIns="0" rtlCol="0" anchor="ctr"/>
          <a:lstStyle/>
          <a:p>
            <a:pPr indent="0" marL="0">
              <a:buNone/>
            </a:pPr>
            <a:r>
              <a:rPr lang="en-US" sz="2600" dirty="0">
                <a:solidFill>
                  <a:srgbClr val="1B3A2A"/>
                </a:solidFill>
                <a:latin typeface="Georgia" pitchFamily="34" charset="0"/>
                <a:ea typeface="Georgia" pitchFamily="34" charset="-122"/>
                <a:cs typeface="Georgia" pitchFamily="34" charset="-120"/>
              </a:rPr>
              <a:t>Prayer, liturgy, and holy matter</a:t>
            </a:r>
            <a:endParaRPr lang="en-US" sz="2600" dirty="0"/>
          </a:p>
        </p:txBody>
      </p:sp>
      <p:sp>
        <p:nvSpPr>
          <p:cNvPr id="4" name="Shape 2"/>
          <p:cNvSpPr/>
          <p:nvPr/>
        </p:nvSpPr>
        <p:spPr>
          <a:xfrm>
            <a:off x="502920" y="1115568"/>
            <a:ext cx="5623560" cy="1508760"/>
          </a:xfrm>
          <a:prstGeom prst="roundRect">
            <a:avLst>
              <a:gd name="adj" fmla="val 3636"/>
            </a:avLst>
          </a:prstGeom>
          <a:solidFill>
            <a:srgbClr val="FFFBF3"/>
          </a:solidFill>
          <a:ln/>
        </p:spPr>
        <p:txBody>
          <a:bodyPr/>
          <a:p/>
        </p:txBody>
      </p:sp>
      <p:sp>
        <p:nvSpPr>
          <p:cNvPr id="5" name="Text 3"/>
          <p:cNvSpPr/>
          <p:nvPr/>
        </p:nvSpPr>
        <p:spPr>
          <a:xfrm>
            <a:off x="731520" y="1280160"/>
            <a:ext cx="5166360" cy="320040"/>
          </a:xfrm>
          <a:prstGeom prst="rect">
            <a:avLst/>
          </a:prstGeom>
          <a:noFill/>
          <a:ln/>
        </p:spPr>
        <p:txBody>
          <a:bodyPr wrap="square" lIns="0" tIns="0" rIns="0" bIns="0" rtlCol="0" anchor="ctr"/>
          <a:lstStyle/>
          <a:p>
            <a:pPr indent="0" marL="0">
              <a:buNone/>
            </a:pPr>
            <a:r>
              <a:rPr lang="en-US" sz="1800" dirty="0">
                <a:solidFill>
                  <a:srgbClr val="1B3A2A"/>
                </a:solidFill>
                <a:latin typeface="Georgia" pitchFamily="34" charset="0"/>
                <a:ea typeface="Georgia" pitchFamily="34" charset="-122"/>
                <a:cs typeface="Georgia" pitchFamily="34" charset="-120"/>
              </a:rPr>
              <a:t>Morning</a:t>
            </a:r>
            <a:endParaRPr lang="en-US" sz="1800" dirty="0"/>
          </a:p>
        </p:txBody>
      </p:sp>
      <p:sp>
        <p:nvSpPr>
          <p:cNvPr id="6" name="Text 4"/>
          <p:cNvSpPr/>
          <p:nvPr/>
        </p:nvSpPr>
        <p:spPr>
          <a:xfrm>
            <a:off x="731520" y="1645920"/>
            <a:ext cx="5166360" cy="777240"/>
          </a:xfrm>
          <a:prstGeom prst="rect">
            <a:avLst/>
          </a:prstGeom>
          <a:noFill/>
          <a:ln/>
        </p:spPr>
        <p:txBody>
          <a:bodyPr wrap="square" lIns="0" tIns="0" rIns="0" bIns="0" rtlCol="0" anchor="ctr"/>
          <a:lstStyle/>
          <a:p>
            <a:pPr indent="0" marL="0">
              <a:buNone/>
            </a:pPr>
            <a:r>
              <a:rPr lang="en-US" sz="1400" dirty="0">
                <a:solidFill>
                  <a:srgbClr val="4A554C"/>
                </a:solidFill>
                <a:latin typeface="Arial" pitchFamily="34" charset="0"/>
                <a:ea typeface="Arial" pitchFamily="34" charset="-122"/>
                <a:cs typeface="Arial" pitchFamily="34" charset="-120"/>
              </a:rPr>
              <a:t>One line from the Song, rotated weekly. Children can lead it by October.</a:t>
            </a:r>
            <a:endParaRPr lang="en-US" sz="1400" dirty="0"/>
          </a:p>
        </p:txBody>
      </p:sp>
      <p:sp>
        <p:nvSpPr>
          <p:cNvPr id="7" name="Shape 5"/>
          <p:cNvSpPr/>
          <p:nvPr/>
        </p:nvSpPr>
        <p:spPr>
          <a:xfrm>
            <a:off x="6309360" y="1115568"/>
            <a:ext cx="5623560" cy="1508760"/>
          </a:xfrm>
          <a:prstGeom prst="roundRect">
            <a:avLst>
              <a:gd name="adj" fmla="val 3636"/>
            </a:avLst>
          </a:prstGeom>
          <a:solidFill>
            <a:srgbClr val="FFFBF3"/>
          </a:solidFill>
          <a:ln/>
        </p:spPr>
        <p:txBody>
          <a:bodyPr/>
          <a:p/>
        </p:txBody>
      </p:sp>
      <p:sp>
        <p:nvSpPr>
          <p:cNvPr id="8" name="Text 6"/>
          <p:cNvSpPr/>
          <p:nvPr/>
        </p:nvSpPr>
        <p:spPr>
          <a:xfrm>
            <a:off x="6537960" y="1280160"/>
            <a:ext cx="5166360" cy="320040"/>
          </a:xfrm>
          <a:prstGeom prst="rect">
            <a:avLst/>
          </a:prstGeom>
          <a:noFill/>
          <a:ln/>
        </p:spPr>
        <p:txBody>
          <a:bodyPr wrap="square" lIns="0" tIns="0" rIns="0" bIns="0" rtlCol="0" anchor="ctr"/>
          <a:lstStyle/>
          <a:p>
            <a:pPr indent="0" marL="0">
              <a:buNone/>
            </a:pPr>
            <a:r>
              <a:rPr lang="en-US" sz="1800" dirty="0">
                <a:solidFill>
                  <a:srgbClr val="1B3A2A"/>
                </a:solidFill>
                <a:latin typeface="Georgia" pitchFamily="34" charset="0"/>
                <a:ea typeface="Georgia" pitchFamily="34" charset="-122"/>
                <a:cs typeface="Georgia" pitchFamily="34" charset="-120"/>
              </a:rPr>
              <a:t>Before meals</a:t>
            </a:r>
            <a:endParaRPr lang="en-US" sz="1800" dirty="0"/>
          </a:p>
        </p:txBody>
      </p:sp>
      <p:sp>
        <p:nvSpPr>
          <p:cNvPr id="9" name="Text 7"/>
          <p:cNvSpPr/>
          <p:nvPr/>
        </p:nvSpPr>
        <p:spPr>
          <a:xfrm>
            <a:off x="6537960" y="1645920"/>
            <a:ext cx="5166360" cy="777240"/>
          </a:xfrm>
          <a:prstGeom prst="rect">
            <a:avLst/>
          </a:prstGeom>
          <a:noFill/>
          <a:ln/>
        </p:spPr>
        <p:txBody>
          <a:bodyPr wrap="square" lIns="0" tIns="0" rIns="0" bIns="0" rtlCol="0" anchor="ctr"/>
          <a:lstStyle/>
          <a:p>
            <a:pPr indent="0" marL="0">
              <a:buNone/>
            </a:pPr>
            <a:r>
              <a:rPr lang="en-US" sz="1400" dirty="0">
                <a:solidFill>
                  <a:srgbClr val="4A554C"/>
                </a:solidFill>
                <a:latin typeface="Arial" pitchFamily="34" charset="0"/>
                <a:ea typeface="Arial" pitchFamily="34" charset="-122"/>
                <a:cs typeface="Arial" pitchFamily="34" charset="-120"/>
              </a:rPr>
              <a:t>Bless the food and the earth that grew it. Name farmers and cafeteria staff.</a:t>
            </a:r>
            <a:endParaRPr lang="en-US" sz="1400" dirty="0"/>
          </a:p>
        </p:txBody>
      </p:sp>
      <p:sp>
        <p:nvSpPr>
          <p:cNvPr id="10" name="Shape 8"/>
          <p:cNvSpPr/>
          <p:nvPr/>
        </p:nvSpPr>
        <p:spPr>
          <a:xfrm>
            <a:off x="502920" y="2761488"/>
            <a:ext cx="5623560" cy="1508760"/>
          </a:xfrm>
          <a:prstGeom prst="roundRect">
            <a:avLst>
              <a:gd name="adj" fmla="val 3636"/>
            </a:avLst>
          </a:prstGeom>
          <a:solidFill>
            <a:srgbClr val="FFFBF3"/>
          </a:solidFill>
          <a:ln/>
        </p:spPr>
        <p:txBody>
          <a:bodyPr/>
          <a:p/>
        </p:txBody>
      </p:sp>
      <p:sp>
        <p:nvSpPr>
          <p:cNvPr id="11" name="Text 9"/>
          <p:cNvSpPr/>
          <p:nvPr/>
        </p:nvSpPr>
        <p:spPr>
          <a:xfrm>
            <a:off x="731520" y="2926080"/>
            <a:ext cx="5166360" cy="320040"/>
          </a:xfrm>
          <a:prstGeom prst="rect">
            <a:avLst/>
          </a:prstGeom>
          <a:noFill/>
          <a:ln/>
        </p:spPr>
        <p:txBody>
          <a:bodyPr wrap="square" lIns="0" tIns="0" rIns="0" bIns="0" rtlCol="0" anchor="ctr"/>
          <a:lstStyle/>
          <a:p>
            <a:pPr indent="0" marL="0">
              <a:buNone/>
            </a:pPr>
            <a:r>
              <a:rPr lang="en-US" sz="1800" dirty="0">
                <a:solidFill>
                  <a:srgbClr val="1B3A2A"/>
                </a:solidFill>
                <a:latin typeface="Georgia" pitchFamily="34" charset="0"/>
                <a:ea typeface="Georgia" pitchFamily="34" charset="-122"/>
                <a:cs typeface="Georgia" pitchFamily="34" charset="-120"/>
              </a:rPr>
              <a:t>Outdoors</a:t>
            </a:r>
            <a:endParaRPr lang="en-US" sz="1800" dirty="0"/>
          </a:p>
        </p:txBody>
      </p:sp>
      <p:sp>
        <p:nvSpPr>
          <p:cNvPr id="12" name="Text 10"/>
          <p:cNvSpPr/>
          <p:nvPr/>
        </p:nvSpPr>
        <p:spPr>
          <a:xfrm>
            <a:off x="731520" y="3291840"/>
            <a:ext cx="5166360" cy="777240"/>
          </a:xfrm>
          <a:prstGeom prst="rect">
            <a:avLst/>
          </a:prstGeom>
          <a:noFill/>
          <a:ln/>
        </p:spPr>
        <p:txBody>
          <a:bodyPr wrap="square" lIns="0" tIns="0" rIns="0" bIns="0" rtlCol="0" anchor="ctr"/>
          <a:lstStyle/>
          <a:p>
            <a:pPr indent="0" marL="0">
              <a:buNone/>
            </a:pPr>
            <a:r>
              <a:rPr lang="en-US" sz="1400" dirty="0">
                <a:solidFill>
                  <a:srgbClr val="4A554C"/>
                </a:solidFill>
                <a:latin typeface="Arial" pitchFamily="34" charset="0"/>
                <a:ea typeface="Arial" pitchFamily="34" charset="-122"/>
                <a:cs typeface="Arial" pitchFamily="34" charset="-120"/>
              </a:rPr>
              <a:t>A decade of the Rosary under a tree. Stations of Creation on the playground.</a:t>
            </a:r>
            <a:endParaRPr lang="en-US" sz="1400" dirty="0"/>
          </a:p>
        </p:txBody>
      </p:sp>
      <p:sp>
        <p:nvSpPr>
          <p:cNvPr id="13" name="Shape 11"/>
          <p:cNvSpPr/>
          <p:nvPr/>
        </p:nvSpPr>
        <p:spPr>
          <a:xfrm>
            <a:off x="6309360" y="2761488"/>
            <a:ext cx="5623560" cy="1508760"/>
          </a:xfrm>
          <a:prstGeom prst="roundRect">
            <a:avLst>
              <a:gd name="adj" fmla="val 3636"/>
            </a:avLst>
          </a:prstGeom>
          <a:solidFill>
            <a:srgbClr val="FFFBF3"/>
          </a:solidFill>
          <a:ln/>
        </p:spPr>
        <p:txBody>
          <a:bodyPr/>
          <a:p/>
        </p:txBody>
      </p:sp>
      <p:sp>
        <p:nvSpPr>
          <p:cNvPr id="14" name="Text 12"/>
          <p:cNvSpPr/>
          <p:nvPr/>
        </p:nvSpPr>
        <p:spPr>
          <a:xfrm>
            <a:off x="6537960" y="2926080"/>
            <a:ext cx="5166360" cy="320040"/>
          </a:xfrm>
          <a:prstGeom prst="rect">
            <a:avLst/>
          </a:prstGeom>
          <a:noFill/>
          <a:ln/>
        </p:spPr>
        <p:txBody>
          <a:bodyPr wrap="square" lIns="0" tIns="0" rIns="0" bIns="0" rtlCol="0" anchor="ctr"/>
          <a:lstStyle/>
          <a:p>
            <a:pPr indent="0" marL="0">
              <a:buNone/>
            </a:pPr>
            <a:r>
              <a:rPr lang="en-US" sz="1800" dirty="0">
                <a:solidFill>
                  <a:srgbClr val="1B3A2A"/>
                </a:solidFill>
                <a:latin typeface="Georgia" pitchFamily="34" charset="0"/>
                <a:ea typeface="Georgia" pitchFamily="34" charset="-122"/>
                <a:cs typeface="Georgia" pitchFamily="34" charset="-120"/>
              </a:rPr>
              <a:t>School Mass</a:t>
            </a:r>
            <a:endParaRPr lang="en-US" sz="1800" dirty="0"/>
          </a:p>
        </p:txBody>
      </p:sp>
      <p:sp>
        <p:nvSpPr>
          <p:cNvPr id="15" name="Text 13"/>
          <p:cNvSpPr/>
          <p:nvPr/>
        </p:nvSpPr>
        <p:spPr>
          <a:xfrm>
            <a:off x="6537960" y="3291840"/>
            <a:ext cx="5166360" cy="777240"/>
          </a:xfrm>
          <a:prstGeom prst="rect">
            <a:avLst/>
          </a:prstGeom>
          <a:noFill/>
          <a:ln/>
        </p:spPr>
        <p:txBody>
          <a:bodyPr wrap="square" lIns="0" tIns="0" rIns="0" bIns="0" rtlCol="0" anchor="ctr"/>
          <a:lstStyle/>
          <a:p>
            <a:pPr indent="0" marL="0">
              <a:buNone/>
            </a:pPr>
            <a:r>
              <a:rPr lang="en-US" sz="1400" dirty="0">
                <a:solidFill>
                  <a:srgbClr val="4A554C"/>
                </a:solidFill>
                <a:latin typeface="Arial" pitchFamily="34" charset="0"/>
                <a:ea typeface="Arial" pitchFamily="34" charset="-122"/>
                <a:cs typeface="Arial" pitchFamily="34" charset="-120"/>
              </a:rPr>
              <a:t>Petitions for clean water, farmers, and children who lack both. Use creation hymns with care.</a:t>
            </a:r>
            <a:endParaRPr lang="en-US" sz="1400" dirty="0"/>
          </a:p>
        </p:txBody>
      </p:sp>
      <p:sp>
        <p:nvSpPr>
          <p:cNvPr id="16" name="Shape 14"/>
          <p:cNvSpPr/>
          <p:nvPr/>
        </p:nvSpPr>
        <p:spPr>
          <a:xfrm>
            <a:off x="502920" y="4407408"/>
            <a:ext cx="5623560" cy="1508760"/>
          </a:xfrm>
          <a:prstGeom prst="roundRect">
            <a:avLst>
              <a:gd name="adj" fmla="val 3636"/>
            </a:avLst>
          </a:prstGeom>
          <a:solidFill>
            <a:srgbClr val="FFFBF3"/>
          </a:solidFill>
          <a:ln/>
        </p:spPr>
        <p:txBody>
          <a:bodyPr/>
          <a:p/>
        </p:txBody>
      </p:sp>
      <p:sp>
        <p:nvSpPr>
          <p:cNvPr id="17" name="Text 15"/>
          <p:cNvSpPr/>
          <p:nvPr/>
        </p:nvSpPr>
        <p:spPr>
          <a:xfrm>
            <a:off x="731520" y="4572000"/>
            <a:ext cx="5166360" cy="320040"/>
          </a:xfrm>
          <a:prstGeom prst="rect">
            <a:avLst/>
          </a:prstGeom>
          <a:noFill/>
          <a:ln/>
        </p:spPr>
        <p:txBody>
          <a:bodyPr wrap="square" lIns="0" tIns="0" rIns="0" bIns="0" rtlCol="0" anchor="ctr"/>
          <a:lstStyle/>
          <a:p>
            <a:pPr indent="0" marL="0">
              <a:buNone/>
            </a:pPr>
            <a:r>
              <a:rPr lang="en-US" sz="1800" dirty="0">
                <a:solidFill>
                  <a:srgbClr val="1B3A2A"/>
                </a:solidFill>
                <a:latin typeface="Georgia" pitchFamily="34" charset="0"/>
                <a:ea typeface="Georgia" pitchFamily="34" charset="-122"/>
                <a:cs typeface="Georgia" pitchFamily="34" charset="-120"/>
              </a:rPr>
              <a:t>New Mass texts</a:t>
            </a:r>
            <a:endParaRPr lang="en-US" sz="1800" dirty="0"/>
          </a:p>
        </p:txBody>
      </p:sp>
      <p:sp>
        <p:nvSpPr>
          <p:cNvPr id="18" name="Text 16"/>
          <p:cNvSpPr/>
          <p:nvPr/>
        </p:nvSpPr>
        <p:spPr>
          <a:xfrm>
            <a:off x="731520" y="4937760"/>
            <a:ext cx="5166360" cy="777240"/>
          </a:xfrm>
          <a:prstGeom prst="rect">
            <a:avLst/>
          </a:prstGeom>
          <a:noFill/>
          <a:ln/>
        </p:spPr>
        <p:txBody>
          <a:bodyPr wrap="square" lIns="0" tIns="0" rIns="0" bIns="0" rtlCol="0" anchor="ctr"/>
          <a:lstStyle/>
          <a:p>
            <a:pPr indent="0" marL="0">
              <a:buNone/>
            </a:pPr>
            <a:r>
              <a:rPr lang="en-US" sz="1400" dirty="0">
                <a:solidFill>
                  <a:srgbClr val="4A554C"/>
                </a:solidFill>
                <a:latin typeface="Arial" pitchFamily="34" charset="0"/>
                <a:ea typeface="Arial" pitchFamily="34" charset="-122"/>
                <a:cs typeface="Arial" pitchFamily="34" charset="-120"/>
              </a:rPr>
              <a:t>The Mass for the Care of Creation was confirmed in English in August 2026. Ask your pastor about Sept 1 or Oct 4.</a:t>
            </a:r>
            <a:endParaRPr lang="en-US" sz="1400" dirty="0"/>
          </a:p>
        </p:txBody>
      </p:sp>
      <p:sp>
        <p:nvSpPr>
          <p:cNvPr id="19" name="Shape 17"/>
          <p:cNvSpPr/>
          <p:nvPr/>
        </p:nvSpPr>
        <p:spPr>
          <a:xfrm>
            <a:off x="6309360" y="4407408"/>
            <a:ext cx="5623560" cy="1508760"/>
          </a:xfrm>
          <a:prstGeom prst="roundRect">
            <a:avLst>
              <a:gd name="adj" fmla="val 3636"/>
            </a:avLst>
          </a:prstGeom>
          <a:solidFill>
            <a:srgbClr val="FFFBF3"/>
          </a:solidFill>
          <a:ln/>
        </p:spPr>
        <p:txBody>
          <a:bodyPr/>
          <a:p/>
        </p:txBody>
      </p:sp>
      <p:sp>
        <p:nvSpPr>
          <p:cNvPr id="20" name="Text 18"/>
          <p:cNvSpPr/>
          <p:nvPr/>
        </p:nvSpPr>
        <p:spPr>
          <a:xfrm>
            <a:off x="6537960" y="4572000"/>
            <a:ext cx="5166360" cy="320040"/>
          </a:xfrm>
          <a:prstGeom prst="rect">
            <a:avLst/>
          </a:prstGeom>
          <a:noFill/>
          <a:ln/>
        </p:spPr>
        <p:txBody>
          <a:bodyPr wrap="square" lIns="0" tIns="0" rIns="0" bIns="0" rtlCol="0" anchor="ctr"/>
          <a:lstStyle/>
          <a:p>
            <a:pPr indent="0" marL="0">
              <a:buNone/>
            </a:pPr>
            <a:r>
              <a:rPr lang="en-US" sz="1800" dirty="0">
                <a:solidFill>
                  <a:srgbClr val="1B3A2A"/>
                </a:solidFill>
                <a:latin typeface="Georgia" pitchFamily="34" charset="0"/>
                <a:ea typeface="Georgia" pitchFamily="34" charset="-122"/>
                <a:cs typeface="Georgia" pitchFamily="34" charset="-120"/>
              </a:rPr>
              <a:t>Sacramentals</a:t>
            </a:r>
            <a:endParaRPr lang="en-US" sz="1800" dirty="0"/>
          </a:p>
        </p:txBody>
      </p:sp>
      <p:sp>
        <p:nvSpPr>
          <p:cNvPr id="21" name="Text 19"/>
          <p:cNvSpPr/>
          <p:nvPr/>
        </p:nvSpPr>
        <p:spPr>
          <a:xfrm>
            <a:off x="6537960" y="4937760"/>
            <a:ext cx="5166360" cy="777240"/>
          </a:xfrm>
          <a:prstGeom prst="rect">
            <a:avLst/>
          </a:prstGeom>
          <a:noFill/>
          <a:ln/>
        </p:spPr>
        <p:txBody>
          <a:bodyPr wrap="square" lIns="0" tIns="0" rIns="0" bIns="0" rtlCol="0" anchor="ctr"/>
          <a:lstStyle/>
          <a:p>
            <a:pPr indent="0" marL="0">
              <a:buNone/>
            </a:pPr>
            <a:r>
              <a:rPr lang="en-US" sz="1400" dirty="0">
                <a:solidFill>
                  <a:srgbClr val="4A554C"/>
                </a:solidFill>
                <a:latin typeface="Arial" pitchFamily="34" charset="0"/>
                <a:ea typeface="Arial" pitchFamily="34" charset="-122"/>
                <a:cs typeface="Arial" pitchFamily="34" charset="-120"/>
              </a:rPr>
              <a:t>Holy water, blessed soil, a class plant on the prayer table. Matter matters in a sacramental Church.</a:t>
            </a:r>
            <a:endParaRPr lang="en-US" sz="1400" dirty="0"/>
          </a:p>
        </p:txBody>
      </p:sp>
      <p:sp>
        <p:nvSpPr>
          <p:cNvPr id="22" name="Shape 20"/>
          <p:cNvSpPr/>
          <p:nvPr/>
        </p:nvSpPr>
        <p:spPr>
          <a:xfrm>
            <a:off x="502920" y="6510528"/>
            <a:ext cx="11183112" cy="0"/>
          </a:xfrm>
          <a:prstGeom prst="line">
            <a:avLst/>
          </a:prstGeom>
          <a:noFill/>
          <a:ln w="7620">
            <a:solidFill>
              <a:srgbClr val="C9C0A8"/>
            </a:solidFill>
            <a:prstDash val="solid"/>
          </a:ln>
        </p:spPr>
        <p:txBody>
          <a:bodyPr/>
          <a:p/>
        </p:txBody>
      </p:sp>
      <p:sp>
        <p:nvSpPr>
          <p:cNvPr id="23" name="Text 21"/>
          <p:cNvSpPr/>
          <p:nvPr/>
        </p:nvSpPr>
        <p:spPr>
          <a:xfrm>
            <a:off x="502920" y="6547104"/>
            <a:ext cx="8412480" cy="237744"/>
          </a:xfrm>
          <a:prstGeom prst="rect">
            <a:avLst/>
          </a:prstGeom>
          <a:noFill/>
          <a:ln/>
        </p:spPr>
        <p:txBody>
          <a:bodyPr wrap="square" lIns="0" tIns="0" rIns="0" bIns="0" rtlCol="0" anchor="ctr"/>
          <a:lstStyle/>
          <a:p>
            <a:pPr indent="0" marL="0">
              <a:buNone/>
            </a:pPr>
            <a:r>
              <a:rPr lang="en-US" sz="900" spc="120" kern="0" dirty="0">
                <a:solidFill>
                  <a:srgbClr val="6B736C"/>
                </a:solidFill>
                <a:latin typeface="Arial" pitchFamily="34" charset="0"/>
                <a:ea typeface="Arial" pitchFamily="34" charset="-122"/>
                <a:cs typeface="Arial" pitchFamily="34" charset="-120"/>
              </a:rPr>
              <a:t>CREATION CARE IN THE CLASSROOM  ·  K–5 CATHOLIC TEACHERS</a:t>
            </a:r>
            <a:endParaRPr lang="en-US" sz="900" dirty="0"/>
          </a:p>
        </p:txBody>
      </p:sp>
      <p:sp>
        <p:nvSpPr>
          <p:cNvPr id="24" name="Text 22"/>
          <p:cNvSpPr/>
          <p:nvPr/>
        </p:nvSpPr>
        <p:spPr>
          <a:xfrm>
            <a:off x="9509760" y="6547104"/>
            <a:ext cx="2176272" cy="237744"/>
          </a:xfrm>
          <a:prstGeom prst="rect">
            <a:avLst/>
          </a:prstGeom>
          <a:noFill/>
          <a:ln/>
        </p:spPr>
        <p:txBody>
          <a:bodyPr wrap="square" lIns="0" tIns="0" rIns="0" bIns="0" rtlCol="0" anchor="ctr"/>
          <a:lstStyle/>
          <a:p>
            <a:pPr algn="r" indent="0" marL="0">
              <a:buNone/>
            </a:pPr>
            <a:r>
              <a:rPr lang="en-US" sz="900" dirty="0">
                <a:solidFill>
                  <a:srgbClr val="6B736C"/>
                </a:solidFill>
                <a:latin typeface="Arial" pitchFamily="34" charset="0"/>
                <a:ea typeface="Arial" pitchFamily="34" charset="-122"/>
                <a:cs typeface="Arial" pitchFamily="34" charset="-120"/>
              </a:rPr>
              <a:t>17  /  30</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6">
    <p:bg>
      <p:bgPr>
        <a:solidFill>
          <a:srgbClr val="F4EFE2"/>
        </a:solidFill>
      </p:bgPr>
    </p:bg>
    <p:spTree>
      <p:nvGrpSpPr>
        <p:cNvPr id="1" name=""/>
        <p:cNvGrpSpPr/>
        <p:nvPr/>
      </p:nvGrpSpPr>
      <p:grpSpPr>
        <a:xfrm>
          <a:off x="0" y="0"/>
          <a:ext cx="0" cy="0"/>
          <a:chOff x="0" y="0"/>
          <a:chExt cx="0" cy="0"/>
        </a:xfrm>
      </p:grpSpPr>
      <p:sp>
        <p:nvSpPr>
          <p:cNvPr id="3" name="Shape 0"/>
          <p:cNvSpPr/>
          <p:nvPr/>
        </p:nvSpPr>
        <p:spPr>
          <a:xfrm>
            <a:off x="4297680" y="0"/>
            <a:ext cx="7894015" cy="6858000"/>
          </a:xfrm>
          <a:prstGeom prst="rect">
            <a:avLst/>
          </a:prstGeom>
          <a:solidFill>
            <a:srgbClr val="F4EFE2"/>
          </a:solidFill>
          <a:ln/>
        </p:spPr>
        <p:txBody>
          <a:bodyPr/>
          <a:p/>
        </p:txBody>
      </p:sp>
      <p:sp>
        <p:nvSpPr>
          <p:cNvPr id="4" name="Text 1"/>
          <p:cNvSpPr/>
          <p:nvPr/>
        </p:nvSpPr>
        <p:spPr>
          <a:xfrm>
            <a:off x="4709160" y="320040"/>
            <a:ext cx="6949440" cy="219456"/>
          </a:xfrm>
          <a:prstGeom prst="rect">
            <a:avLst/>
          </a:prstGeom>
          <a:noFill/>
          <a:ln/>
        </p:spPr>
        <p:txBody>
          <a:bodyPr wrap="square" lIns="0" tIns="0" rIns="0" bIns="0" rtlCol="0" anchor="ctr"/>
          <a:lstStyle/>
          <a:p>
            <a:pPr indent="0" marL="0">
              <a:buNone/>
            </a:pPr>
            <a:r>
              <a:rPr lang="en-US" sz="1100" b="1" spc="220" kern="0" dirty="0">
                <a:solidFill>
                  <a:srgbClr val="4F7A5C"/>
                </a:solidFill>
                <a:latin typeface="Arial" pitchFamily="34" charset="0"/>
                <a:ea typeface="Arial" pitchFamily="34" charset="-122"/>
                <a:cs typeface="Arial" pitchFamily="34" charset="-120"/>
              </a:rPr>
              <a:t>15  ·  THIS SEASON</a:t>
            </a:r>
            <a:endParaRPr lang="en-US" sz="1100" dirty="0"/>
          </a:p>
        </p:txBody>
      </p:sp>
      <p:sp>
        <p:nvSpPr>
          <p:cNvPr id="5" name="Text 2"/>
          <p:cNvSpPr/>
          <p:nvPr/>
        </p:nvSpPr>
        <p:spPr>
          <a:xfrm>
            <a:off x="4709160" y="566928"/>
            <a:ext cx="6949440" cy="438912"/>
          </a:xfrm>
          <a:prstGeom prst="rect">
            <a:avLst/>
          </a:prstGeom>
          <a:noFill/>
          <a:ln/>
        </p:spPr>
        <p:txBody>
          <a:bodyPr wrap="square" lIns="0" tIns="0" rIns="0" bIns="0" rtlCol="0" anchor="ctr"/>
          <a:lstStyle/>
          <a:p>
            <a:pPr indent="0" marL="0">
              <a:buNone/>
            </a:pPr>
            <a:r>
              <a:rPr lang="en-US" sz="2600" dirty="0">
                <a:solidFill>
                  <a:srgbClr val="1B3A2A"/>
                </a:solidFill>
                <a:latin typeface="Georgia" pitchFamily="34" charset="0"/>
                <a:ea typeface="Georgia" pitchFamily="34" charset="-122"/>
                <a:cs typeface="Georgia" pitchFamily="34" charset="-120"/>
              </a:rPr>
              <a:t>Season of Creation 2026</a:t>
            </a:r>
            <a:endParaRPr lang="en-US" sz="2600" dirty="0"/>
          </a:p>
        </p:txBody>
      </p:sp>
      <p:sp>
        <p:nvSpPr>
          <p:cNvPr id="6" name="Text 3"/>
          <p:cNvSpPr/>
          <p:nvPr/>
        </p:nvSpPr>
        <p:spPr>
          <a:xfrm>
            <a:off x="4709160" y="1042416"/>
            <a:ext cx="6949440" cy="274320"/>
          </a:xfrm>
          <a:prstGeom prst="rect">
            <a:avLst/>
          </a:prstGeom>
          <a:noFill/>
          <a:ln/>
        </p:spPr>
        <p:txBody>
          <a:bodyPr wrap="square" lIns="0" tIns="0" rIns="0" bIns="0" rtlCol="0" anchor="ctr"/>
          <a:lstStyle/>
          <a:p>
            <a:pPr indent="0" marL="0">
              <a:buNone/>
            </a:pPr>
            <a:r>
              <a:rPr lang="en-US" sz="1400" i="1" dirty="0">
                <a:solidFill>
                  <a:srgbClr val="A66B4A"/>
                </a:solidFill>
                <a:latin typeface="Arial" pitchFamily="34" charset="0"/>
                <a:ea typeface="Arial" pitchFamily="34" charset="-122"/>
                <a:cs typeface="Arial" pitchFamily="34" charset="-120"/>
              </a:rPr>
              <a:t>September 1 – October 4  ·  Theme: Living Water</a:t>
            </a:r>
            <a:endParaRPr lang="en-US" sz="1400" dirty="0"/>
          </a:p>
        </p:txBody>
      </p:sp>
      <p:sp>
        <p:nvSpPr>
          <p:cNvPr id="7" name="Text 4"/>
          <p:cNvSpPr/>
          <p:nvPr/>
        </p:nvSpPr>
        <p:spPr>
          <a:xfrm>
            <a:off x="4709160" y="1463040"/>
            <a:ext cx="6949440" cy="292608"/>
          </a:xfrm>
          <a:prstGeom prst="rect">
            <a:avLst/>
          </a:prstGeom>
          <a:noFill/>
          <a:ln/>
        </p:spPr>
        <p:txBody>
          <a:bodyPr wrap="square" lIns="0" tIns="0" rIns="0" bIns="0" rtlCol="0" anchor="ctr"/>
          <a:lstStyle/>
          <a:p>
            <a:pPr indent="0" marL="0">
              <a:buNone/>
            </a:pPr>
            <a:r>
              <a:rPr lang="en-US" sz="1600" b="1" dirty="0">
                <a:solidFill>
                  <a:srgbClr val="1B3A2A"/>
                </a:solidFill>
                <a:latin typeface="Arial" pitchFamily="34" charset="0"/>
                <a:ea typeface="Arial" pitchFamily="34" charset="-122"/>
                <a:cs typeface="Arial" pitchFamily="34" charset="-120"/>
              </a:rPr>
              <a:t>Week of Sept 1</a:t>
            </a:r>
            <a:endParaRPr lang="en-US" sz="1600" dirty="0"/>
          </a:p>
        </p:txBody>
      </p:sp>
      <p:sp>
        <p:nvSpPr>
          <p:cNvPr id="8" name="Text 5"/>
          <p:cNvSpPr/>
          <p:nvPr/>
        </p:nvSpPr>
        <p:spPr>
          <a:xfrm>
            <a:off x="4709160" y="1755648"/>
            <a:ext cx="6949440" cy="658368"/>
          </a:xfrm>
          <a:prstGeom prst="rect">
            <a:avLst/>
          </a:prstGeom>
          <a:noFill/>
          <a:ln/>
        </p:spPr>
        <p:txBody>
          <a:bodyPr wrap="square" lIns="0" tIns="0" rIns="0" bIns="0" rtlCol="0" anchor="ctr"/>
          <a:lstStyle/>
          <a:p>
            <a:pPr indent="0" marL="0">
              <a:buNone/>
            </a:pPr>
            <a:r>
              <a:rPr lang="en-US" sz="1400" dirty="0">
                <a:solidFill>
                  <a:srgbClr val="4A554C"/>
                </a:solidFill>
                <a:latin typeface="Arial" pitchFamily="34" charset="0"/>
                <a:ea typeface="Arial" pitchFamily="34" charset="-122"/>
                <a:cs typeface="Arial" pitchFamily="34" charset="-120"/>
              </a:rPr>
              <a:t>World Day of Prayer for Creation. Class blessing of water. Read a child-friendly line from Ezekiel 47.</a:t>
            </a:r>
            <a:endParaRPr lang="en-US" sz="1400" dirty="0"/>
          </a:p>
        </p:txBody>
      </p:sp>
      <p:sp>
        <p:nvSpPr>
          <p:cNvPr id="9" name="Text 6"/>
          <p:cNvSpPr/>
          <p:nvPr/>
        </p:nvSpPr>
        <p:spPr>
          <a:xfrm>
            <a:off x="4709160" y="2542032"/>
            <a:ext cx="6949440" cy="292608"/>
          </a:xfrm>
          <a:prstGeom prst="rect">
            <a:avLst/>
          </a:prstGeom>
          <a:noFill/>
          <a:ln/>
        </p:spPr>
        <p:txBody>
          <a:bodyPr wrap="square" lIns="0" tIns="0" rIns="0" bIns="0" rtlCol="0" anchor="ctr"/>
          <a:lstStyle/>
          <a:p>
            <a:pPr indent="0" marL="0">
              <a:buNone/>
            </a:pPr>
            <a:r>
              <a:rPr lang="en-US" sz="1600" b="1" dirty="0">
                <a:solidFill>
                  <a:srgbClr val="1B3A2A"/>
                </a:solidFill>
                <a:latin typeface="Arial" pitchFamily="34" charset="0"/>
                <a:ea typeface="Arial" pitchFamily="34" charset="-122"/>
                <a:cs typeface="Arial" pitchFamily="34" charset="-120"/>
              </a:rPr>
              <a:t>Weeks of Sept</a:t>
            </a:r>
            <a:endParaRPr lang="en-US" sz="1600" dirty="0"/>
          </a:p>
        </p:txBody>
      </p:sp>
      <p:sp>
        <p:nvSpPr>
          <p:cNvPr id="10" name="Text 7"/>
          <p:cNvSpPr/>
          <p:nvPr/>
        </p:nvSpPr>
        <p:spPr>
          <a:xfrm>
            <a:off x="4709160" y="2834640"/>
            <a:ext cx="6949440" cy="658368"/>
          </a:xfrm>
          <a:prstGeom prst="rect">
            <a:avLst/>
          </a:prstGeom>
          <a:noFill/>
          <a:ln/>
        </p:spPr>
        <p:txBody>
          <a:bodyPr wrap="square" lIns="0" tIns="0" rIns="0" bIns="0" rtlCol="0" anchor="ctr"/>
          <a:lstStyle/>
          <a:p>
            <a:pPr indent="0" marL="0">
              <a:buNone/>
            </a:pPr>
            <a:r>
              <a:rPr lang="en-US" sz="1400" dirty="0">
                <a:solidFill>
                  <a:srgbClr val="4A554C"/>
                </a:solidFill>
                <a:latin typeface="Arial" pitchFamily="34" charset="0"/>
                <a:ea typeface="Arial" pitchFamily="34" charset="-122"/>
                <a:cs typeface="Arial" pitchFamily="34" charset="-120"/>
              </a:rPr>
              <a:t>One water inquiry: Where does our classroom water come from? Who lacks it? How do we waste it?</a:t>
            </a:r>
            <a:endParaRPr lang="en-US" sz="1400" dirty="0"/>
          </a:p>
        </p:txBody>
      </p:sp>
      <p:sp>
        <p:nvSpPr>
          <p:cNvPr id="11" name="Text 8"/>
          <p:cNvSpPr/>
          <p:nvPr/>
        </p:nvSpPr>
        <p:spPr>
          <a:xfrm>
            <a:off x="4709160" y="3621024"/>
            <a:ext cx="6949440" cy="292608"/>
          </a:xfrm>
          <a:prstGeom prst="rect">
            <a:avLst/>
          </a:prstGeom>
          <a:noFill/>
          <a:ln/>
        </p:spPr>
        <p:txBody>
          <a:bodyPr wrap="square" lIns="0" tIns="0" rIns="0" bIns="0" rtlCol="0" anchor="ctr"/>
          <a:lstStyle/>
          <a:p>
            <a:pPr indent="0" marL="0">
              <a:buNone/>
            </a:pPr>
            <a:r>
              <a:rPr lang="en-US" sz="1600" b="1" dirty="0">
                <a:solidFill>
                  <a:srgbClr val="1B3A2A"/>
                </a:solidFill>
                <a:latin typeface="Arial" pitchFamily="34" charset="0"/>
                <a:ea typeface="Arial" pitchFamily="34" charset="-122"/>
                <a:cs typeface="Arial" pitchFamily="34" charset="-120"/>
              </a:rPr>
              <a:t>Oct 3–4</a:t>
            </a:r>
            <a:endParaRPr lang="en-US" sz="1600" dirty="0"/>
          </a:p>
        </p:txBody>
      </p:sp>
      <p:sp>
        <p:nvSpPr>
          <p:cNvPr id="12" name="Text 9"/>
          <p:cNvSpPr/>
          <p:nvPr/>
        </p:nvSpPr>
        <p:spPr>
          <a:xfrm>
            <a:off x="4709160" y="3913632"/>
            <a:ext cx="6949440" cy="658368"/>
          </a:xfrm>
          <a:prstGeom prst="rect">
            <a:avLst/>
          </a:prstGeom>
          <a:noFill/>
          <a:ln/>
        </p:spPr>
        <p:txBody>
          <a:bodyPr wrap="square" lIns="0" tIns="0" rIns="0" bIns="0" rtlCol="0" anchor="ctr"/>
          <a:lstStyle/>
          <a:p>
            <a:pPr indent="0" marL="0">
              <a:buNone/>
            </a:pPr>
            <a:r>
              <a:rPr lang="en-US" sz="1400" dirty="0">
                <a:solidFill>
                  <a:srgbClr val="4A554C"/>
                </a:solidFill>
                <a:latin typeface="Arial" pitchFamily="34" charset="0"/>
                <a:ea typeface="Arial" pitchFamily="34" charset="-122"/>
                <a:cs typeface="Arial" pitchFamily="34" charset="-120"/>
              </a:rPr>
              <a:t>Vigil of Francis’s passing and his feast. Blessing of animals. Class song. Assembly or school Mass.</a:t>
            </a:r>
            <a:endParaRPr lang="en-US" sz="1400" dirty="0"/>
          </a:p>
        </p:txBody>
      </p:sp>
      <p:sp>
        <p:nvSpPr>
          <p:cNvPr id="13" name="Text 10"/>
          <p:cNvSpPr/>
          <p:nvPr/>
        </p:nvSpPr>
        <p:spPr>
          <a:xfrm>
            <a:off x="4709160" y="4700016"/>
            <a:ext cx="6949440" cy="292608"/>
          </a:xfrm>
          <a:prstGeom prst="rect">
            <a:avLst/>
          </a:prstGeom>
          <a:noFill/>
          <a:ln/>
        </p:spPr>
        <p:txBody>
          <a:bodyPr wrap="square" lIns="0" tIns="0" rIns="0" bIns="0" rtlCol="0" anchor="ctr"/>
          <a:lstStyle/>
          <a:p>
            <a:pPr indent="0" marL="0">
              <a:buNone/>
            </a:pPr>
            <a:r>
              <a:rPr lang="en-US" sz="1600" b="1" dirty="0">
                <a:solidFill>
                  <a:srgbClr val="1B3A2A"/>
                </a:solidFill>
                <a:latin typeface="Arial" pitchFamily="34" charset="0"/>
                <a:ea typeface="Arial" pitchFamily="34" charset="-122"/>
                <a:cs typeface="Arial" pitchFamily="34" charset="-120"/>
              </a:rPr>
              <a:t>Keep it local</a:t>
            </a:r>
            <a:endParaRPr lang="en-US" sz="1600" dirty="0"/>
          </a:p>
        </p:txBody>
      </p:sp>
      <p:sp>
        <p:nvSpPr>
          <p:cNvPr id="14" name="Text 11"/>
          <p:cNvSpPr/>
          <p:nvPr/>
        </p:nvSpPr>
        <p:spPr>
          <a:xfrm>
            <a:off x="4709160" y="4992624"/>
            <a:ext cx="6949440" cy="658368"/>
          </a:xfrm>
          <a:prstGeom prst="rect">
            <a:avLst/>
          </a:prstGeom>
          <a:noFill/>
          <a:ln/>
        </p:spPr>
        <p:txBody>
          <a:bodyPr wrap="square" lIns="0" tIns="0" rIns="0" bIns="0" rtlCol="0" anchor="ctr"/>
          <a:lstStyle/>
          <a:p>
            <a:pPr indent="0" marL="0">
              <a:buNone/>
            </a:pPr>
            <a:r>
              <a:rPr lang="en-US" sz="1400" dirty="0">
                <a:solidFill>
                  <a:srgbClr val="4A554C"/>
                </a:solidFill>
                <a:latin typeface="Arial" pitchFamily="34" charset="0"/>
                <a:ea typeface="Arial" pitchFamily="34" charset="-122"/>
                <a:cs typeface="Arial" pitchFamily="34" charset="-120"/>
              </a:rPr>
              <a:t>A creek, a garden hose, a drinking fountain, a drought-tolerant planter. Living water is already on campus.</a:t>
            </a:r>
            <a:endParaRPr lang="en-US" sz="1400" dirty="0"/>
          </a:p>
        </p:txBody>
      </p:sp>
      <p:sp>
        <p:nvSpPr>
          <p:cNvPr id="15" name="Text 12"/>
          <p:cNvSpPr/>
          <p:nvPr/>
        </p:nvSpPr>
        <p:spPr>
          <a:xfrm>
            <a:off x="9509760" y="6547104"/>
            <a:ext cx="2176272" cy="237744"/>
          </a:xfrm>
          <a:prstGeom prst="rect">
            <a:avLst/>
          </a:prstGeom>
          <a:noFill/>
          <a:ln/>
        </p:spPr>
        <p:txBody>
          <a:bodyPr wrap="square" lIns="0" tIns="0" rIns="0" bIns="0" rtlCol="0" anchor="ctr"/>
          <a:lstStyle/>
          <a:p>
            <a:pPr algn="r" indent="0" marL="0">
              <a:buNone/>
            </a:pPr>
            <a:r>
              <a:rPr lang="en-US" sz="900" dirty="0">
                <a:solidFill>
                  <a:srgbClr val="6B736C"/>
                </a:solidFill>
                <a:latin typeface="Arial" pitchFamily="34" charset="0"/>
                <a:ea typeface="Arial" pitchFamily="34" charset="-122"/>
                <a:cs typeface="Arial" pitchFamily="34" charset="-120"/>
              </a:rPr>
              <a:t>18  /  30</a:t>
            </a:r>
            <a:endParaRPr lang="en-US" sz="900" dirty="0"/>
          </a:p>
        </p:txBody>
      </p:sp>
      <p:pic>
        <p:nvPicPr>
          <p:cNvPr id="16" name="Picture 15" descr="slide16.jpg"/>
          <p:cNvPicPr>
            <a:picLocks noChangeAspect="1"/>
          </p:cNvPicPr>
          <p:nvPr/>
        </p:nvPicPr>
        <p:blipFill>
          <a:blip r:embed="rId4"/>
          <a:stretch>
            <a:fillRect/>
          </a:stretch>
        </p:blipFill>
        <p:spPr>
          <a:xfrm>
            <a:off x="0" y="0"/>
            <a:ext cx="4663440" cy="68580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7">
    <p:bg>
      <p:bgPr>
        <a:solidFill>
          <a:srgbClr val="F4EFE2"/>
        </a:solidFill>
      </p:bgPr>
    </p:bg>
    <p:spTree>
      <p:nvGrpSpPr>
        <p:cNvPr id="1" name=""/>
        <p:cNvGrpSpPr/>
        <p:nvPr/>
      </p:nvGrpSpPr>
      <p:grpSpPr>
        <a:xfrm>
          <a:off x="0" y="0"/>
          <a:ext cx="0" cy="0"/>
          <a:chOff x="0" y="0"/>
          <a:chExt cx="0" cy="0"/>
        </a:xfrm>
      </p:grpSpPr>
      <p:sp>
        <p:nvSpPr>
          <p:cNvPr id="2" name="Text 0"/>
          <p:cNvSpPr/>
          <p:nvPr/>
        </p:nvSpPr>
        <p:spPr>
          <a:xfrm>
            <a:off x="502920" y="256032"/>
            <a:ext cx="11155680" cy="219456"/>
          </a:xfrm>
          <a:prstGeom prst="rect">
            <a:avLst/>
          </a:prstGeom>
          <a:noFill/>
          <a:ln/>
        </p:spPr>
        <p:txBody>
          <a:bodyPr wrap="square" lIns="0" tIns="0" rIns="0" bIns="0" rtlCol="0" anchor="ctr"/>
          <a:lstStyle/>
          <a:p>
            <a:pPr indent="0" marL="0">
              <a:buNone/>
            </a:pPr>
            <a:r>
              <a:rPr lang="en-US" sz="1100" b="1" spc="220" kern="0" dirty="0">
                <a:solidFill>
                  <a:srgbClr val="4F7A5C"/>
                </a:solidFill>
                <a:latin typeface="Arial" pitchFamily="34" charset="0"/>
                <a:ea typeface="Arial" pitchFamily="34" charset="-122"/>
                <a:cs typeface="Arial" pitchFamily="34" charset="-120"/>
              </a:rPr>
              <a:t>16  ·  NO GRANT REQUIRED</a:t>
            </a:r>
            <a:endParaRPr lang="en-US" sz="1100" dirty="0"/>
          </a:p>
        </p:txBody>
      </p:sp>
      <p:sp>
        <p:nvSpPr>
          <p:cNvPr id="3" name="Text 1"/>
          <p:cNvSpPr/>
          <p:nvPr/>
        </p:nvSpPr>
        <p:spPr>
          <a:xfrm>
            <a:off x="502920" y="475488"/>
            <a:ext cx="11155680" cy="475488"/>
          </a:xfrm>
          <a:prstGeom prst="rect">
            <a:avLst/>
          </a:prstGeom>
          <a:noFill/>
          <a:ln/>
        </p:spPr>
        <p:txBody>
          <a:bodyPr wrap="square" lIns="0" tIns="0" rIns="0" bIns="0" rtlCol="0" anchor="ctr"/>
          <a:lstStyle/>
          <a:p>
            <a:pPr indent="0" marL="0">
              <a:buNone/>
            </a:pPr>
            <a:r>
              <a:rPr lang="en-US" sz="2600" dirty="0">
                <a:solidFill>
                  <a:srgbClr val="1B3A2A"/>
                </a:solidFill>
                <a:latin typeface="Georgia" pitchFamily="34" charset="0"/>
                <a:ea typeface="Georgia" pitchFamily="34" charset="-122"/>
                <a:cs typeface="Georgia" pitchFamily="34" charset="-120"/>
              </a:rPr>
              <a:t>High impact, low cost</a:t>
            </a:r>
            <a:endParaRPr lang="en-US" sz="2600" dirty="0"/>
          </a:p>
        </p:txBody>
      </p:sp>
      <p:sp>
        <p:nvSpPr>
          <p:cNvPr id="4" name="Shape 2"/>
          <p:cNvSpPr/>
          <p:nvPr/>
        </p:nvSpPr>
        <p:spPr>
          <a:xfrm>
            <a:off x="502920" y="1115568"/>
            <a:ext cx="3639312" cy="2331720"/>
          </a:xfrm>
          <a:prstGeom prst="roundRect">
            <a:avLst>
              <a:gd name="adj" fmla="val 3137"/>
            </a:avLst>
          </a:prstGeom>
          <a:solidFill>
            <a:srgbClr val="FFFBF3"/>
          </a:solidFill>
          <a:ln/>
        </p:spPr>
        <p:txBody>
          <a:bodyPr/>
          <a:p/>
        </p:txBody>
      </p:sp>
      <p:sp>
        <p:nvSpPr>
          <p:cNvPr id="5" name="Text 3"/>
          <p:cNvSpPr/>
          <p:nvPr/>
        </p:nvSpPr>
        <p:spPr>
          <a:xfrm>
            <a:off x="704088" y="1280160"/>
            <a:ext cx="3236976" cy="256032"/>
          </a:xfrm>
          <a:prstGeom prst="rect">
            <a:avLst/>
          </a:prstGeom>
          <a:noFill/>
          <a:ln/>
        </p:spPr>
        <p:txBody>
          <a:bodyPr wrap="square" lIns="0" tIns="0" rIns="0" bIns="0" rtlCol="0" anchor="ctr"/>
          <a:lstStyle/>
          <a:p>
            <a:pPr indent="0" marL="0">
              <a:buNone/>
            </a:pPr>
            <a:r>
              <a:rPr lang="en-US" sz="1200" b="1" spc="100" kern="0" dirty="0">
                <a:solidFill>
                  <a:srgbClr val="C4A35A"/>
                </a:solidFill>
                <a:latin typeface="Arial" pitchFamily="34" charset="0"/>
                <a:ea typeface="Arial" pitchFamily="34" charset="-122"/>
                <a:cs typeface="Arial" pitchFamily="34" charset="-120"/>
              </a:rPr>
              <a:t>$0</a:t>
            </a:r>
            <a:endParaRPr lang="en-US" sz="1200" dirty="0"/>
          </a:p>
        </p:txBody>
      </p:sp>
      <p:sp>
        <p:nvSpPr>
          <p:cNvPr id="6" name="Text 4"/>
          <p:cNvSpPr/>
          <p:nvPr/>
        </p:nvSpPr>
        <p:spPr>
          <a:xfrm>
            <a:off x="704088" y="1554480"/>
            <a:ext cx="3236976" cy="365760"/>
          </a:xfrm>
          <a:prstGeom prst="rect">
            <a:avLst/>
          </a:prstGeom>
          <a:noFill/>
          <a:ln/>
        </p:spPr>
        <p:txBody>
          <a:bodyPr wrap="square" lIns="0" tIns="0" rIns="0" bIns="0" rtlCol="0" anchor="ctr"/>
          <a:lstStyle/>
          <a:p>
            <a:pPr indent="0" marL="0">
              <a:buNone/>
            </a:pPr>
            <a:r>
              <a:rPr lang="en-US" sz="2000" dirty="0">
                <a:solidFill>
                  <a:srgbClr val="1B3A2A"/>
                </a:solidFill>
                <a:latin typeface="Georgia" pitchFamily="34" charset="0"/>
                <a:ea typeface="Georgia" pitchFamily="34" charset="-122"/>
                <a:cs typeface="Georgia" pitchFamily="34" charset="-120"/>
              </a:rPr>
              <a:t>Attention</a:t>
            </a:r>
            <a:endParaRPr lang="en-US" sz="2000" dirty="0"/>
          </a:p>
        </p:txBody>
      </p:sp>
      <p:sp>
        <p:nvSpPr>
          <p:cNvPr id="7" name="Text 5"/>
          <p:cNvSpPr/>
          <p:nvPr/>
        </p:nvSpPr>
        <p:spPr>
          <a:xfrm>
            <a:off x="704088" y="2029968"/>
            <a:ext cx="3236976" cy="1143000"/>
          </a:xfrm>
          <a:prstGeom prst="rect">
            <a:avLst/>
          </a:prstGeom>
          <a:noFill/>
          <a:ln/>
        </p:spPr>
        <p:txBody>
          <a:bodyPr wrap="square" lIns="0" tIns="0" rIns="0" bIns="0" rtlCol="0" anchor="ctr"/>
          <a:lstStyle/>
          <a:p>
            <a:pPr indent="0" marL="0">
              <a:buNone/>
            </a:pPr>
            <a:r>
              <a:rPr lang="en-US" sz="1400" dirty="0">
                <a:solidFill>
                  <a:srgbClr val="4A554C"/>
                </a:solidFill>
                <a:latin typeface="Arial" pitchFamily="34" charset="0"/>
                <a:ea typeface="Arial" pitchFamily="34" charset="-122"/>
                <a:cs typeface="Arial" pitchFamily="34" charset="-120"/>
              </a:rPr>
              <a:t>Window watch. Silence for birdsong. A gratitude circle. Lights-off last child.</a:t>
            </a:r>
            <a:endParaRPr lang="en-US" sz="1400" dirty="0"/>
          </a:p>
        </p:txBody>
      </p:sp>
      <p:sp>
        <p:nvSpPr>
          <p:cNvPr id="8" name="Shape 6"/>
          <p:cNvSpPr/>
          <p:nvPr/>
        </p:nvSpPr>
        <p:spPr>
          <a:xfrm>
            <a:off x="4297680" y="1115568"/>
            <a:ext cx="3639312" cy="2331720"/>
          </a:xfrm>
          <a:prstGeom prst="roundRect">
            <a:avLst>
              <a:gd name="adj" fmla="val 3137"/>
            </a:avLst>
          </a:prstGeom>
          <a:solidFill>
            <a:srgbClr val="FFFBF3"/>
          </a:solidFill>
          <a:ln/>
        </p:spPr>
        <p:txBody>
          <a:bodyPr/>
          <a:p/>
        </p:txBody>
      </p:sp>
      <p:sp>
        <p:nvSpPr>
          <p:cNvPr id="9" name="Text 7"/>
          <p:cNvSpPr/>
          <p:nvPr/>
        </p:nvSpPr>
        <p:spPr>
          <a:xfrm>
            <a:off x="4498848" y="1280160"/>
            <a:ext cx="3236976" cy="256032"/>
          </a:xfrm>
          <a:prstGeom prst="rect">
            <a:avLst/>
          </a:prstGeom>
          <a:noFill/>
          <a:ln/>
        </p:spPr>
        <p:txBody>
          <a:bodyPr wrap="square" lIns="0" tIns="0" rIns="0" bIns="0" rtlCol="0" anchor="ctr"/>
          <a:lstStyle/>
          <a:p>
            <a:pPr indent="0" marL="0">
              <a:buNone/>
            </a:pPr>
            <a:r>
              <a:rPr lang="en-US" sz="1200" b="1" spc="100" kern="0" dirty="0">
                <a:solidFill>
                  <a:srgbClr val="C4A35A"/>
                </a:solidFill>
                <a:latin typeface="Arial" pitchFamily="34" charset="0"/>
                <a:ea typeface="Arial" pitchFamily="34" charset="-122"/>
                <a:cs typeface="Arial" pitchFamily="34" charset="-120"/>
              </a:rPr>
              <a:t>$0</a:t>
            </a:r>
            <a:endParaRPr lang="en-US" sz="1200" dirty="0"/>
          </a:p>
        </p:txBody>
      </p:sp>
      <p:sp>
        <p:nvSpPr>
          <p:cNvPr id="10" name="Text 8"/>
          <p:cNvSpPr/>
          <p:nvPr/>
        </p:nvSpPr>
        <p:spPr>
          <a:xfrm>
            <a:off x="4498848" y="1554480"/>
            <a:ext cx="3236976" cy="365760"/>
          </a:xfrm>
          <a:prstGeom prst="rect">
            <a:avLst/>
          </a:prstGeom>
          <a:noFill/>
          <a:ln/>
        </p:spPr>
        <p:txBody>
          <a:bodyPr wrap="square" lIns="0" tIns="0" rIns="0" bIns="0" rtlCol="0" anchor="ctr"/>
          <a:lstStyle/>
          <a:p>
            <a:pPr indent="0" marL="0">
              <a:buNone/>
            </a:pPr>
            <a:r>
              <a:rPr lang="en-US" sz="2000" dirty="0">
                <a:solidFill>
                  <a:srgbClr val="1B3A2A"/>
                </a:solidFill>
                <a:latin typeface="Georgia" pitchFamily="34" charset="0"/>
                <a:ea typeface="Georgia" pitchFamily="34" charset="-122"/>
                <a:cs typeface="Georgia" pitchFamily="34" charset="-120"/>
              </a:rPr>
              <a:t>Language</a:t>
            </a:r>
            <a:endParaRPr lang="en-US" sz="2000" dirty="0"/>
          </a:p>
        </p:txBody>
      </p:sp>
      <p:sp>
        <p:nvSpPr>
          <p:cNvPr id="11" name="Text 9"/>
          <p:cNvSpPr/>
          <p:nvPr/>
        </p:nvSpPr>
        <p:spPr>
          <a:xfrm>
            <a:off x="4498848" y="2029968"/>
            <a:ext cx="3236976" cy="1143000"/>
          </a:xfrm>
          <a:prstGeom prst="rect">
            <a:avLst/>
          </a:prstGeom>
          <a:noFill/>
          <a:ln/>
        </p:spPr>
        <p:txBody>
          <a:bodyPr wrap="square" lIns="0" tIns="0" rIns="0" bIns="0" rtlCol="0" anchor="ctr"/>
          <a:lstStyle/>
          <a:p>
            <a:pPr indent="0" marL="0">
              <a:buNone/>
            </a:pPr>
            <a:r>
              <a:rPr lang="en-US" sz="1400" dirty="0">
                <a:solidFill>
                  <a:srgbClr val="4A554C"/>
                </a:solidFill>
                <a:latin typeface="Arial" pitchFamily="34" charset="0"/>
                <a:ea typeface="Arial" pitchFamily="34" charset="-122"/>
                <a:cs typeface="Arial" pitchFamily="34" charset="-120"/>
              </a:rPr>
              <a:t>Change “throw away” to “where does this go?” Rename monitors as stewards.</a:t>
            </a:r>
            <a:endParaRPr lang="en-US" sz="1400" dirty="0"/>
          </a:p>
        </p:txBody>
      </p:sp>
      <p:sp>
        <p:nvSpPr>
          <p:cNvPr id="12" name="Shape 10"/>
          <p:cNvSpPr/>
          <p:nvPr/>
        </p:nvSpPr>
        <p:spPr>
          <a:xfrm>
            <a:off x="8092440" y="1115568"/>
            <a:ext cx="3639312" cy="2331720"/>
          </a:xfrm>
          <a:prstGeom prst="roundRect">
            <a:avLst>
              <a:gd name="adj" fmla="val 3137"/>
            </a:avLst>
          </a:prstGeom>
          <a:solidFill>
            <a:srgbClr val="FFFBF3"/>
          </a:solidFill>
          <a:ln/>
        </p:spPr>
        <p:txBody>
          <a:bodyPr/>
          <a:p/>
        </p:txBody>
      </p:sp>
      <p:sp>
        <p:nvSpPr>
          <p:cNvPr id="13" name="Text 11"/>
          <p:cNvSpPr/>
          <p:nvPr/>
        </p:nvSpPr>
        <p:spPr>
          <a:xfrm>
            <a:off x="8293608" y="1280160"/>
            <a:ext cx="3236976" cy="256032"/>
          </a:xfrm>
          <a:prstGeom prst="rect">
            <a:avLst/>
          </a:prstGeom>
          <a:noFill/>
          <a:ln/>
        </p:spPr>
        <p:txBody>
          <a:bodyPr wrap="square" lIns="0" tIns="0" rIns="0" bIns="0" rtlCol="0" anchor="ctr"/>
          <a:lstStyle/>
          <a:p>
            <a:pPr indent="0" marL="0">
              <a:buNone/>
            </a:pPr>
            <a:r>
              <a:rPr lang="en-US" sz="1200" b="1" spc="100" kern="0" dirty="0">
                <a:solidFill>
                  <a:srgbClr val="C4A35A"/>
                </a:solidFill>
                <a:latin typeface="Arial" pitchFamily="34" charset="0"/>
                <a:ea typeface="Arial" pitchFamily="34" charset="-122"/>
                <a:cs typeface="Arial" pitchFamily="34" charset="-120"/>
              </a:rPr>
              <a:t>$0–10</a:t>
            </a:r>
            <a:endParaRPr lang="en-US" sz="1200" dirty="0"/>
          </a:p>
        </p:txBody>
      </p:sp>
      <p:sp>
        <p:nvSpPr>
          <p:cNvPr id="14" name="Text 12"/>
          <p:cNvSpPr/>
          <p:nvPr/>
        </p:nvSpPr>
        <p:spPr>
          <a:xfrm>
            <a:off x="8293608" y="1554480"/>
            <a:ext cx="3236976" cy="365760"/>
          </a:xfrm>
          <a:prstGeom prst="rect">
            <a:avLst/>
          </a:prstGeom>
          <a:noFill/>
          <a:ln/>
        </p:spPr>
        <p:txBody>
          <a:bodyPr wrap="square" lIns="0" tIns="0" rIns="0" bIns="0" rtlCol="0" anchor="ctr"/>
          <a:lstStyle/>
          <a:p>
            <a:pPr indent="0" marL="0">
              <a:buNone/>
            </a:pPr>
            <a:r>
              <a:rPr lang="en-US" sz="2000" dirty="0">
                <a:solidFill>
                  <a:srgbClr val="1B3A2A"/>
                </a:solidFill>
                <a:latin typeface="Georgia" pitchFamily="34" charset="0"/>
                <a:ea typeface="Georgia" pitchFamily="34" charset="-122"/>
                <a:cs typeface="Georgia" pitchFamily="34" charset="-120"/>
              </a:rPr>
              <a:t>Prayer table</a:t>
            </a:r>
            <a:endParaRPr lang="en-US" sz="2000" dirty="0"/>
          </a:p>
        </p:txBody>
      </p:sp>
      <p:sp>
        <p:nvSpPr>
          <p:cNvPr id="15" name="Text 13"/>
          <p:cNvSpPr/>
          <p:nvPr/>
        </p:nvSpPr>
        <p:spPr>
          <a:xfrm>
            <a:off x="8293608" y="2029968"/>
            <a:ext cx="3236976" cy="1143000"/>
          </a:xfrm>
          <a:prstGeom prst="rect">
            <a:avLst/>
          </a:prstGeom>
          <a:noFill/>
          <a:ln/>
        </p:spPr>
        <p:txBody>
          <a:bodyPr wrap="square" lIns="0" tIns="0" rIns="0" bIns="0" rtlCol="0" anchor="ctr"/>
          <a:lstStyle/>
          <a:p>
            <a:pPr indent="0" marL="0">
              <a:buNone/>
            </a:pPr>
            <a:r>
              <a:rPr lang="en-US" sz="1400" dirty="0">
                <a:solidFill>
                  <a:srgbClr val="4A554C"/>
                </a:solidFill>
                <a:latin typeface="Arial" pitchFamily="34" charset="0"/>
                <a:ea typeface="Arial" pitchFamily="34" charset="-122"/>
                <a:cs typeface="Arial" pitchFamily="34" charset="-120"/>
              </a:rPr>
              <a:t>A cloth in earth colors, a plant, a stone, a bowl of water, a printed verse.</a:t>
            </a:r>
            <a:endParaRPr lang="en-US" sz="1400" dirty="0"/>
          </a:p>
        </p:txBody>
      </p:sp>
      <p:sp>
        <p:nvSpPr>
          <p:cNvPr id="16" name="Shape 14"/>
          <p:cNvSpPr/>
          <p:nvPr/>
        </p:nvSpPr>
        <p:spPr>
          <a:xfrm>
            <a:off x="502920" y="3630168"/>
            <a:ext cx="3639312" cy="2331720"/>
          </a:xfrm>
          <a:prstGeom prst="roundRect">
            <a:avLst>
              <a:gd name="adj" fmla="val 3137"/>
            </a:avLst>
          </a:prstGeom>
          <a:solidFill>
            <a:srgbClr val="FFFBF3"/>
          </a:solidFill>
          <a:ln/>
        </p:spPr>
        <p:txBody>
          <a:bodyPr/>
          <a:p/>
        </p:txBody>
      </p:sp>
      <p:sp>
        <p:nvSpPr>
          <p:cNvPr id="17" name="Text 15"/>
          <p:cNvSpPr/>
          <p:nvPr/>
        </p:nvSpPr>
        <p:spPr>
          <a:xfrm>
            <a:off x="704088" y="3794760"/>
            <a:ext cx="3236976" cy="256032"/>
          </a:xfrm>
          <a:prstGeom prst="rect">
            <a:avLst/>
          </a:prstGeom>
          <a:noFill/>
          <a:ln/>
        </p:spPr>
        <p:txBody>
          <a:bodyPr wrap="square" lIns="0" tIns="0" rIns="0" bIns="0" rtlCol="0" anchor="ctr"/>
          <a:lstStyle/>
          <a:p>
            <a:pPr indent="0" marL="0">
              <a:buNone/>
            </a:pPr>
            <a:r>
              <a:rPr lang="en-US" sz="1200" b="1" spc="100" kern="0" dirty="0">
                <a:solidFill>
                  <a:srgbClr val="C4A35A"/>
                </a:solidFill>
                <a:latin typeface="Arial" pitchFamily="34" charset="0"/>
                <a:ea typeface="Arial" pitchFamily="34" charset="-122"/>
                <a:cs typeface="Arial" pitchFamily="34" charset="-120"/>
              </a:rPr>
              <a:t>$0–20</a:t>
            </a:r>
            <a:endParaRPr lang="en-US" sz="1200" dirty="0"/>
          </a:p>
        </p:txBody>
      </p:sp>
      <p:sp>
        <p:nvSpPr>
          <p:cNvPr id="18" name="Text 16"/>
          <p:cNvSpPr/>
          <p:nvPr/>
        </p:nvSpPr>
        <p:spPr>
          <a:xfrm>
            <a:off x="704088" y="4069080"/>
            <a:ext cx="3236976" cy="365760"/>
          </a:xfrm>
          <a:prstGeom prst="rect">
            <a:avLst/>
          </a:prstGeom>
          <a:noFill/>
          <a:ln/>
        </p:spPr>
        <p:txBody>
          <a:bodyPr wrap="square" lIns="0" tIns="0" rIns="0" bIns="0" rtlCol="0" anchor="ctr"/>
          <a:lstStyle/>
          <a:p>
            <a:pPr indent="0" marL="0">
              <a:buNone/>
            </a:pPr>
            <a:r>
              <a:rPr lang="en-US" sz="2000" dirty="0">
                <a:solidFill>
                  <a:srgbClr val="1B3A2A"/>
                </a:solidFill>
                <a:latin typeface="Georgia" pitchFamily="34" charset="0"/>
                <a:ea typeface="Georgia" pitchFamily="34" charset="-122"/>
                <a:cs typeface="Georgia" pitchFamily="34" charset="-120"/>
              </a:rPr>
              <a:t>Repair corner</a:t>
            </a:r>
            <a:endParaRPr lang="en-US" sz="2000" dirty="0"/>
          </a:p>
        </p:txBody>
      </p:sp>
      <p:sp>
        <p:nvSpPr>
          <p:cNvPr id="19" name="Text 17"/>
          <p:cNvSpPr/>
          <p:nvPr/>
        </p:nvSpPr>
        <p:spPr>
          <a:xfrm>
            <a:off x="704088" y="4544568"/>
            <a:ext cx="3236976" cy="1143000"/>
          </a:xfrm>
          <a:prstGeom prst="rect">
            <a:avLst/>
          </a:prstGeom>
          <a:noFill/>
          <a:ln/>
        </p:spPr>
        <p:txBody>
          <a:bodyPr wrap="square" lIns="0" tIns="0" rIns="0" bIns="0" rtlCol="0" anchor="ctr"/>
          <a:lstStyle/>
          <a:p>
            <a:pPr indent="0" marL="0">
              <a:buNone/>
            </a:pPr>
            <a:r>
              <a:rPr lang="en-US" sz="1400" dirty="0">
                <a:solidFill>
                  <a:srgbClr val="4A554C"/>
                </a:solidFill>
                <a:latin typeface="Arial" pitchFamily="34" charset="0"/>
                <a:ea typeface="Arial" pitchFamily="34" charset="-122"/>
                <a:cs typeface="Arial" pitchFamily="34" charset="-120"/>
              </a:rPr>
              <a:t>Tape, needle, glue. Teach children to mend a book, a folder, a stuffed mascot.</a:t>
            </a:r>
            <a:endParaRPr lang="en-US" sz="1400" dirty="0"/>
          </a:p>
        </p:txBody>
      </p:sp>
      <p:sp>
        <p:nvSpPr>
          <p:cNvPr id="20" name="Shape 18"/>
          <p:cNvSpPr/>
          <p:nvPr/>
        </p:nvSpPr>
        <p:spPr>
          <a:xfrm>
            <a:off x="4297680" y="3630168"/>
            <a:ext cx="3639312" cy="2331720"/>
          </a:xfrm>
          <a:prstGeom prst="roundRect">
            <a:avLst>
              <a:gd name="adj" fmla="val 3137"/>
            </a:avLst>
          </a:prstGeom>
          <a:solidFill>
            <a:srgbClr val="FFFBF3"/>
          </a:solidFill>
          <a:ln/>
        </p:spPr>
        <p:txBody>
          <a:bodyPr/>
          <a:p/>
        </p:txBody>
      </p:sp>
      <p:sp>
        <p:nvSpPr>
          <p:cNvPr id="21" name="Text 19"/>
          <p:cNvSpPr/>
          <p:nvPr/>
        </p:nvSpPr>
        <p:spPr>
          <a:xfrm>
            <a:off x="4498848" y="3794760"/>
            <a:ext cx="3236976" cy="256032"/>
          </a:xfrm>
          <a:prstGeom prst="rect">
            <a:avLst/>
          </a:prstGeom>
          <a:noFill/>
          <a:ln/>
        </p:spPr>
        <p:txBody>
          <a:bodyPr wrap="square" lIns="0" tIns="0" rIns="0" bIns="0" rtlCol="0" anchor="ctr"/>
          <a:lstStyle/>
          <a:p>
            <a:pPr indent="0" marL="0">
              <a:buNone/>
            </a:pPr>
            <a:r>
              <a:rPr lang="en-US" sz="1200" b="1" spc="100" kern="0" dirty="0">
                <a:solidFill>
                  <a:srgbClr val="C4A35A"/>
                </a:solidFill>
                <a:latin typeface="Arial" pitchFamily="34" charset="0"/>
                <a:ea typeface="Arial" pitchFamily="34" charset="-122"/>
                <a:cs typeface="Arial" pitchFamily="34" charset="-120"/>
              </a:rPr>
              <a:t>Shared</a:t>
            </a:r>
            <a:endParaRPr lang="en-US" sz="1200" dirty="0"/>
          </a:p>
        </p:txBody>
      </p:sp>
      <p:sp>
        <p:nvSpPr>
          <p:cNvPr id="22" name="Text 20"/>
          <p:cNvSpPr/>
          <p:nvPr/>
        </p:nvSpPr>
        <p:spPr>
          <a:xfrm>
            <a:off x="4498848" y="4069080"/>
            <a:ext cx="3236976" cy="365760"/>
          </a:xfrm>
          <a:prstGeom prst="rect">
            <a:avLst/>
          </a:prstGeom>
          <a:noFill/>
          <a:ln/>
        </p:spPr>
        <p:txBody>
          <a:bodyPr wrap="square" lIns="0" tIns="0" rIns="0" bIns="0" rtlCol="0" anchor="ctr"/>
          <a:lstStyle/>
          <a:p>
            <a:pPr indent="0" marL="0">
              <a:buNone/>
            </a:pPr>
            <a:r>
              <a:rPr lang="en-US" sz="2000" dirty="0">
                <a:solidFill>
                  <a:srgbClr val="1B3A2A"/>
                </a:solidFill>
                <a:latin typeface="Georgia" pitchFamily="34" charset="0"/>
                <a:ea typeface="Georgia" pitchFamily="34" charset="-122"/>
                <a:cs typeface="Georgia" pitchFamily="34" charset="-120"/>
              </a:rPr>
              <a:t>Campus</a:t>
            </a:r>
            <a:endParaRPr lang="en-US" sz="2000" dirty="0"/>
          </a:p>
        </p:txBody>
      </p:sp>
      <p:sp>
        <p:nvSpPr>
          <p:cNvPr id="23" name="Text 21"/>
          <p:cNvSpPr/>
          <p:nvPr/>
        </p:nvSpPr>
        <p:spPr>
          <a:xfrm>
            <a:off x="4498848" y="4544568"/>
            <a:ext cx="3236976" cy="1143000"/>
          </a:xfrm>
          <a:prstGeom prst="rect">
            <a:avLst/>
          </a:prstGeom>
          <a:noFill/>
          <a:ln/>
        </p:spPr>
        <p:txBody>
          <a:bodyPr wrap="square" lIns="0" tIns="0" rIns="0" bIns="0" rtlCol="0" anchor="ctr"/>
          <a:lstStyle/>
          <a:p>
            <a:pPr indent="0" marL="0">
              <a:buNone/>
            </a:pPr>
            <a:r>
              <a:rPr lang="en-US" sz="1400" dirty="0">
                <a:solidFill>
                  <a:srgbClr val="4A554C"/>
                </a:solidFill>
                <a:latin typeface="Arial" pitchFamily="34" charset="0"/>
                <a:ea typeface="Arial" pitchFamily="34" charset="-122"/>
                <a:cs typeface="Arial" pitchFamily="34" charset="-120"/>
              </a:rPr>
              <a:t>Ask facilities for a neglected planter. Adopt it. That is a year-long lab.</a:t>
            </a:r>
            <a:endParaRPr lang="en-US" sz="1400" dirty="0"/>
          </a:p>
        </p:txBody>
      </p:sp>
      <p:sp>
        <p:nvSpPr>
          <p:cNvPr id="24" name="Shape 22"/>
          <p:cNvSpPr/>
          <p:nvPr/>
        </p:nvSpPr>
        <p:spPr>
          <a:xfrm>
            <a:off x="8092440" y="3630168"/>
            <a:ext cx="3639312" cy="2331720"/>
          </a:xfrm>
          <a:prstGeom prst="roundRect">
            <a:avLst>
              <a:gd name="adj" fmla="val 3137"/>
            </a:avLst>
          </a:prstGeom>
          <a:solidFill>
            <a:srgbClr val="FFFBF3"/>
          </a:solidFill>
          <a:ln/>
        </p:spPr>
        <p:txBody>
          <a:bodyPr/>
          <a:p/>
        </p:txBody>
      </p:sp>
      <p:sp>
        <p:nvSpPr>
          <p:cNvPr id="25" name="Text 23"/>
          <p:cNvSpPr/>
          <p:nvPr/>
        </p:nvSpPr>
        <p:spPr>
          <a:xfrm>
            <a:off x="8293608" y="3794760"/>
            <a:ext cx="3236976" cy="256032"/>
          </a:xfrm>
          <a:prstGeom prst="rect">
            <a:avLst/>
          </a:prstGeom>
          <a:noFill/>
          <a:ln/>
        </p:spPr>
        <p:txBody>
          <a:bodyPr wrap="square" lIns="0" tIns="0" rIns="0" bIns="0" rtlCol="0" anchor="ctr"/>
          <a:lstStyle/>
          <a:p>
            <a:pPr indent="0" marL="0">
              <a:buNone/>
            </a:pPr>
            <a:r>
              <a:rPr lang="en-US" sz="1200" b="1" spc="100" kern="0" dirty="0">
                <a:solidFill>
                  <a:srgbClr val="C4A35A"/>
                </a:solidFill>
                <a:latin typeface="Arial" pitchFamily="34" charset="0"/>
                <a:ea typeface="Arial" pitchFamily="34" charset="-122"/>
                <a:cs typeface="Arial" pitchFamily="34" charset="-120"/>
              </a:rPr>
              <a:t>Free PDFs</a:t>
            </a:r>
            <a:endParaRPr lang="en-US" sz="1200" dirty="0"/>
          </a:p>
        </p:txBody>
      </p:sp>
      <p:sp>
        <p:nvSpPr>
          <p:cNvPr id="26" name="Text 24"/>
          <p:cNvSpPr/>
          <p:nvPr/>
        </p:nvSpPr>
        <p:spPr>
          <a:xfrm>
            <a:off x="8293608" y="4069080"/>
            <a:ext cx="3236976" cy="365760"/>
          </a:xfrm>
          <a:prstGeom prst="rect">
            <a:avLst/>
          </a:prstGeom>
          <a:noFill/>
          <a:ln/>
        </p:spPr>
        <p:txBody>
          <a:bodyPr wrap="square" lIns="0" tIns="0" rIns="0" bIns="0" rtlCol="0" anchor="ctr"/>
          <a:lstStyle/>
          <a:p>
            <a:pPr indent="0" marL="0">
              <a:buNone/>
            </a:pPr>
            <a:r>
              <a:rPr lang="en-US" sz="2000" dirty="0">
                <a:solidFill>
                  <a:srgbClr val="1B3A2A"/>
                </a:solidFill>
                <a:latin typeface="Georgia" pitchFamily="34" charset="0"/>
                <a:ea typeface="Georgia" pitchFamily="34" charset="-122"/>
                <a:cs typeface="Georgia" pitchFamily="34" charset="-120"/>
              </a:rPr>
              <a:t>Curriculum</a:t>
            </a:r>
            <a:endParaRPr lang="en-US" sz="2000" dirty="0"/>
          </a:p>
        </p:txBody>
      </p:sp>
      <p:sp>
        <p:nvSpPr>
          <p:cNvPr id="27" name="Text 25"/>
          <p:cNvSpPr/>
          <p:nvPr/>
        </p:nvSpPr>
        <p:spPr>
          <a:xfrm>
            <a:off x="8293608" y="4544568"/>
            <a:ext cx="3236976" cy="1143000"/>
          </a:xfrm>
          <a:prstGeom prst="rect">
            <a:avLst/>
          </a:prstGeom>
          <a:noFill/>
          <a:ln/>
        </p:spPr>
        <p:txBody>
          <a:bodyPr wrap="square" lIns="0" tIns="0" rIns="0" bIns="0" rtlCol="0" anchor="ctr"/>
          <a:lstStyle/>
          <a:p>
            <a:pPr indent="0" marL="0">
              <a:buNone/>
            </a:pPr>
            <a:r>
              <a:rPr lang="en-US" sz="1400" dirty="0">
                <a:solidFill>
                  <a:srgbClr val="4A554C"/>
                </a:solidFill>
                <a:latin typeface="Arial" pitchFamily="34" charset="0"/>
                <a:ea typeface="Arial" pitchFamily="34" charset="-122"/>
                <a:cs typeface="Arial" pitchFamily="34" charset="-120"/>
              </a:rPr>
              <a:t>Catholic Climate Covenant, Archdiocese of New York PK–6 plans, Caritas CST units.</a:t>
            </a:r>
            <a:endParaRPr lang="en-US" sz="1400" dirty="0"/>
          </a:p>
        </p:txBody>
      </p:sp>
      <p:sp>
        <p:nvSpPr>
          <p:cNvPr id="28" name="Shape 26"/>
          <p:cNvSpPr/>
          <p:nvPr/>
        </p:nvSpPr>
        <p:spPr>
          <a:xfrm>
            <a:off x="502920" y="6510528"/>
            <a:ext cx="11183112" cy="0"/>
          </a:xfrm>
          <a:prstGeom prst="line">
            <a:avLst/>
          </a:prstGeom>
          <a:noFill/>
          <a:ln w="7620">
            <a:solidFill>
              <a:srgbClr val="C9C0A8"/>
            </a:solidFill>
            <a:prstDash val="solid"/>
          </a:ln>
        </p:spPr>
        <p:txBody>
          <a:bodyPr/>
          <a:p/>
        </p:txBody>
      </p:sp>
      <p:sp>
        <p:nvSpPr>
          <p:cNvPr id="29" name="Text 27"/>
          <p:cNvSpPr/>
          <p:nvPr/>
        </p:nvSpPr>
        <p:spPr>
          <a:xfrm>
            <a:off x="502920" y="6547104"/>
            <a:ext cx="8412480" cy="237744"/>
          </a:xfrm>
          <a:prstGeom prst="rect">
            <a:avLst/>
          </a:prstGeom>
          <a:noFill/>
          <a:ln/>
        </p:spPr>
        <p:txBody>
          <a:bodyPr wrap="square" lIns="0" tIns="0" rIns="0" bIns="0" rtlCol="0" anchor="ctr"/>
          <a:lstStyle/>
          <a:p>
            <a:pPr indent="0" marL="0">
              <a:buNone/>
            </a:pPr>
            <a:r>
              <a:rPr lang="en-US" sz="900" spc="120" kern="0" dirty="0">
                <a:solidFill>
                  <a:srgbClr val="6B736C"/>
                </a:solidFill>
                <a:latin typeface="Arial" pitchFamily="34" charset="0"/>
                <a:ea typeface="Arial" pitchFamily="34" charset="-122"/>
                <a:cs typeface="Arial" pitchFamily="34" charset="-120"/>
              </a:rPr>
              <a:t>CREATION CARE IN THE CLASSROOM  ·  K–5 CATHOLIC TEACHERS</a:t>
            </a:r>
            <a:endParaRPr lang="en-US" sz="900" dirty="0"/>
          </a:p>
        </p:txBody>
      </p:sp>
      <p:sp>
        <p:nvSpPr>
          <p:cNvPr id="30" name="Text 28"/>
          <p:cNvSpPr/>
          <p:nvPr/>
        </p:nvSpPr>
        <p:spPr>
          <a:xfrm>
            <a:off x="9509760" y="6547104"/>
            <a:ext cx="2176272" cy="237744"/>
          </a:xfrm>
          <a:prstGeom prst="rect">
            <a:avLst/>
          </a:prstGeom>
          <a:noFill/>
          <a:ln/>
        </p:spPr>
        <p:txBody>
          <a:bodyPr wrap="square" lIns="0" tIns="0" rIns="0" bIns="0" rtlCol="0" anchor="ctr"/>
          <a:lstStyle/>
          <a:p>
            <a:pPr algn="r" indent="0" marL="0">
              <a:buNone/>
            </a:pPr>
            <a:r>
              <a:rPr lang="en-US" sz="900" dirty="0">
                <a:solidFill>
                  <a:srgbClr val="6B736C"/>
                </a:solidFill>
                <a:latin typeface="Arial" pitchFamily="34" charset="0"/>
                <a:ea typeface="Arial" pitchFamily="34" charset="-122"/>
                <a:cs typeface="Arial" pitchFamily="34" charset="-120"/>
              </a:rPr>
              <a:t>19  /  30</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8">
    <p:bg>
      <p:bgPr>
        <a:solidFill>
          <a:srgbClr val="F4EFE2"/>
        </a:solidFill>
      </p:bgPr>
    </p:bg>
    <p:spTree>
      <p:nvGrpSpPr>
        <p:cNvPr id="1" name=""/>
        <p:cNvGrpSpPr/>
        <p:nvPr/>
      </p:nvGrpSpPr>
      <p:grpSpPr>
        <a:xfrm>
          <a:off x="0" y="0"/>
          <a:ext cx="0" cy="0"/>
          <a:chOff x="0" y="0"/>
          <a:chExt cx="0" cy="0"/>
        </a:xfrm>
      </p:grpSpPr>
      <p:sp>
        <p:nvSpPr>
          <p:cNvPr id="2" name="Text 0"/>
          <p:cNvSpPr/>
          <p:nvPr/>
        </p:nvSpPr>
        <p:spPr>
          <a:xfrm>
            <a:off x="502920" y="256032"/>
            <a:ext cx="11155680" cy="219456"/>
          </a:xfrm>
          <a:prstGeom prst="rect">
            <a:avLst/>
          </a:prstGeom>
          <a:noFill/>
          <a:ln/>
        </p:spPr>
        <p:txBody>
          <a:bodyPr wrap="square" lIns="0" tIns="0" rIns="0" bIns="0" rtlCol="0" anchor="ctr"/>
          <a:lstStyle/>
          <a:p>
            <a:pPr indent="0" marL="0">
              <a:buNone/>
            </a:pPr>
            <a:r>
              <a:rPr lang="en-US" sz="1100" b="1" spc="220" kern="0" dirty="0">
                <a:solidFill>
                  <a:srgbClr val="4F7A5C"/>
                </a:solidFill>
                <a:latin typeface="Arial" pitchFamily="34" charset="0"/>
                <a:ea typeface="Arial" pitchFamily="34" charset="-122"/>
                <a:cs typeface="Arial" pitchFamily="34" charset="-120"/>
              </a:rPr>
              <a:t>17  ·  THE DOMESTIC CHURCH</a:t>
            </a:r>
            <a:endParaRPr lang="en-US" sz="1100" dirty="0"/>
          </a:p>
        </p:txBody>
      </p:sp>
      <p:sp>
        <p:nvSpPr>
          <p:cNvPr id="3" name="Text 1"/>
          <p:cNvSpPr/>
          <p:nvPr/>
        </p:nvSpPr>
        <p:spPr>
          <a:xfrm>
            <a:off x="502920" y="475488"/>
            <a:ext cx="11155680" cy="475488"/>
          </a:xfrm>
          <a:prstGeom prst="rect">
            <a:avLst/>
          </a:prstGeom>
          <a:noFill/>
          <a:ln/>
        </p:spPr>
        <p:txBody>
          <a:bodyPr wrap="square" lIns="0" tIns="0" rIns="0" bIns="0" rtlCol="0" anchor="ctr"/>
          <a:lstStyle/>
          <a:p>
            <a:pPr indent="0" marL="0">
              <a:buNone/>
            </a:pPr>
            <a:r>
              <a:rPr lang="en-US" sz="2600" dirty="0">
                <a:solidFill>
                  <a:srgbClr val="1B3A2A"/>
                </a:solidFill>
                <a:latin typeface="Georgia" pitchFamily="34" charset="0"/>
                <a:ea typeface="Georgia" pitchFamily="34" charset="-122"/>
                <a:cs typeface="Georgia" pitchFamily="34" charset="-120"/>
              </a:rPr>
              <a:t>Invite families without adding homework</a:t>
            </a:r>
            <a:endParaRPr lang="en-US" sz="2600" dirty="0"/>
          </a:p>
        </p:txBody>
      </p:sp>
      <p:sp>
        <p:nvSpPr>
          <p:cNvPr id="4" name="Shape 2"/>
          <p:cNvSpPr/>
          <p:nvPr/>
        </p:nvSpPr>
        <p:spPr>
          <a:xfrm>
            <a:off x="502920" y="1115568"/>
            <a:ext cx="3639312" cy="2331720"/>
          </a:xfrm>
          <a:prstGeom prst="roundRect">
            <a:avLst>
              <a:gd name="adj" fmla="val 3137"/>
            </a:avLst>
          </a:prstGeom>
          <a:solidFill>
            <a:srgbClr val="FFFBF3"/>
          </a:solidFill>
          <a:ln/>
        </p:spPr>
        <p:txBody>
          <a:bodyPr/>
          <a:p/>
        </p:txBody>
      </p:sp>
      <p:sp>
        <p:nvSpPr>
          <p:cNvPr id="5" name="Text 3"/>
          <p:cNvSpPr/>
          <p:nvPr/>
        </p:nvSpPr>
        <p:spPr>
          <a:xfrm>
            <a:off x="704088" y="1316736"/>
            <a:ext cx="3236976" cy="640080"/>
          </a:xfrm>
          <a:prstGeom prst="rect">
            <a:avLst/>
          </a:prstGeom>
          <a:noFill/>
          <a:ln/>
        </p:spPr>
        <p:txBody>
          <a:bodyPr wrap="square" lIns="0" tIns="0" rIns="0" bIns="0" rtlCol="0" anchor="ctr"/>
          <a:lstStyle/>
          <a:p>
            <a:pPr indent="0" marL="0">
              <a:buNone/>
            </a:pPr>
            <a:r>
              <a:rPr lang="en-US" sz="1600" dirty="0">
                <a:solidFill>
                  <a:srgbClr val="1B3A2A"/>
                </a:solidFill>
                <a:latin typeface="Georgia" pitchFamily="34" charset="0"/>
                <a:ea typeface="Georgia" pitchFamily="34" charset="-122"/>
                <a:cs typeface="Georgia" pitchFamily="34" charset="-120"/>
              </a:rPr>
              <a:t>Send the why, not a lecture</a:t>
            </a:r>
            <a:endParaRPr lang="en-US" sz="1600" dirty="0"/>
          </a:p>
        </p:txBody>
      </p:sp>
      <p:sp>
        <p:nvSpPr>
          <p:cNvPr id="6" name="Text 4"/>
          <p:cNvSpPr/>
          <p:nvPr/>
        </p:nvSpPr>
        <p:spPr>
          <a:xfrm>
            <a:off x="704088" y="2029968"/>
            <a:ext cx="3236976" cy="1188720"/>
          </a:xfrm>
          <a:prstGeom prst="rect">
            <a:avLst/>
          </a:prstGeom>
          <a:noFill/>
          <a:ln/>
        </p:spPr>
        <p:txBody>
          <a:bodyPr wrap="square" lIns="0" tIns="0" rIns="0" bIns="0" rtlCol="0" anchor="ctr"/>
          <a:lstStyle/>
          <a:p>
            <a:pPr indent="0" marL="0">
              <a:buNone/>
            </a:pPr>
            <a:r>
              <a:rPr lang="en-US" sz="1400" dirty="0">
                <a:solidFill>
                  <a:srgbClr val="4A554C"/>
                </a:solidFill>
                <a:latin typeface="Arial" pitchFamily="34" charset="0"/>
                <a:ea typeface="Arial" pitchFamily="34" charset="-122"/>
                <a:cs typeface="Arial" pitchFamily="34" charset="-120"/>
              </a:rPr>
              <a:t>A four-sentence newsletter note: Francis, the Jubilee Year, one class habit, one optional home idea.</a:t>
            </a:r>
            <a:endParaRPr lang="en-US" sz="1400" dirty="0"/>
          </a:p>
        </p:txBody>
      </p:sp>
      <p:sp>
        <p:nvSpPr>
          <p:cNvPr id="7" name="Shape 5"/>
          <p:cNvSpPr/>
          <p:nvPr/>
        </p:nvSpPr>
        <p:spPr>
          <a:xfrm>
            <a:off x="4297680" y="1115568"/>
            <a:ext cx="3639312" cy="2331720"/>
          </a:xfrm>
          <a:prstGeom prst="roundRect">
            <a:avLst>
              <a:gd name="adj" fmla="val 3137"/>
            </a:avLst>
          </a:prstGeom>
          <a:solidFill>
            <a:srgbClr val="FFFBF3"/>
          </a:solidFill>
          <a:ln/>
        </p:spPr>
        <p:txBody>
          <a:bodyPr/>
          <a:p/>
        </p:txBody>
      </p:sp>
      <p:sp>
        <p:nvSpPr>
          <p:cNvPr id="8" name="Text 6"/>
          <p:cNvSpPr/>
          <p:nvPr/>
        </p:nvSpPr>
        <p:spPr>
          <a:xfrm>
            <a:off x="4498848" y="1316736"/>
            <a:ext cx="3236976" cy="640080"/>
          </a:xfrm>
          <a:prstGeom prst="rect">
            <a:avLst/>
          </a:prstGeom>
          <a:noFill/>
          <a:ln/>
        </p:spPr>
        <p:txBody>
          <a:bodyPr wrap="square" lIns="0" tIns="0" rIns="0" bIns="0" rtlCol="0" anchor="ctr"/>
          <a:lstStyle/>
          <a:p>
            <a:pPr indent="0" marL="0">
              <a:buNone/>
            </a:pPr>
            <a:r>
              <a:rPr lang="en-US" sz="1600" dirty="0">
                <a:solidFill>
                  <a:srgbClr val="1B3A2A"/>
                </a:solidFill>
                <a:latin typeface="Georgia" pitchFamily="34" charset="0"/>
                <a:ea typeface="Georgia" pitchFamily="34" charset="-122"/>
                <a:cs typeface="Georgia" pitchFamily="34" charset="-120"/>
              </a:rPr>
              <a:t>A take-home noticing card</a:t>
            </a:r>
            <a:endParaRPr lang="en-US" sz="1600" dirty="0"/>
          </a:p>
        </p:txBody>
      </p:sp>
      <p:sp>
        <p:nvSpPr>
          <p:cNvPr id="9" name="Text 7"/>
          <p:cNvSpPr/>
          <p:nvPr/>
        </p:nvSpPr>
        <p:spPr>
          <a:xfrm>
            <a:off x="4498848" y="2029968"/>
            <a:ext cx="3236976" cy="1188720"/>
          </a:xfrm>
          <a:prstGeom prst="rect">
            <a:avLst/>
          </a:prstGeom>
          <a:noFill/>
          <a:ln/>
        </p:spPr>
        <p:txBody>
          <a:bodyPr wrap="square" lIns="0" tIns="0" rIns="0" bIns="0" rtlCol="0" anchor="ctr"/>
          <a:lstStyle/>
          <a:p>
            <a:pPr indent="0" marL="0">
              <a:buNone/>
            </a:pPr>
            <a:r>
              <a:rPr lang="en-US" sz="1400" dirty="0">
                <a:solidFill>
                  <a:srgbClr val="4A554C"/>
                </a:solidFill>
                <a:latin typeface="Arial" pitchFamily="34" charset="0"/>
                <a:ea typeface="Arial" pitchFamily="34" charset="-122"/>
                <a:cs typeface="Arial" pitchFamily="34" charset="-120"/>
              </a:rPr>
              <a:t>“This week look for Sister Water.” Photo optional. Share at morning meeting.</a:t>
            </a:r>
            <a:endParaRPr lang="en-US" sz="1400" dirty="0"/>
          </a:p>
        </p:txBody>
      </p:sp>
      <p:sp>
        <p:nvSpPr>
          <p:cNvPr id="10" name="Shape 8"/>
          <p:cNvSpPr/>
          <p:nvPr/>
        </p:nvSpPr>
        <p:spPr>
          <a:xfrm>
            <a:off x="8092440" y="1115568"/>
            <a:ext cx="3639312" cy="2331720"/>
          </a:xfrm>
          <a:prstGeom prst="roundRect">
            <a:avLst>
              <a:gd name="adj" fmla="val 3137"/>
            </a:avLst>
          </a:prstGeom>
          <a:solidFill>
            <a:srgbClr val="FFFBF3"/>
          </a:solidFill>
          <a:ln/>
        </p:spPr>
        <p:txBody>
          <a:bodyPr/>
          <a:p/>
        </p:txBody>
      </p:sp>
      <p:sp>
        <p:nvSpPr>
          <p:cNvPr id="11" name="Text 9"/>
          <p:cNvSpPr/>
          <p:nvPr/>
        </p:nvSpPr>
        <p:spPr>
          <a:xfrm>
            <a:off x="8293608" y="1316736"/>
            <a:ext cx="3236976" cy="640080"/>
          </a:xfrm>
          <a:prstGeom prst="rect">
            <a:avLst/>
          </a:prstGeom>
          <a:noFill/>
          <a:ln/>
        </p:spPr>
        <p:txBody>
          <a:bodyPr wrap="square" lIns="0" tIns="0" rIns="0" bIns="0" rtlCol="0" anchor="ctr"/>
          <a:lstStyle/>
          <a:p>
            <a:pPr indent="0" marL="0">
              <a:buNone/>
            </a:pPr>
            <a:r>
              <a:rPr lang="en-US" sz="1600" dirty="0">
                <a:solidFill>
                  <a:srgbClr val="1B3A2A"/>
                </a:solidFill>
                <a:latin typeface="Georgia" pitchFamily="34" charset="0"/>
                <a:ea typeface="Georgia" pitchFamily="34" charset="-122"/>
                <a:cs typeface="Georgia" pitchFamily="34" charset="-120"/>
              </a:rPr>
              <a:t>Blessing of animals</a:t>
            </a:r>
            <a:endParaRPr lang="en-US" sz="1600" dirty="0"/>
          </a:p>
        </p:txBody>
      </p:sp>
      <p:sp>
        <p:nvSpPr>
          <p:cNvPr id="12" name="Text 10"/>
          <p:cNvSpPr/>
          <p:nvPr/>
        </p:nvSpPr>
        <p:spPr>
          <a:xfrm>
            <a:off x="8293608" y="2029968"/>
            <a:ext cx="3236976" cy="1188720"/>
          </a:xfrm>
          <a:prstGeom prst="rect">
            <a:avLst/>
          </a:prstGeom>
          <a:noFill/>
          <a:ln/>
        </p:spPr>
        <p:txBody>
          <a:bodyPr wrap="square" lIns="0" tIns="0" rIns="0" bIns="0" rtlCol="0" anchor="ctr"/>
          <a:lstStyle/>
          <a:p>
            <a:pPr indent="0" marL="0">
              <a:buNone/>
            </a:pPr>
            <a:r>
              <a:rPr lang="en-US" sz="1400" dirty="0">
                <a:solidFill>
                  <a:srgbClr val="4A554C"/>
                </a:solidFill>
                <a:latin typeface="Arial" pitchFamily="34" charset="0"/>
                <a:ea typeface="Arial" pitchFamily="34" charset="-122"/>
                <a:cs typeface="Arial" pitchFamily="34" charset="-120"/>
              </a:rPr>
              <a:t>Invite families on or near Oct 4. Keep it short, joyful, and clearly a prayer, not a pet show.</a:t>
            </a:r>
            <a:endParaRPr lang="en-US" sz="1400" dirty="0"/>
          </a:p>
        </p:txBody>
      </p:sp>
      <p:sp>
        <p:nvSpPr>
          <p:cNvPr id="13" name="Shape 11"/>
          <p:cNvSpPr/>
          <p:nvPr/>
        </p:nvSpPr>
        <p:spPr>
          <a:xfrm>
            <a:off x="502920" y="3630168"/>
            <a:ext cx="3639312" cy="2331720"/>
          </a:xfrm>
          <a:prstGeom prst="roundRect">
            <a:avLst>
              <a:gd name="adj" fmla="val 3137"/>
            </a:avLst>
          </a:prstGeom>
          <a:solidFill>
            <a:srgbClr val="FFFBF3"/>
          </a:solidFill>
          <a:ln/>
        </p:spPr>
        <p:txBody>
          <a:bodyPr/>
          <a:p/>
        </p:txBody>
      </p:sp>
      <p:sp>
        <p:nvSpPr>
          <p:cNvPr id="14" name="Text 12"/>
          <p:cNvSpPr/>
          <p:nvPr/>
        </p:nvSpPr>
        <p:spPr>
          <a:xfrm>
            <a:off x="704088" y="3831336"/>
            <a:ext cx="3236976" cy="640080"/>
          </a:xfrm>
          <a:prstGeom prst="rect">
            <a:avLst/>
          </a:prstGeom>
          <a:noFill/>
          <a:ln/>
        </p:spPr>
        <p:txBody>
          <a:bodyPr wrap="square" lIns="0" tIns="0" rIns="0" bIns="0" rtlCol="0" anchor="ctr"/>
          <a:lstStyle/>
          <a:p>
            <a:pPr indent="0" marL="0">
              <a:buNone/>
            </a:pPr>
            <a:r>
              <a:rPr lang="en-US" sz="1600" dirty="0">
                <a:solidFill>
                  <a:srgbClr val="1B3A2A"/>
                </a:solidFill>
                <a:latin typeface="Georgia" pitchFamily="34" charset="0"/>
                <a:ea typeface="Georgia" pitchFamily="34" charset="-122"/>
                <a:cs typeface="Georgia" pitchFamily="34" charset="-120"/>
              </a:rPr>
              <a:t>One family service</a:t>
            </a:r>
            <a:endParaRPr lang="en-US" sz="1600" dirty="0"/>
          </a:p>
        </p:txBody>
      </p:sp>
      <p:sp>
        <p:nvSpPr>
          <p:cNvPr id="15" name="Text 13"/>
          <p:cNvSpPr/>
          <p:nvPr/>
        </p:nvSpPr>
        <p:spPr>
          <a:xfrm>
            <a:off x="704088" y="4544568"/>
            <a:ext cx="3236976" cy="1188720"/>
          </a:xfrm>
          <a:prstGeom prst="rect">
            <a:avLst/>
          </a:prstGeom>
          <a:noFill/>
          <a:ln/>
        </p:spPr>
        <p:txBody>
          <a:bodyPr wrap="square" lIns="0" tIns="0" rIns="0" bIns="0" rtlCol="0" anchor="ctr"/>
          <a:lstStyle/>
          <a:p>
            <a:pPr indent="0" marL="0">
              <a:buNone/>
            </a:pPr>
            <a:r>
              <a:rPr lang="en-US" sz="1400" dirty="0">
                <a:solidFill>
                  <a:srgbClr val="4A554C"/>
                </a:solidFill>
                <a:latin typeface="Arial" pitchFamily="34" charset="0"/>
                <a:ea typeface="Arial" pitchFamily="34" charset="-122"/>
                <a:cs typeface="Arial" pitchFamily="34" charset="-120"/>
              </a:rPr>
              <a:t>A Saturday campus or parish clean-up. Children lead a two-minute prayer first.</a:t>
            </a:r>
            <a:endParaRPr lang="en-US" sz="1400" dirty="0"/>
          </a:p>
        </p:txBody>
      </p:sp>
      <p:sp>
        <p:nvSpPr>
          <p:cNvPr id="16" name="Shape 14"/>
          <p:cNvSpPr/>
          <p:nvPr/>
        </p:nvSpPr>
        <p:spPr>
          <a:xfrm>
            <a:off x="4297680" y="3630168"/>
            <a:ext cx="3639312" cy="2331720"/>
          </a:xfrm>
          <a:prstGeom prst="roundRect">
            <a:avLst>
              <a:gd name="adj" fmla="val 3137"/>
            </a:avLst>
          </a:prstGeom>
          <a:solidFill>
            <a:srgbClr val="FFFBF3"/>
          </a:solidFill>
          <a:ln/>
        </p:spPr>
        <p:txBody>
          <a:bodyPr/>
          <a:p/>
        </p:txBody>
      </p:sp>
      <p:sp>
        <p:nvSpPr>
          <p:cNvPr id="17" name="Text 15"/>
          <p:cNvSpPr/>
          <p:nvPr/>
        </p:nvSpPr>
        <p:spPr>
          <a:xfrm>
            <a:off x="4498848" y="3831336"/>
            <a:ext cx="3236976" cy="640080"/>
          </a:xfrm>
          <a:prstGeom prst="rect">
            <a:avLst/>
          </a:prstGeom>
          <a:noFill/>
          <a:ln/>
        </p:spPr>
        <p:txBody>
          <a:bodyPr wrap="square" lIns="0" tIns="0" rIns="0" bIns="0" rtlCol="0" anchor="ctr"/>
          <a:lstStyle/>
          <a:p>
            <a:pPr indent="0" marL="0">
              <a:buNone/>
            </a:pPr>
            <a:r>
              <a:rPr lang="en-US" sz="1600" dirty="0">
                <a:solidFill>
                  <a:srgbClr val="1B3A2A"/>
                </a:solidFill>
                <a:latin typeface="Georgia" pitchFamily="34" charset="0"/>
                <a:ea typeface="Georgia" pitchFamily="34" charset="-122"/>
                <a:cs typeface="Georgia" pitchFamily="34" charset="-120"/>
              </a:rPr>
              <a:t>Grandparents as memory</a:t>
            </a:r>
            <a:endParaRPr lang="en-US" sz="1600" dirty="0"/>
          </a:p>
        </p:txBody>
      </p:sp>
      <p:sp>
        <p:nvSpPr>
          <p:cNvPr id="18" name="Text 16"/>
          <p:cNvSpPr/>
          <p:nvPr/>
        </p:nvSpPr>
        <p:spPr>
          <a:xfrm>
            <a:off x="4498848" y="4544568"/>
            <a:ext cx="3236976" cy="1188720"/>
          </a:xfrm>
          <a:prstGeom prst="rect">
            <a:avLst/>
          </a:prstGeom>
          <a:noFill/>
          <a:ln/>
        </p:spPr>
        <p:txBody>
          <a:bodyPr wrap="square" lIns="0" tIns="0" rIns="0" bIns="0" rtlCol="0" anchor="ctr"/>
          <a:lstStyle/>
          <a:p>
            <a:pPr indent="0" marL="0">
              <a:buNone/>
            </a:pPr>
            <a:r>
              <a:rPr lang="en-US" sz="1400" dirty="0">
                <a:solidFill>
                  <a:srgbClr val="4A554C"/>
                </a:solidFill>
                <a:latin typeface="Arial" pitchFamily="34" charset="0"/>
                <a:ea typeface="Arial" pitchFamily="34" charset="-122"/>
                <a:cs typeface="Arial" pitchFamily="34" charset="-120"/>
              </a:rPr>
              <a:t>Ask how gardens, mending, and wasting less used to work. Wisdom before apps.</a:t>
            </a:r>
            <a:endParaRPr lang="en-US" sz="1400" dirty="0"/>
          </a:p>
        </p:txBody>
      </p:sp>
      <p:sp>
        <p:nvSpPr>
          <p:cNvPr id="19" name="Shape 17"/>
          <p:cNvSpPr/>
          <p:nvPr/>
        </p:nvSpPr>
        <p:spPr>
          <a:xfrm>
            <a:off x="8092440" y="3630168"/>
            <a:ext cx="3639312" cy="2331720"/>
          </a:xfrm>
          <a:prstGeom prst="roundRect">
            <a:avLst>
              <a:gd name="adj" fmla="val 3137"/>
            </a:avLst>
          </a:prstGeom>
          <a:solidFill>
            <a:srgbClr val="FFFBF3"/>
          </a:solidFill>
          <a:ln/>
        </p:spPr>
        <p:txBody>
          <a:bodyPr/>
          <a:p/>
        </p:txBody>
      </p:sp>
      <p:sp>
        <p:nvSpPr>
          <p:cNvPr id="20" name="Text 18"/>
          <p:cNvSpPr/>
          <p:nvPr/>
        </p:nvSpPr>
        <p:spPr>
          <a:xfrm>
            <a:off x="8293608" y="3831336"/>
            <a:ext cx="3236976" cy="640080"/>
          </a:xfrm>
          <a:prstGeom prst="rect">
            <a:avLst/>
          </a:prstGeom>
          <a:noFill/>
          <a:ln/>
        </p:spPr>
        <p:txBody>
          <a:bodyPr wrap="square" lIns="0" tIns="0" rIns="0" bIns="0" rtlCol="0" anchor="ctr"/>
          <a:lstStyle/>
          <a:p>
            <a:pPr indent="0" marL="0">
              <a:buNone/>
            </a:pPr>
            <a:r>
              <a:rPr lang="en-US" sz="1600" dirty="0">
                <a:solidFill>
                  <a:srgbClr val="1B3A2A"/>
                </a:solidFill>
                <a:latin typeface="Georgia" pitchFamily="34" charset="0"/>
                <a:ea typeface="Georgia" pitchFamily="34" charset="-122"/>
                <a:cs typeface="Georgia" pitchFamily="34" charset="-120"/>
              </a:rPr>
              <a:t>Respect the home</a:t>
            </a:r>
            <a:endParaRPr lang="en-US" sz="1600" dirty="0"/>
          </a:p>
        </p:txBody>
      </p:sp>
      <p:sp>
        <p:nvSpPr>
          <p:cNvPr id="21" name="Text 19"/>
          <p:cNvSpPr/>
          <p:nvPr/>
        </p:nvSpPr>
        <p:spPr>
          <a:xfrm>
            <a:off x="8293608" y="4544568"/>
            <a:ext cx="3236976" cy="1188720"/>
          </a:xfrm>
          <a:prstGeom prst="rect">
            <a:avLst/>
          </a:prstGeom>
          <a:noFill/>
          <a:ln/>
        </p:spPr>
        <p:txBody>
          <a:bodyPr wrap="square" lIns="0" tIns="0" rIns="0" bIns="0" rtlCol="0" anchor="ctr"/>
          <a:lstStyle/>
          <a:p>
            <a:pPr indent="0" marL="0">
              <a:buNone/>
            </a:pPr>
            <a:r>
              <a:rPr lang="en-US" sz="1400" dirty="0">
                <a:solidFill>
                  <a:srgbClr val="4A554C"/>
                </a:solidFill>
                <a:latin typeface="Arial" pitchFamily="34" charset="0"/>
                <a:ea typeface="Arial" pitchFamily="34" charset="-122"/>
                <a:cs typeface="Arial" pitchFamily="34" charset="-120"/>
              </a:rPr>
              <a:t>Never shame a family’s car, lunch, or lawn. Model. Invite. Leave room for different capacities.</a:t>
            </a:r>
            <a:endParaRPr lang="en-US" sz="1400" dirty="0"/>
          </a:p>
        </p:txBody>
      </p:sp>
      <p:sp>
        <p:nvSpPr>
          <p:cNvPr id="22" name="Shape 20"/>
          <p:cNvSpPr/>
          <p:nvPr/>
        </p:nvSpPr>
        <p:spPr>
          <a:xfrm>
            <a:off x="502920" y="6510528"/>
            <a:ext cx="11183112" cy="0"/>
          </a:xfrm>
          <a:prstGeom prst="line">
            <a:avLst/>
          </a:prstGeom>
          <a:noFill/>
          <a:ln w="7620">
            <a:solidFill>
              <a:srgbClr val="C9C0A8"/>
            </a:solidFill>
            <a:prstDash val="solid"/>
          </a:ln>
        </p:spPr>
        <p:txBody>
          <a:bodyPr/>
          <a:p/>
        </p:txBody>
      </p:sp>
      <p:sp>
        <p:nvSpPr>
          <p:cNvPr id="23" name="Text 21"/>
          <p:cNvSpPr/>
          <p:nvPr/>
        </p:nvSpPr>
        <p:spPr>
          <a:xfrm>
            <a:off x="502920" y="6547104"/>
            <a:ext cx="8412480" cy="237744"/>
          </a:xfrm>
          <a:prstGeom prst="rect">
            <a:avLst/>
          </a:prstGeom>
          <a:noFill/>
          <a:ln/>
        </p:spPr>
        <p:txBody>
          <a:bodyPr wrap="square" lIns="0" tIns="0" rIns="0" bIns="0" rtlCol="0" anchor="ctr"/>
          <a:lstStyle/>
          <a:p>
            <a:pPr indent="0" marL="0">
              <a:buNone/>
            </a:pPr>
            <a:r>
              <a:rPr lang="en-US" sz="900" spc="120" kern="0" dirty="0">
                <a:solidFill>
                  <a:srgbClr val="6B736C"/>
                </a:solidFill>
                <a:latin typeface="Arial" pitchFamily="34" charset="0"/>
                <a:ea typeface="Arial" pitchFamily="34" charset="-122"/>
                <a:cs typeface="Arial" pitchFamily="34" charset="-120"/>
              </a:rPr>
              <a:t>CREATION CARE IN THE CLASSROOM  ·  K–5 CATHOLIC TEACHERS</a:t>
            </a:r>
            <a:endParaRPr lang="en-US" sz="900" dirty="0"/>
          </a:p>
        </p:txBody>
      </p:sp>
      <p:sp>
        <p:nvSpPr>
          <p:cNvPr id="24" name="Text 22"/>
          <p:cNvSpPr/>
          <p:nvPr/>
        </p:nvSpPr>
        <p:spPr>
          <a:xfrm>
            <a:off x="9509760" y="6547104"/>
            <a:ext cx="2176272" cy="237744"/>
          </a:xfrm>
          <a:prstGeom prst="rect">
            <a:avLst/>
          </a:prstGeom>
          <a:noFill/>
          <a:ln/>
        </p:spPr>
        <p:txBody>
          <a:bodyPr wrap="square" lIns="0" tIns="0" rIns="0" bIns="0" rtlCol="0" anchor="ctr"/>
          <a:lstStyle/>
          <a:p>
            <a:pPr algn="r" indent="0" marL="0">
              <a:buNone/>
            </a:pPr>
            <a:r>
              <a:rPr lang="en-US" sz="900" dirty="0">
                <a:solidFill>
                  <a:srgbClr val="6B736C"/>
                </a:solidFill>
                <a:latin typeface="Arial" pitchFamily="34" charset="0"/>
                <a:ea typeface="Arial" pitchFamily="34" charset="-122"/>
                <a:cs typeface="Arial" pitchFamily="34" charset="-120"/>
              </a:rPr>
              <a:t>20  /  30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9">
    <p:bg>
      <p:bgPr>
        <a:solidFill>
          <a:srgbClr val="F4EFE2"/>
        </a:solidFill>
      </p:bgPr>
    </p:bg>
    <p:spTree>
      <p:nvGrpSpPr>
        <p:cNvPr id="1" name=""/>
        <p:cNvGrpSpPr/>
        <p:nvPr/>
      </p:nvGrpSpPr>
      <p:grpSpPr>
        <a:xfrm>
          <a:off x="0" y="0"/>
          <a:ext cx="0" cy="0"/>
          <a:chOff x="0" y="0"/>
          <a:chExt cx="0" cy="0"/>
        </a:xfrm>
      </p:grpSpPr>
      <p:sp>
        <p:nvSpPr>
          <p:cNvPr id="2" name="Text 0"/>
          <p:cNvSpPr/>
          <p:nvPr/>
        </p:nvSpPr>
        <p:spPr>
          <a:xfrm>
            <a:off x="502920" y="256032"/>
            <a:ext cx="11155680" cy="219456"/>
          </a:xfrm>
          <a:prstGeom prst="rect">
            <a:avLst/>
          </a:prstGeom>
          <a:noFill/>
          <a:ln/>
        </p:spPr>
        <p:txBody>
          <a:bodyPr wrap="square" lIns="0" tIns="0" rIns="0" bIns="0" rtlCol="0" anchor="ctr"/>
          <a:lstStyle/>
          <a:p>
            <a:pPr indent="0" marL="0">
              <a:buNone/>
            </a:pPr>
            <a:r>
              <a:rPr lang="en-US" sz="1100" b="1" spc="220" kern="0" dirty="0">
                <a:solidFill>
                  <a:srgbClr val="4F7A5C"/>
                </a:solidFill>
                <a:latin typeface="Arial" pitchFamily="34" charset="0"/>
                <a:ea typeface="Arial" pitchFamily="34" charset="-122"/>
                <a:cs typeface="Arial" pitchFamily="34" charset="-120"/>
              </a:rPr>
              <a:t>18  ·  TEACH WITH PRUDENCE</a:t>
            </a:r>
            <a:endParaRPr lang="en-US" sz="1100" dirty="0"/>
          </a:p>
        </p:txBody>
      </p:sp>
      <p:sp>
        <p:nvSpPr>
          <p:cNvPr id="3" name="Text 1"/>
          <p:cNvSpPr/>
          <p:nvPr/>
        </p:nvSpPr>
        <p:spPr>
          <a:xfrm>
            <a:off x="502920" y="475488"/>
            <a:ext cx="11155680" cy="475488"/>
          </a:xfrm>
          <a:prstGeom prst="rect">
            <a:avLst/>
          </a:prstGeom>
          <a:noFill/>
          <a:ln/>
        </p:spPr>
        <p:txBody>
          <a:bodyPr wrap="square" lIns="0" tIns="0" rIns="0" bIns="0" rtlCol="0" anchor="ctr"/>
          <a:lstStyle/>
          <a:p>
            <a:pPr indent="0" marL="0">
              <a:buNone/>
            </a:pPr>
            <a:r>
              <a:rPr lang="en-US" sz="2600" dirty="0">
                <a:solidFill>
                  <a:srgbClr val="1B3A2A"/>
                </a:solidFill>
                <a:latin typeface="Georgia" pitchFamily="34" charset="0"/>
                <a:ea typeface="Georgia" pitchFamily="34" charset="-122"/>
                <a:cs typeface="Georgia" pitchFamily="34" charset="-120"/>
              </a:rPr>
              <a:t>Guardrails for Catholic teachers</a:t>
            </a:r>
            <a:endParaRPr lang="en-US" sz="2600" dirty="0"/>
          </a:p>
        </p:txBody>
      </p:sp>
      <p:sp>
        <p:nvSpPr>
          <p:cNvPr id="4" name="Shape 2"/>
          <p:cNvSpPr/>
          <p:nvPr/>
        </p:nvSpPr>
        <p:spPr>
          <a:xfrm>
            <a:off x="502920" y="1097280"/>
            <a:ext cx="5623560" cy="1517904"/>
          </a:xfrm>
          <a:prstGeom prst="roundRect">
            <a:avLst>
              <a:gd name="adj" fmla="val 3614"/>
            </a:avLst>
          </a:prstGeom>
          <a:solidFill>
            <a:srgbClr val="FFFBF3"/>
          </a:solidFill>
          <a:ln/>
        </p:spPr>
        <p:txBody>
          <a:bodyPr/>
          <a:p/>
        </p:txBody>
      </p:sp>
      <p:sp>
        <p:nvSpPr>
          <p:cNvPr id="5" name="Text 3"/>
          <p:cNvSpPr/>
          <p:nvPr/>
        </p:nvSpPr>
        <p:spPr>
          <a:xfrm>
            <a:off x="731520" y="1243584"/>
            <a:ext cx="5212080" cy="347472"/>
          </a:xfrm>
          <a:prstGeom prst="rect">
            <a:avLst/>
          </a:prstGeom>
          <a:noFill/>
          <a:ln/>
        </p:spPr>
        <p:txBody>
          <a:bodyPr wrap="square" lIns="0" tIns="0" rIns="0" bIns="0" rtlCol="0" anchor="ctr"/>
          <a:lstStyle/>
          <a:p>
            <a:pPr indent="0" marL="0">
              <a:buNone/>
            </a:pPr>
            <a:r>
              <a:rPr lang="en-US" sz="1500" b="1" dirty="0">
                <a:solidFill>
                  <a:srgbClr val="1B3A2A"/>
                </a:solidFill>
                <a:latin typeface="Arial" pitchFamily="34" charset="0"/>
                <a:ea typeface="Arial" pitchFamily="34" charset="-122"/>
                <a:cs typeface="Arial" pitchFamily="34" charset="-120"/>
              </a:rPr>
              <a:t>Do not baptize a political program</a:t>
            </a:r>
            <a:endParaRPr lang="en-US" sz="1500" dirty="0"/>
          </a:p>
        </p:txBody>
      </p:sp>
      <p:sp>
        <p:nvSpPr>
          <p:cNvPr id="6" name="Text 4"/>
          <p:cNvSpPr/>
          <p:nvPr/>
        </p:nvSpPr>
        <p:spPr>
          <a:xfrm>
            <a:off x="731520" y="1609344"/>
            <a:ext cx="5212080" cy="841248"/>
          </a:xfrm>
          <a:prstGeom prst="rect">
            <a:avLst/>
          </a:prstGeom>
          <a:noFill/>
          <a:ln/>
        </p:spPr>
        <p:txBody>
          <a:bodyPr wrap="square" lIns="0" tIns="0" rIns="0" bIns="0" rtlCol="0" anchor="ctr"/>
          <a:lstStyle/>
          <a:p>
            <a:pPr indent="0" marL="0">
              <a:buNone/>
            </a:pPr>
            <a:r>
              <a:rPr lang="en-US" sz="1400" dirty="0">
                <a:solidFill>
                  <a:srgbClr val="4A554C"/>
                </a:solidFill>
                <a:latin typeface="Arial" pitchFamily="34" charset="0"/>
                <a:ea typeface="Arial" pitchFamily="34" charset="-122"/>
                <a:cs typeface="Arial" pitchFamily="34" charset="-120"/>
              </a:rPr>
              <a:t>We teach stewardship, the common good, and the poor. We do not conscript children into adult culture wars.</a:t>
            </a:r>
            <a:endParaRPr lang="en-US" sz="1400" dirty="0"/>
          </a:p>
        </p:txBody>
      </p:sp>
      <p:sp>
        <p:nvSpPr>
          <p:cNvPr id="7" name="Shape 5"/>
          <p:cNvSpPr/>
          <p:nvPr/>
        </p:nvSpPr>
        <p:spPr>
          <a:xfrm>
            <a:off x="6309360" y="1097280"/>
            <a:ext cx="5623560" cy="1517904"/>
          </a:xfrm>
          <a:prstGeom prst="roundRect">
            <a:avLst>
              <a:gd name="adj" fmla="val 3614"/>
            </a:avLst>
          </a:prstGeom>
          <a:solidFill>
            <a:srgbClr val="FFFBF3"/>
          </a:solidFill>
          <a:ln/>
        </p:spPr>
        <p:txBody>
          <a:bodyPr/>
          <a:p/>
        </p:txBody>
      </p:sp>
      <p:sp>
        <p:nvSpPr>
          <p:cNvPr id="8" name="Text 6"/>
          <p:cNvSpPr/>
          <p:nvPr/>
        </p:nvSpPr>
        <p:spPr>
          <a:xfrm>
            <a:off x="6537960" y="1243584"/>
            <a:ext cx="5212080" cy="347472"/>
          </a:xfrm>
          <a:prstGeom prst="rect">
            <a:avLst/>
          </a:prstGeom>
          <a:noFill/>
          <a:ln/>
        </p:spPr>
        <p:txBody>
          <a:bodyPr wrap="square" lIns="0" tIns="0" rIns="0" bIns="0" rtlCol="0" anchor="ctr"/>
          <a:lstStyle/>
          <a:p>
            <a:pPr indent="0" marL="0">
              <a:buNone/>
            </a:pPr>
            <a:r>
              <a:rPr lang="en-US" sz="1500" b="1" dirty="0">
                <a:solidFill>
                  <a:srgbClr val="1B3A2A"/>
                </a:solidFill>
                <a:latin typeface="Arial" pitchFamily="34" charset="0"/>
                <a:ea typeface="Arial" pitchFamily="34" charset="-122"/>
                <a:cs typeface="Arial" pitchFamily="34" charset="-120"/>
              </a:rPr>
              <a:t>Protect children from despair</a:t>
            </a:r>
            <a:endParaRPr lang="en-US" sz="1500" dirty="0"/>
          </a:p>
        </p:txBody>
      </p:sp>
      <p:sp>
        <p:nvSpPr>
          <p:cNvPr id="9" name="Text 7"/>
          <p:cNvSpPr/>
          <p:nvPr/>
        </p:nvSpPr>
        <p:spPr>
          <a:xfrm>
            <a:off x="6537960" y="1609344"/>
            <a:ext cx="5212080" cy="841248"/>
          </a:xfrm>
          <a:prstGeom prst="rect">
            <a:avLst/>
          </a:prstGeom>
          <a:noFill/>
          <a:ln/>
        </p:spPr>
        <p:txBody>
          <a:bodyPr wrap="square" lIns="0" tIns="0" rIns="0" bIns="0" rtlCol="0" anchor="ctr"/>
          <a:lstStyle/>
          <a:p>
            <a:pPr indent="0" marL="0">
              <a:buNone/>
            </a:pPr>
            <a:r>
              <a:rPr lang="en-US" sz="1400" dirty="0">
                <a:solidFill>
                  <a:srgbClr val="4A554C"/>
                </a:solidFill>
                <a:latin typeface="Arial" pitchFamily="34" charset="0"/>
                <a:ea typeface="Arial" pitchFamily="34" charset="-122"/>
                <a:cs typeface="Arial" pitchFamily="34" charset="-120"/>
              </a:rPr>
              <a:t>K–5 is not the place for catastrophe slideshows. Form lovers of creation first. Hope is a theological virtue.</a:t>
            </a:r>
            <a:endParaRPr lang="en-US" sz="1400" dirty="0"/>
          </a:p>
        </p:txBody>
      </p:sp>
      <p:sp>
        <p:nvSpPr>
          <p:cNvPr id="10" name="Shape 8"/>
          <p:cNvSpPr/>
          <p:nvPr/>
        </p:nvSpPr>
        <p:spPr>
          <a:xfrm>
            <a:off x="502920" y="2743200"/>
            <a:ext cx="5623560" cy="1517904"/>
          </a:xfrm>
          <a:prstGeom prst="roundRect">
            <a:avLst>
              <a:gd name="adj" fmla="val 3614"/>
            </a:avLst>
          </a:prstGeom>
          <a:solidFill>
            <a:srgbClr val="FFFBF3"/>
          </a:solidFill>
          <a:ln/>
        </p:spPr>
        <p:txBody>
          <a:bodyPr/>
          <a:p/>
        </p:txBody>
      </p:sp>
      <p:sp>
        <p:nvSpPr>
          <p:cNvPr id="11" name="Text 9"/>
          <p:cNvSpPr/>
          <p:nvPr/>
        </p:nvSpPr>
        <p:spPr>
          <a:xfrm>
            <a:off x="731520" y="2889504"/>
            <a:ext cx="5212080" cy="347472"/>
          </a:xfrm>
          <a:prstGeom prst="rect">
            <a:avLst/>
          </a:prstGeom>
          <a:noFill/>
          <a:ln/>
        </p:spPr>
        <p:txBody>
          <a:bodyPr wrap="square" lIns="0" tIns="0" rIns="0" bIns="0" rtlCol="0" anchor="ctr"/>
          <a:lstStyle/>
          <a:p>
            <a:pPr indent="0" marL="0">
              <a:buNone/>
            </a:pPr>
            <a:r>
              <a:rPr lang="en-US" sz="1500" b="1" dirty="0">
                <a:solidFill>
                  <a:srgbClr val="1B3A2A"/>
                </a:solidFill>
                <a:latin typeface="Arial" pitchFamily="34" charset="0"/>
                <a:ea typeface="Arial" pitchFamily="34" charset="-122"/>
                <a:cs typeface="Arial" pitchFamily="34" charset="-120"/>
              </a:rPr>
              <a:t>Avoid one-and-done</a:t>
            </a:r>
            <a:endParaRPr lang="en-US" sz="1500" dirty="0"/>
          </a:p>
        </p:txBody>
      </p:sp>
      <p:sp>
        <p:nvSpPr>
          <p:cNvPr id="12" name="Text 10"/>
          <p:cNvSpPr/>
          <p:nvPr/>
        </p:nvSpPr>
        <p:spPr>
          <a:xfrm>
            <a:off x="731520" y="3255264"/>
            <a:ext cx="5212080" cy="841248"/>
          </a:xfrm>
          <a:prstGeom prst="rect">
            <a:avLst/>
          </a:prstGeom>
          <a:noFill/>
          <a:ln/>
        </p:spPr>
        <p:txBody>
          <a:bodyPr wrap="square" lIns="0" tIns="0" rIns="0" bIns="0" rtlCol="0" anchor="ctr"/>
          <a:lstStyle/>
          <a:p>
            <a:pPr indent="0" marL="0">
              <a:buNone/>
            </a:pPr>
            <a:r>
              <a:rPr lang="en-US" sz="1400" dirty="0">
                <a:solidFill>
                  <a:srgbClr val="4A554C"/>
                </a:solidFill>
                <a:latin typeface="Arial" pitchFamily="34" charset="0"/>
                <a:ea typeface="Arial" pitchFamily="34" charset="-122"/>
                <a:cs typeface="Arial" pitchFamily="34" charset="-120"/>
              </a:rPr>
              <a:t>Earth Day alone is not formation. A weak habit practiced daily beats a spectacular April assembly.</a:t>
            </a:r>
            <a:endParaRPr lang="en-US" sz="1400" dirty="0"/>
          </a:p>
        </p:txBody>
      </p:sp>
      <p:sp>
        <p:nvSpPr>
          <p:cNvPr id="13" name="Shape 11"/>
          <p:cNvSpPr/>
          <p:nvPr/>
        </p:nvSpPr>
        <p:spPr>
          <a:xfrm>
            <a:off x="6309360" y="2743200"/>
            <a:ext cx="5623560" cy="1517904"/>
          </a:xfrm>
          <a:prstGeom prst="roundRect">
            <a:avLst>
              <a:gd name="adj" fmla="val 3614"/>
            </a:avLst>
          </a:prstGeom>
          <a:solidFill>
            <a:srgbClr val="FFFBF3"/>
          </a:solidFill>
          <a:ln/>
        </p:spPr>
        <p:txBody>
          <a:bodyPr/>
          <a:p/>
        </p:txBody>
      </p:sp>
      <p:sp>
        <p:nvSpPr>
          <p:cNvPr id="14" name="Text 12"/>
          <p:cNvSpPr/>
          <p:nvPr/>
        </p:nvSpPr>
        <p:spPr>
          <a:xfrm>
            <a:off x="6537960" y="2889504"/>
            <a:ext cx="5212080" cy="347472"/>
          </a:xfrm>
          <a:prstGeom prst="rect">
            <a:avLst/>
          </a:prstGeom>
          <a:noFill/>
          <a:ln/>
        </p:spPr>
        <p:txBody>
          <a:bodyPr wrap="square" lIns="0" tIns="0" rIns="0" bIns="0" rtlCol="0" anchor="ctr"/>
          <a:lstStyle/>
          <a:p>
            <a:pPr indent="0" marL="0">
              <a:buNone/>
            </a:pPr>
            <a:r>
              <a:rPr lang="en-US" sz="1500" b="1" dirty="0">
                <a:solidFill>
                  <a:srgbClr val="1B3A2A"/>
                </a:solidFill>
                <a:latin typeface="Arial" pitchFamily="34" charset="0"/>
                <a:ea typeface="Arial" pitchFamily="34" charset="-122"/>
                <a:cs typeface="Arial" pitchFamily="34" charset="-120"/>
              </a:rPr>
              <a:t>Tell the whole truth about Francis</a:t>
            </a:r>
            <a:endParaRPr lang="en-US" sz="1500" dirty="0"/>
          </a:p>
        </p:txBody>
      </p:sp>
      <p:sp>
        <p:nvSpPr>
          <p:cNvPr id="15" name="Text 13"/>
          <p:cNvSpPr/>
          <p:nvPr/>
        </p:nvSpPr>
        <p:spPr>
          <a:xfrm>
            <a:off x="6537960" y="3255264"/>
            <a:ext cx="5212080" cy="841248"/>
          </a:xfrm>
          <a:prstGeom prst="rect">
            <a:avLst/>
          </a:prstGeom>
          <a:noFill/>
          <a:ln/>
        </p:spPr>
        <p:txBody>
          <a:bodyPr wrap="square" lIns="0" tIns="0" rIns="0" bIns="0" rtlCol="0" anchor="ctr"/>
          <a:lstStyle/>
          <a:p>
            <a:pPr indent="0" marL="0">
              <a:buNone/>
            </a:pPr>
            <a:r>
              <a:rPr lang="en-US" sz="1400" dirty="0">
                <a:solidFill>
                  <a:srgbClr val="4A554C"/>
                </a:solidFill>
                <a:latin typeface="Arial" pitchFamily="34" charset="0"/>
                <a:ea typeface="Arial" pitchFamily="34" charset="-122"/>
                <a:cs typeface="Arial" pitchFamily="34" charset="-120"/>
              </a:rPr>
              <a:t>He is not only the bird saint. He is the poor man of Assisi who loved the Crucified. Keep Christ at the center.</a:t>
            </a:r>
            <a:endParaRPr lang="en-US" sz="1400" dirty="0"/>
          </a:p>
        </p:txBody>
      </p:sp>
      <p:sp>
        <p:nvSpPr>
          <p:cNvPr id="16" name="Shape 14"/>
          <p:cNvSpPr/>
          <p:nvPr/>
        </p:nvSpPr>
        <p:spPr>
          <a:xfrm>
            <a:off x="502920" y="4389120"/>
            <a:ext cx="5623560" cy="1517904"/>
          </a:xfrm>
          <a:prstGeom prst="roundRect">
            <a:avLst>
              <a:gd name="adj" fmla="val 3614"/>
            </a:avLst>
          </a:prstGeom>
          <a:solidFill>
            <a:srgbClr val="FFFBF3"/>
          </a:solidFill>
          <a:ln/>
        </p:spPr>
        <p:txBody>
          <a:bodyPr/>
          <a:p/>
        </p:txBody>
      </p:sp>
      <p:sp>
        <p:nvSpPr>
          <p:cNvPr id="17" name="Text 15"/>
          <p:cNvSpPr/>
          <p:nvPr/>
        </p:nvSpPr>
        <p:spPr>
          <a:xfrm>
            <a:off x="731520" y="4535424"/>
            <a:ext cx="5212080" cy="347472"/>
          </a:xfrm>
          <a:prstGeom prst="rect">
            <a:avLst/>
          </a:prstGeom>
          <a:noFill/>
          <a:ln/>
        </p:spPr>
        <p:txBody>
          <a:bodyPr wrap="square" lIns="0" tIns="0" rIns="0" bIns="0" rtlCol="0" anchor="ctr"/>
          <a:lstStyle/>
          <a:p>
            <a:pPr indent="0" marL="0">
              <a:buNone/>
            </a:pPr>
            <a:r>
              <a:rPr lang="en-US" sz="1500" b="1" dirty="0">
                <a:solidFill>
                  <a:srgbClr val="1B3A2A"/>
                </a:solidFill>
                <a:latin typeface="Arial" pitchFamily="34" charset="0"/>
                <a:ea typeface="Arial" pitchFamily="34" charset="-122"/>
                <a:cs typeface="Arial" pitchFamily="34" charset="-120"/>
              </a:rPr>
              <a:t>Include the custodian</a:t>
            </a:r>
            <a:endParaRPr lang="en-US" sz="1500" dirty="0"/>
          </a:p>
        </p:txBody>
      </p:sp>
      <p:sp>
        <p:nvSpPr>
          <p:cNvPr id="18" name="Text 16"/>
          <p:cNvSpPr/>
          <p:nvPr/>
        </p:nvSpPr>
        <p:spPr>
          <a:xfrm>
            <a:off x="731520" y="4901184"/>
            <a:ext cx="5212080" cy="841248"/>
          </a:xfrm>
          <a:prstGeom prst="rect">
            <a:avLst/>
          </a:prstGeom>
          <a:noFill/>
          <a:ln/>
        </p:spPr>
        <p:txBody>
          <a:bodyPr wrap="square" lIns="0" tIns="0" rIns="0" bIns="0" rtlCol="0" anchor="ctr"/>
          <a:lstStyle/>
          <a:p>
            <a:pPr indent="0" marL="0">
              <a:buNone/>
            </a:pPr>
            <a:r>
              <a:rPr lang="en-US" sz="1400" dirty="0">
                <a:solidFill>
                  <a:srgbClr val="4A554C"/>
                </a:solidFill>
                <a:latin typeface="Arial" pitchFamily="34" charset="0"/>
                <a:ea typeface="Arial" pitchFamily="34" charset="-122"/>
                <a:cs typeface="Arial" pitchFamily="34" charset="-120"/>
              </a:rPr>
              <a:t>The people who already care for the building are co-teachers. Consult them before launching a waste plan.</a:t>
            </a:r>
            <a:endParaRPr lang="en-US" sz="1400" dirty="0"/>
          </a:p>
        </p:txBody>
      </p:sp>
      <p:sp>
        <p:nvSpPr>
          <p:cNvPr id="19" name="Shape 17"/>
          <p:cNvSpPr/>
          <p:nvPr/>
        </p:nvSpPr>
        <p:spPr>
          <a:xfrm>
            <a:off x="6309360" y="4389120"/>
            <a:ext cx="5623560" cy="1517904"/>
          </a:xfrm>
          <a:prstGeom prst="roundRect">
            <a:avLst>
              <a:gd name="adj" fmla="val 3614"/>
            </a:avLst>
          </a:prstGeom>
          <a:solidFill>
            <a:srgbClr val="FFFBF3"/>
          </a:solidFill>
          <a:ln/>
        </p:spPr>
        <p:txBody>
          <a:bodyPr/>
          <a:p/>
        </p:txBody>
      </p:sp>
      <p:sp>
        <p:nvSpPr>
          <p:cNvPr id="20" name="Text 18"/>
          <p:cNvSpPr/>
          <p:nvPr/>
        </p:nvSpPr>
        <p:spPr>
          <a:xfrm>
            <a:off x="6537960" y="4535424"/>
            <a:ext cx="5212080" cy="347472"/>
          </a:xfrm>
          <a:prstGeom prst="rect">
            <a:avLst/>
          </a:prstGeom>
          <a:noFill/>
          <a:ln/>
        </p:spPr>
        <p:txBody>
          <a:bodyPr wrap="square" lIns="0" tIns="0" rIns="0" bIns="0" rtlCol="0" anchor="ctr"/>
          <a:lstStyle/>
          <a:p>
            <a:pPr indent="0" marL="0">
              <a:buNone/>
            </a:pPr>
            <a:r>
              <a:rPr lang="en-US" sz="1500" b="1" dirty="0">
                <a:solidFill>
                  <a:srgbClr val="1B3A2A"/>
                </a:solidFill>
                <a:latin typeface="Arial" pitchFamily="34" charset="0"/>
                <a:ea typeface="Arial" pitchFamily="34" charset="-122"/>
                <a:cs typeface="Arial" pitchFamily="34" charset="-120"/>
              </a:rPr>
              <a:t>Measure what you start</a:t>
            </a:r>
            <a:endParaRPr lang="en-US" sz="1500" dirty="0"/>
          </a:p>
        </p:txBody>
      </p:sp>
      <p:sp>
        <p:nvSpPr>
          <p:cNvPr id="21" name="Text 19"/>
          <p:cNvSpPr/>
          <p:nvPr/>
        </p:nvSpPr>
        <p:spPr>
          <a:xfrm>
            <a:off x="6537960" y="4901184"/>
            <a:ext cx="5212080" cy="841248"/>
          </a:xfrm>
          <a:prstGeom prst="rect">
            <a:avLst/>
          </a:prstGeom>
          <a:noFill/>
          <a:ln/>
        </p:spPr>
        <p:txBody>
          <a:bodyPr wrap="square" lIns="0" tIns="0" rIns="0" bIns="0" rtlCol="0" anchor="ctr"/>
          <a:lstStyle/>
          <a:p>
            <a:pPr indent="0" marL="0">
              <a:buNone/>
            </a:pPr>
            <a:r>
              <a:rPr lang="en-US" sz="1400" dirty="0">
                <a:solidFill>
                  <a:srgbClr val="4A554C"/>
                </a:solidFill>
                <a:latin typeface="Arial" pitchFamily="34" charset="0"/>
                <a:ea typeface="Arial" pitchFamily="34" charset="-122"/>
                <a:cs typeface="Arial" pitchFamily="34" charset="-120"/>
              </a:rPr>
              <a:t>If you begin a garden, name who waters in June. Abandoned projects teach the opposite of stewardship.</a:t>
            </a:r>
            <a:endParaRPr lang="en-US" sz="1400" dirty="0"/>
          </a:p>
        </p:txBody>
      </p:sp>
      <p:sp>
        <p:nvSpPr>
          <p:cNvPr id="22" name="Shape 20"/>
          <p:cNvSpPr/>
          <p:nvPr/>
        </p:nvSpPr>
        <p:spPr>
          <a:xfrm>
            <a:off x="502920" y="6510528"/>
            <a:ext cx="11183112" cy="0"/>
          </a:xfrm>
          <a:prstGeom prst="line">
            <a:avLst/>
          </a:prstGeom>
          <a:noFill/>
          <a:ln w="7620">
            <a:solidFill>
              <a:srgbClr val="C9C0A8"/>
            </a:solidFill>
            <a:prstDash val="solid"/>
          </a:ln>
        </p:spPr>
        <p:txBody>
          <a:bodyPr/>
          <a:p/>
        </p:txBody>
      </p:sp>
      <p:sp>
        <p:nvSpPr>
          <p:cNvPr id="23" name="Text 21"/>
          <p:cNvSpPr/>
          <p:nvPr/>
        </p:nvSpPr>
        <p:spPr>
          <a:xfrm>
            <a:off x="502920" y="6547104"/>
            <a:ext cx="8412480" cy="237744"/>
          </a:xfrm>
          <a:prstGeom prst="rect">
            <a:avLst/>
          </a:prstGeom>
          <a:noFill/>
          <a:ln/>
        </p:spPr>
        <p:txBody>
          <a:bodyPr wrap="square" lIns="0" tIns="0" rIns="0" bIns="0" rtlCol="0" anchor="ctr"/>
          <a:lstStyle/>
          <a:p>
            <a:pPr indent="0" marL="0">
              <a:buNone/>
            </a:pPr>
            <a:r>
              <a:rPr lang="en-US" sz="900" spc="120" kern="0" dirty="0">
                <a:solidFill>
                  <a:srgbClr val="6B736C"/>
                </a:solidFill>
                <a:latin typeface="Arial" pitchFamily="34" charset="0"/>
                <a:ea typeface="Arial" pitchFamily="34" charset="-122"/>
                <a:cs typeface="Arial" pitchFamily="34" charset="-120"/>
              </a:rPr>
              <a:t>CREATION CARE IN THE CLASSROOM  ·  K–5 CATHOLIC TEACHERS</a:t>
            </a:r>
            <a:endParaRPr lang="en-US" sz="900" dirty="0"/>
          </a:p>
        </p:txBody>
      </p:sp>
      <p:sp>
        <p:nvSpPr>
          <p:cNvPr id="24" name="Text 22"/>
          <p:cNvSpPr/>
          <p:nvPr/>
        </p:nvSpPr>
        <p:spPr>
          <a:xfrm>
            <a:off x="9509760" y="6547104"/>
            <a:ext cx="2176272" cy="237744"/>
          </a:xfrm>
          <a:prstGeom prst="rect">
            <a:avLst/>
          </a:prstGeom>
          <a:noFill/>
          <a:ln/>
        </p:spPr>
        <p:txBody>
          <a:bodyPr wrap="square" lIns="0" tIns="0" rIns="0" bIns="0" rtlCol="0" anchor="ctr"/>
          <a:lstStyle/>
          <a:p>
            <a:pPr algn="r" indent="0" marL="0">
              <a:buNone/>
            </a:pPr>
            <a:r>
              <a:rPr lang="en-US" sz="900" dirty="0">
                <a:solidFill>
                  <a:srgbClr val="6B736C"/>
                </a:solidFill>
                <a:latin typeface="Arial" pitchFamily="34" charset="0"/>
                <a:ea typeface="Arial" pitchFamily="34" charset="-122"/>
                <a:cs typeface="Arial" pitchFamily="34" charset="-120"/>
              </a:rPr>
              <a:t>21  /  30</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0">
    <p:bg>
      <p:bgPr>
        <a:solidFill>
          <a:srgbClr val="F4EFE2"/>
        </a:solidFill>
      </p:bgPr>
    </p:bg>
    <p:spTree>
      <p:nvGrpSpPr>
        <p:cNvPr id="1" name=""/>
        <p:cNvGrpSpPr/>
        <p:nvPr/>
      </p:nvGrpSpPr>
      <p:grpSpPr>
        <a:xfrm>
          <a:off x="0" y="0"/>
          <a:ext cx="0" cy="0"/>
          <a:chOff x="0" y="0"/>
          <a:chExt cx="0" cy="0"/>
        </a:xfrm>
      </p:grpSpPr>
      <p:sp>
        <p:nvSpPr>
          <p:cNvPr id="2" name="Text 0"/>
          <p:cNvSpPr/>
          <p:nvPr/>
        </p:nvSpPr>
        <p:spPr>
          <a:xfrm>
            <a:off x="502920" y="256032"/>
            <a:ext cx="11155680" cy="219456"/>
          </a:xfrm>
          <a:prstGeom prst="rect">
            <a:avLst/>
          </a:prstGeom>
          <a:noFill/>
          <a:ln/>
        </p:spPr>
        <p:txBody>
          <a:bodyPr wrap="square" lIns="0" tIns="0" rIns="0" bIns="0" rtlCol="0" anchor="ctr"/>
          <a:lstStyle/>
          <a:p>
            <a:pPr indent="0" marL="0">
              <a:buNone/>
            </a:pPr>
            <a:r>
              <a:rPr lang="en-US" sz="1100" b="1" spc="220" kern="0" dirty="0">
                <a:solidFill>
                  <a:srgbClr val="4F7A5C"/>
                </a:solidFill>
                <a:latin typeface="Arial" pitchFamily="34" charset="0"/>
                <a:ea typeface="Arial" pitchFamily="34" charset="-122"/>
                <a:cs typeface="Arial" pitchFamily="34" charset="-120"/>
              </a:rPr>
              <a:t>19  ·  STEAL THESE TOMORROW</a:t>
            </a:r>
            <a:endParaRPr lang="en-US" sz="1100" dirty="0"/>
          </a:p>
        </p:txBody>
      </p:sp>
      <p:sp>
        <p:nvSpPr>
          <p:cNvPr id="3" name="Text 1"/>
          <p:cNvSpPr/>
          <p:nvPr/>
        </p:nvSpPr>
        <p:spPr>
          <a:xfrm>
            <a:off x="502920" y="475488"/>
            <a:ext cx="11155680" cy="475488"/>
          </a:xfrm>
          <a:prstGeom prst="rect">
            <a:avLst/>
          </a:prstGeom>
          <a:noFill/>
          <a:ln/>
        </p:spPr>
        <p:txBody>
          <a:bodyPr wrap="square" lIns="0" tIns="0" rIns="0" bIns="0" rtlCol="0" anchor="ctr"/>
          <a:lstStyle/>
          <a:p>
            <a:pPr indent="0" marL="0">
              <a:buNone/>
            </a:pPr>
            <a:r>
              <a:rPr lang="en-US" sz="2600" dirty="0">
                <a:solidFill>
                  <a:srgbClr val="1B3A2A"/>
                </a:solidFill>
                <a:latin typeface="Georgia" pitchFamily="34" charset="0"/>
                <a:ea typeface="Georgia" pitchFamily="34" charset="-122"/>
                <a:cs typeface="Georgia" pitchFamily="34" charset="-120"/>
              </a:rPr>
              <a:t>A ready activity bank</a:t>
            </a:r>
            <a:endParaRPr lang="en-US" sz="2600" dirty="0"/>
          </a:p>
        </p:txBody>
      </p:sp>
      <p:sp>
        <p:nvSpPr>
          <p:cNvPr id="4" name="Shape 2"/>
          <p:cNvSpPr/>
          <p:nvPr/>
        </p:nvSpPr>
        <p:spPr>
          <a:xfrm>
            <a:off x="502920" y="1115568"/>
            <a:ext cx="11183112" cy="384048"/>
          </a:xfrm>
          <a:prstGeom prst="rect">
            <a:avLst/>
          </a:prstGeom>
          <a:solidFill>
            <a:srgbClr val="1B3A2A"/>
          </a:solidFill>
          <a:ln/>
        </p:spPr>
        <p:txBody>
          <a:bodyPr/>
          <a:p/>
        </p:txBody>
      </p:sp>
      <p:sp>
        <p:nvSpPr>
          <p:cNvPr id="5" name="Text 3"/>
          <p:cNvSpPr/>
          <p:nvPr/>
        </p:nvSpPr>
        <p:spPr>
          <a:xfrm>
            <a:off x="640080" y="1115568"/>
            <a:ext cx="1097280" cy="384048"/>
          </a:xfrm>
          <a:prstGeom prst="rect">
            <a:avLst/>
          </a:prstGeom>
          <a:noFill/>
          <a:ln/>
        </p:spPr>
        <p:txBody>
          <a:bodyPr wrap="square" lIns="0" tIns="0" rIns="0" bIns="0" rtlCol="0" anchor="ctr"/>
          <a:lstStyle/>
          <a:p>
            <a:pPr indent="0" marL="0">
              <a:buNone/>
            </a:pPr>
            <a:r>
              <a:rPr lang="en-US" sz="1200" b="1" dirty="0">
                <a:solidFill>
                  <a:srgbClr val="C4A35A"/>
                </a:solidFill>
                <a:latin typeface="Arial" pitchFamily="34" charset="0"/>
                <a:ea typeface="Arial" pitchFamily="34" charset="-122"/>
                <a:cs typeface="Arial" pitchFamily="34" charset="-120"/>
              </a:rPr>
              <a:t>Grade</a:t>
            </a:r>
            <a:endParaRPr lang="en-US" sz="1200" dirty="0"/>
          </a:p>
        </p:txBody>
      </p:sp>
      <p:sp>
        <p:nvSpPr>
          <p:cNvPr id="6" name="Text 4"/>
          <p:cNvSpPr/>
          <p:nvPr/>
        </p:nvSpPr>
        <p:spPr>
          <a:xfrm>
            <a:off x="1828800" y="1115568"/>
            <a:ext cx="2377440" cy="384048"/>
          </a:xfrm>
          <a:prstGeom prst="rect">
            <a:avLst/>
          </a:prstGeom>
          <a:noFill/>
          <a:ln/>
        </p:spPr>
        <p:txBody>
          <a:bodyPr wrap="square" lIns="0" tIns="0" rIns="0" bIns="0" rtlCol="0" anchor="ctr"/>
          <a:lstStyle/>
          <a:p>
            <a:pPr indent="0" marL="0">
              <a:buNone/>
            </a:pPr>
            <a:r>
              <a:rPr lang="en-US" sz="1200" b="1" dirty="0">
                <a:solidFill>
                  <a:srgbClr val="C4A35A"/>
                </a:solidFill>
                <a:latin typeface="Arial" pitchFamily="34" charset="0"/>
                <a:ea typeface="Arial" pitchFamily="34" charset="-122"/>
                <a:cs typeface="Arial" pitchFamily="34" charset="-120"/>
              </a:rPr>
              <a:t>Activity</a:t>
            </a:r>
            <a:endParaRPr lang="en-US" sz="1200" dirty="0"/>
          </a:p>
        </p:txBody>
      </p:sp>
      <p:sp>
        <p:nvSpPr>
          <p:cNvPr id="7" name="Text 5"/>
          <p:cNvSpPr/>
          <p:nvPr/>
        </p:nvSpPr>
        <p:spPr>
          <a:xfrm>
            <a:off x="4297680" y="1115568"/>
            <a:ext cx="7132320" cy="384048"/>
          </a:xfrm>
          <a:prstGeom prst="rect">
            <a:avLst/>
          </a:prstGeom>
          <a:noFill/>
          <a:ln/>
        </p:spPr>
        <p:txBody>
          <a:bodyPr wrap="square" lIns="0" tIns="0" rIns="0" bIns="0" rtlCol="0" anchor="ctr"/>
          <a:lstStyle/>
          <a:p>
            <a:pPr indent="0" marL="0">
              <a:buNone/>
            </a:pPr>
            <a:r>
              <a:rPr lang="en-US" sz="1200" b="1" dirty="0">
                <a:solidFill>
                  <a:srgbClr val="C4A35A"/>
                </a:solidFill>
                <a:latin typeface="Arial" pitchFamily="34" charset="0"/>
                <a:ea typeface="Arial" pitchFamily="34" charset="-122"/>
                <a:cs typeface="Arial" pitchFamily="34" charset="-120"/>
              </a:rPr>
              <a:t>How it works</a:t>
            </a:r>
            <a:endParaRPr lang="en-US" sz="1200" dirty="0"/>
          </a:p>
        </p:txBody>
      </p:sp>
      <p:sp>
        <p:nvSpPr>
          <p:cNvPr id="8" name="Shape 6"/>
          <p:cNvSpPr/>
          <p:nvPr/>
        </p:nvSpPr>
        <p:spPr>
          <a:xfrm>
            <a:off x="502920" y="1499616"/>
            <a:ext cx="11183112" cy="566928"/>
          </a:xfrm>
          <a:prstGeom prst="rect">
            <a:avLst/>
          </a:prstGeom>
          <a:solidFill>
            <a:srgbClr val="FFFBF3"/>
          </a:solidFill>
          <a:ln/>
        </p:spPr>
        <p:txBody>
          <a:bodyPr/>
          <a:p/>
        </p:txBody>
      </p:sp>
      <p:sp>
        <p:nvSpPr>
          <p:cNvPr id="9" name="Text 7"/>
          <p:cNvSpPr/>
          <p:nvPr/>
        </p:nvSpPr>
        <p:spPr>
          <a:xfrm>
            <a:off x="640080" y="1499616"/>
            <a:ext cx="1097280" cy="566928"/>
          </a:xfrm>
          <a:prstGeom prst="rect">
            <a:avLst/>
          </a:prstGeom>
          <a:noFill/>
          <a:ln/>
        </p:spPr>
        <p:txBody>
          <a:bodyPr wrap="square" lIns="0" tIns="0" rIns="0" bIns="0" rtlCol="0" anchor="ctr"/>
          <a:lstStyle/>
          <a:p>
            <a:pPr indent="0" marL="0">
              <a:buNone/>
            </a:pPr>
            <a:r>
              <a:rPr lang="en-US" sz="1300" b="1" dirty="0">
                <a:solidFill>
                  <a:srgbClr val="1B3A2A"/>
                </a:solidFill>
                <a:latin typeface="Arial" pitchFamily="34" charset="0"/>
                <a:ea typeface="Arial" pitchFamily="34" charset="-122"/>
                <a:cs typeface="Arial" pitchFamily="34" charset="-120"/>
              </a:rPr>
              <a:t>K–1</a:t>
            </a:r>
            <a:endParaRPr lang="en-US" sz="1300" dirty="0"/>
          </a:p>
        </p:txBody>
      </p:sp>
      <p:sp>
        <p:nvSpPr>
          <p:cNvPr id="10" name="Text 8"/>
          <p:cNvSpPr/>
          <p:nvPr/>
        </p:nvSpPr>
        <p:spPr>
          <a:xfrm>
            <a:off x="1828800" y="1499616"/>
            <a:ext cx="2377440" cy="566928"/>
          </a:xfrm>
          <a:prstGeom prst="rect">
            <a:avLst/>
          </a:prstGeom>
          <a:noFill/>
          <a:ln/>
        </p:spPr>
        <p:txBody>
          <a:bodyPr wrap="square" lIns="0" tIns="0" rIns="0" bIns="0" rtlCol="0" anchor="ctr"/>
          <a:lstStyle/>
          <a:p>
            <a:pPr indent="0" marL="0">
              <a:buNone/>
            </a:pPr>
            <a:r>
              <a:rPr lang="en-US" sz="1400" dirty="0">
                <a:solidFill>
                  <a:srgbClr val="1F2A24"/>
                </a:solidFill>
                <a:latin typeface="Arial" pitchFamily="34" charset="0"/>
                <a:ea typeface="Arial" pitchFamily="34" charset="-122"/>
                <a:cs typeface="Arial" pitchFamily="34" charset="-120"/>
              </a:rPr>
              <a:t>Creation mural</a:t>
            </a:r>
            <a:endParaRPr lang="en-US" sz="1400" dirty="0"/>
          </a:p>
        </p:txBody>
      </p:sp>
      <p:sp>
        <p:nvSpPr>
          <p:cNvPr id="11" name="Text 9"/>
          <p:cNvSpPr/>
          <p:nvPr/>
        </p:nvSpPr>
        <p:spPr>
          <a:xfrm>
            <a:off x="4297680" y="1499616"/>
            <a:ext cx="7178040" cy="566928"/>
          </a:xfrm>
          <a:prstGeom prst="rect">
            <a:avLst/>
          </a:prstGeom>
          <a:noFill/>
          <a:ln/>
        </p:spPr>
        <p:txBody>
          <a:bodyPr wrap="square" lIns="0" tIns="0" rIns="0" bIns="0" rtlCol="0" anchor="ctr"/>
          <a:lstStyle/>
          <a:p>
            <a:pPr indent="0" marL="0">
              <a:buNone/>
            </a:pPr>
            <a:r>
              <a:rPr lang="en-US" sz="1300" dirty="0">
                <a:solidFill>
                  <a:srgbClr val="4A554C"/>
                </a:solidFill>
                <a:latin typeface="Arial" pitchFamily="34" charset="0"/>
                <a:ea typeface="Arial" pitchFamily="34" charset="-122"/>
                <a:cs typeface="Arial" pitchFamily="34" charset="-120"/>
              </a:rPr>
              <a:t>Draw where we see God in the world. Caption: It was very good.</a:t>
            </a:r>
            <a:endParaRPr lang="en-US" sz="1300" dirty="0"/>
          </a:p>
        </p:txBody>
      </p:sp>
      <p:sp>
        <p:nvSpPr>
          <p:cNvPr id="12" name="Shape 10"/>
          <p:cNvSpPr/>
          <p:nvPr/>
        </p:nvSpPr>
        <p:spPr>
          <a:xfrm>
            <a:off x="502920" y="2066544"/>
            <a:ext cx="11183112" cy="566928"/>
          </a:xfrm>
          <a:prstGeom prst="rect">
            <a:avLst/>
          </a:prstGeom>
          <a:solidFill>
            <a:srgbClr val="EBE4D4"/>
          </a:solidFill>
          <a:ln/>
        </p:spPr>
        <p:txBody>
          <a:bodyPr/>
          <a:p/>
        </p:txBody>
      </p:sp>
      <p:sp>
        <p:nvSpPr>
          <p:cNvPr id="13" name="Text 11"/>
          <p:cNvSpPr/>
          <p:nvPr/>
        </p:nvSpPr>
        <p:spPr>
          <a:xfrm>
            <a:off x="640080" y="2066544"/>
            <a:ext cx="1097280" cy="566928"/>
          </a:xfrm>
          <a:prstGeom prst="rect">
            <a:avLst/>
          </a:prstGeom>
          <a:noFill/>
          <a:ln/>
        </p:spPr>
        <p:txBody>
          <a:bodyPr wrap="square" lIns="0" tIns="0" rIns="0" bIns="0" rtlCol="0" anchor="ctr"/>
          <a:lstStyle/>
          <a:p>
            <a:pPr indent="0" marL="0">
              <a:buNone/>
            </a:pPr>
            <a:r>
              <a:rPr lang="en-US" sz="1300" b="1" dirty="0">
                <a:solidFill>
                  <a:srgbClr val="1B3A2A"/>
                </a:solidFill>
                <a:latin typeface="Arial" pitchFamily="34" charset="0"/>
                <a:ea typeface="Arial" pitchFamily="34" charset="-122"/>
                <a:cs typeface="Arial" pitchFamily="34" charset="-120"/>
              </a:rPr>
              <a:t>K–2</a:t>
            </a:r>
            <a:endParaRPr lang="en-US" sz="1300" dirty="0"/>
          </a:p>
        </p:txBody>
      </p:sp>
      <p:sp>
        <p:nvSpPr>
          <p:cNvPr id="14" name="Text 12"/>
          <p:cNvSpPr/>
          <p:nvPr/>
        </p:nvSpPr>
        <p:spPr>
          <a:xfrm>
            <a:off x="1828800" y="2066544"/>
            <a:ext cx="2377440" cy="566928"/>
          </a:xfrm>
          <a:prstGeom prst="rect">
            <a:avLst/>
          </a:prstGeom>
          <a:noFill/>
          <a:ln/>
        </p:spPr>
        <p:txBody>
          <a:bodyPr wrap="square" lIns="0" tIns="0" rIns="0" bIns="0" rtlCol="0" anchor="ctr"/>
          <a:lstStyle/>
          <a:p>
            <a:pPr indent="0" marL="0">
              <a:buNone/>
            </a:pPr>
            <a:r>
              <a:rPr lang="en-US" sz="1400" dirty="0">
                <a:solidFill>
                  <a:srgbClr val="1F2A24"/>
                </a:solidFill>
                <a:latin typeface="Arial" pitchFamily="34" charset="0"/>
                <a:ea typeface="Arial" pitchFamily="34" charset="-122"/>
                <a:cs typeface="Arial" pitchFamily="34" charset="-120"/>
              </a:rPr>
              <a:t>Sister Water tray</a:t>
            </a:r>
            <a:endParaRPr lang="en-US" sz="1400" dirty="0"/>
          </a:p>
        </p:txBody>
      </p:sp>
      <p:sp>
        <p:nvSpPr>
          <p:cNvPr id="15" name="Text 13"/>
          <p:cNvSpPr/>
          <p:nvPr/>
        </p:nvSpPr>
        <p:spPr>
          <a:xfrm>
            <a:off x="4297680" y="2066544"/>
            <a:ext cx="7178040" cy="566928"/>
          </a:xfrm>
          <a:prstGeom prst="rect">
            <a:avLst/>
          </a:prstGeom>
          <a:noFill/>
          <a:ln/>
        </p:spPr>
        <p:txBody>
          <a:bodyPr wrap="square" lIns="0" tIns="0" rIns="0" bIns="0" rtlCol="0" anchor="ctr"/>
          <a:lstStyle/>
          <a:p>
            <a:pPr indent="0" marL="0">
              <a:buNone/>
            </a:pPr>
            <a:r>
              <a:rPr lang="en-US" sz="1300" dirty="0">
                <a:solidFill>
                  <a:srgbClr val="4A554C"/>
                </a:solidFill>
                <a:latin typeface="Arial" pitchFamily="34" charset="0"/>
                <a:ea typeface="Arial" pitchFamily="34" charset="-122"/>
                <a:cs typeface="Arial" pitchFamily="34" charset="-120"/>
              </a:rPr>
              <a:t>Pebbles, a bowl, a dropper. Practice gentle use. Pray the water stanza.</a:t>
            </a:r>
            <a:endParaRPr lang="en-US" sz="1300" dirty="0"/>
          </a:p>
        </p:txBody>
      </p:sp>
      <p:sp>
        <p:nvSpPr>
          <p:cNvPr id="16" name="Shape 14"/>
          <p:cNvSpPr/>
          <p:nvPr/>
        </p:nvSpPr>
        <p:spPr>
          <a:xfrm>
            <a:off x="502920" y="2633472"/>
            <a:ext cx="11183112" cy="566928"/>
          </a:xfrm>
          <a:prstGeom prst="rect">
            <a:avLst/>
          </a:prstGeom>
          <a:solidFill>
            <a:srgbClr val="FFFBF3"/>
          </a:solidFill>
          <a:ln/>
        </p:spPr>
        <p:txBody>
          <a:bodyPr/>
          <a:p/>
        </p:txBody>
      </p:sp>
      <p:sp>
        <p:nvSpPr>
          <p:cNvPr id="17" name="Text 15"/>
          <p:cNvSpPr/>
          <p:nvPr/>
        </p:nvSpPr>
        <p:spPr>
          <a:xfrm>
            <a:off x="640080" y="2633472"/>
            <a:ext cx="1097280" cy="566928"/>
          </a:xfrm>
          <a:prstGeom prst="rect">
            <a:avLst/>
          </a:prstGeom>
          <a:noFill/>
          <a:ln/>
        </p:spPr>
        <p:txBody>
          <a:bodyPr wrap="square" lIns="0" tIns="0" rIns="0" bIns="0" rtlCol="0" anchor="ctr"/>
          <a:lstStyle/>
          <a:p>
            <a:pPr indent="0" marL="0">
              <a:buNone/>
            </a:pPr>
            <a:r>
              <a:rPr lang="en-US" sz="1300" b="1" dirty="0">
                <a:solidFill>
                  <a:srgbClr val="1B3A2A"/>
                </a:solidFill>
                <a:latin typeface="Arial" pitchFamily="34" charset="0"/>
                <a:ea typeface="Arial" pitchFamily="34" charset="-122"/>
                <a:cs typeface="Arial" pitchFamily="34" charset="-120"/>
              </a:rPr>
              <a:t>1–3</a:t>
            </a:r>
            <a:endParaRPr lang="en-US" sz="1300" dirty="0"/>
          </a:p>
        </p:txBody>
      </p:sp>
      <p:sp>
        <p:nvSpPr>
          <p:cNvPr id="18" name="Text 16"/>
          <p:cNvSpPr/>
          <p:nvPr/>
        </p:nvSpPr>
        <p:spPr>
          <a:xfrm>
            <a:off x="1828800" y="2633472"/>
            <a:ext cx="2377440" cy="566928"/>
          </a:xfrm>
          <a:prstGeom prst="rect">
            <a:avLst/>
          </a:prstGeom>
          <a:noFill/>
          <a:ln/>
        </p:spPr>
        <p:txBody>
          <a:bodyPr wrap="square" lIns="0" tIns="0" rIns="0" bIns="0" rtlCol="0" anchor="ctr"/>
          <a:lstStyle/>
          <a:p>
            <a:pPr indent="0" marL="0">
              <a:buNone/>
            </a:pPr>
            <a:r>
              <a:rPr lang="en-US" sz="1400" dirty="0">
                <a:solidFill>
                  <a:srgbClr val="1F2A24"/>
                </a:solidFill>
                <a:latin typeface="Arial" pitchFamily="34" charset="0"/>
                <a:ea typeface="Arial" pitchFamily="34" charset="-122"/>
                <a:cs typeface="Arial" pitchFamily="34" charset="-120"/>
              </a:rPr>
              <a:t>Francis story circle</a:t>
            </a:r>
            <a:endParaRPr lang="en-US" sz="1400" dirty="0"/>
          </a:p>
        </p:txBody>
      </p:sp>
      <p:sp>
        <p:nvSpPr>
          <p:cNvPr id="19" name="Text 17"/>
          <p:cNvSpPr/>
          <p:nvPr/>
        </p:nvSpPr>
        <p:spPr>
          <a:xfrm>
            <a:off x="4297680" y="2633472"/>
            <a:ext cx="7178040" cy="566928"/>
          </a:xfrm>
          <a:prstGeom prst="rect">
            <a:avLst/>
          </a:prstGeom>
          <a:noFill/>
          <a:ln/>
        </p:spPr>
        <p:txBody>
          <a:bodyPr wrap="square" lIns="0" tIns="0" rIns="0" bIns="0" rtlCol="0" anchor="ctr"/>
          <a:lstStyle/>
          <a:p>
            <a:pPr indent="0" marL="0">
              <a:buNone/>
            </a:pPr>
            <a:r>
              <a:rPr lang="en-US" sz="1300" dirty="0">
                <a:solidFill>
                  <a:srgbClr val="4A554C"/>
                </a:solidFill>
                <a:latin typeface="Arial" pitchFamily="34" charset="0"/>
                <a:ea typeface="Arial" pitchFamily="34" charset="-122"/>
                <a:cs typeface="Arial" pitchFamily="34" charset="-120"/>
              </a:rPr>
              <a:t>Tell the birds or the wolf. Children retell with puppets or drawings.</a:t>
            </a:r>
            <a:endParaRPr lang="en-US" sz="1300" dirty="0"/>
          </a:p>
        </p:txBody>
      </p:sp>
      <p:sp>
        <p:nvSpPr>
          <p:cNvPr id="20" name="Shape 18"/>
          <p:cNvSpPr/>
          <p:nvPr/>
        </p:nvSpPr>
        <p:spPr>
          <a:xfrm>
            <a:off x="502920" y="3200400"/>
            <a:ext cx="11183112" cy="566928"/>
          </a:xfrm>
          <a:prstGeom prst="rect">
            <a:avLst/>
          </a:prstGeom>
          <a:solidFill>
            <a:srgbClr val="EBE4D4"/>
          </a:solidFill>
          <a:ln/>
        </p:spPr>
        <p:txBody>
          <a:bodyPr/>
          <a:p/>
        </p:txBody>
      </p:sp>
      <p:sp>
        <p:nvSpPr>
          <p:cNvPr id="21" name="Text 19"/>
          <p:cNvSpPr/>
          <p:nvPr/>
        </p:nvSpPr>
        <p:spPr>
          <a:xfrm>
            <a:off x="640080" y="3200400"/>
            <a:ext cx="1097280" cy="566928"/>
          </a:xfrm>
          <a:prstGeom prst="rect">
            <a:avLst/>
          </a:prstGeom>
          <a:noFill/>
          <a:ln/>
        </p:spPr>
        <p:txBody>
          <a:bodyPr wrap="square" lIns="0" tIns="0" rIns="0" bIns="0" rtlCol="0" anchor="ctr"/>
          <a:lstStyle/>
          <a:p>
            <a:pPr indent="0" marL="0">
              <a:buNone/>
            </a:pPr>
            <a:r>
              <a:rPr lang="en-US" sz="1300" b="1" dirty="0">
                <a:solidFill>
                  <a:srgbClr val="1B3A2A"/>
                </a:solidFill>
                <a:latin typeface="Arial" pitchFamily="34" charset="0"/>
                <a:ea typeface="Arial" pitchFamily="34" charset="-122"/>
                <a:cs typeface="Arial" pitchFamily="34" charset="-120"/>
              </a:rPr>
              <a:t>2–4</a:t>
            </a:r>
            <a:endParaRPr lang="en-US" sz="1300" dirty="0"/>
          </a:p>
        </p:txBody>
      </p:sp>
      <p:sp>
        <p:nvSpPr>
          <p:cNvPr id="22" name="Text 20"/>
          <p:cNvSpPr/>
          <p:nvPr/>
        </p:nvSpPr>
        <p:spPr>
          <a:xfrm>
            <a:off x="1828800" y="3200400"/>
            <a:ext cx="2377440" cy="566928"/>
          </a:xfrm>
          <a:prstGeom prst="rect">
            <a:avLst/>
          </a:prstGeom>
          <a:noFill/>
          <a:ln/>
        </p:spPr>
        <p:txBody>
          <a:bodyPr wrap="square" lIns="0" tIns="0" rIns="0" bIns="0" rtlCol="0" anchor="ctr"/>
          <a:lstStyle/>
          <a:p>
            <a:pPr indent="0" marL="0">
              <a:buNone/>
            </a:pPr>
            <a:r>
              <a:rPr lang="en-US" sz="1400" dirty="0">
                <a:solidFill>
                  <a:srgbClr val="1F2A24"/>
                </a:solidFill>
                <a:latin typeface="Arial" pitchFamily="34" charset="0"/>
                <a:ea typeface="Arial" pitchFamily="34" charset="-122"/>
                <a:cs typeface="Arial" pitchFamily="34" charset="-120"/>
              </a:rPr>
              <a:t>Waste audit</a:t>
            </a:r>
            <a:endParaRPr lang="en-US" sz="1400" dirty="0"/>
          </a:p>
        </p:txBody>
      </p:sp>
      <p:sp>
        <p:nvSpPr>
          <p:cNvPr id="23" name="Text 21"/>
          <p:cNvSpPr/>
          <p:nvPr/>
        </p:nvSpPr>
        <p:spPr>
          <a:xfrm>
            <a:off x="4297680" y="3200400"/>
            <a:ext cx="7178040" cy="566928"/>
          </a:xfrm>
          <a:prstGeom prst="rect">
            <a:avLst/>
          </a:prstGeom>
          <a:noFill/>
          <a:ln/>
        </p:spPr>
        <p:txBody>
          <a:bodyPr wrap="square" lIns="0" tIns="0" rIns="0" bIns="0" rtlCol="0" anchor="ctr"/>
          <a:lstStyle/>
          <a:p>
            <a:pPr indent="0" marL="0">
              <a:buNone/>
            </a:pPr>
            <a:r>
              <a:rPr lang="en-US" sz="1300" dirty="0">
                <a:solidFill>
                  <a:srgbClr val="4A554C"/>
                </a:solidFill>
                <a:latin typeface="Arial" pitchFamily="34" charset="0"/>
                <a:ea typeface="Arial" pitchFamily="34" charset="-122"/>
                <a:cs typeface="Arial" pitchFamily="34" charset="-120"/>
              </a:rPr>
              <a:t>One lunch. Sort. Count. Graph. Choose one change for two weeks.</a:t>
            </a:r>
            <a:endParaRPr lang="en-US" sz="1300" dirty="0"/>
          </a:p>
        </p:txBody>
      </p:sp>
      <p:sp>
        <p:nvSpPr>
          <p:cNvPr id="24" name="Shape 22"/>
          <p:cNvSpPr/>
          <p:nvPr/>
        </p:nvSpPr>
        <p:spPr>
          <a:xfrm>
            <a:off x="502920" y="3767328"/>
            <a:ext cx="11183112" cy="566928"/>
          </a:xfrm>
          <a:prstGeom prst="rect">
            <a:avLst/>
          </a:prstGeom>
          <a:solidFill>
            <a:srgbClr val="FFFBF3"/>
          </a:solidFill>
          <a:ln/>
        </p:spPr>
        <p:txBody>
          <a:bodyPr/>
          <a:p/>
        </p:txBody>
      </p:sp>
      <p:sp>
        <p:nvSpPr>
          <p:cNvPr id="25" name="Text 23"/>
          <p:cNvSpPr/>
          <p:nvPr/>
        </p:nvSpPr>
        <p:spPr>
          <a:xfrm>
            <a:off x="640080" y="3767328"/>
            <a:ext cx="1097280" cy="566928"/>
          </a:xfrm>
          <a:prstGeom prst="rect">
            <a:avLst/>
          </a:prstGeom>
          <a:noFill/>
          <a:ln/>
        </p:spPr>
        <p:txBody>
          <a:bodyPr wrap="square" lIns="0" tIns="0" rIns="0" bIns="0" rtlCol="0" anchor="ctr"/>
          <a:lstStyle/>
          <a:p>
            <a:pPr indent="0" marL="0">
              <a:buNone/>
            </a:pPr>
            <a:r>
              <a:rPr lang="en-US" sz="1300" b="1" dirty="0">
                <a:solidFill>
                  <a:srgbClr val="1B3A2A"/>
                </a:solidFill>
                <a:latin typeface="Arial" pitchFamily="34" charset="0"/>
                <a:ea typeface="Arial" pitchFamily="34" charset="-122"/>
                <a:cs typeface="Arial" pitchFamily="34" charset="-120"/>
              </a:rPr>
              <a:t>3–5</a:t>
            </a:r>
            <a:endParaRPr lang="en-US" sz="1300" dirty="0"/>
          </a:p>
        </p:txBody>
      </p:sp>
      <p:sp>
        <p:nvSpPr>
          <p:cNvPr id="26" name="Text 24"/>
          <p:cNvSpPr/>
          <p:nvPr/>
        </p:nvSpPr>
        <p:spPr>
          <a:xfrm>
            <a:off x="1828800" y="3767328"/>
            <a:ext cx="2377440" cy="566928"/>
          </a:xfrm>
          <a:prstGeom prst="rect">
            <a:avLst/>
          </a:prstGeom>
          <a:noFill/>
          <a:ln/>
        </p:spPr>
        <p:txBody>
          <a:bodyPr wrap="square" lIns="0" tIns="0" rIns="0" bIns="0" rtlCol="0" anchor="ctr"/>
          <a:lstStyle/>
          <a:p>
            <a:pPr indent="0" marL="0">
              <a:buNone/>
            </a:pPr>
            <a:r>
              <a:rPr lang="en-US" sz="1400" dirty="0">
                <a:solidFill>
                  <a:srgbClr val="1F2A24"/>
                </a:solidFill>
                <a:latin typeface="Arial" pitchFamily="34" charset="0"/>
                <a:ea typeface="Arial" pitchFamily="34" charset="-122"/>
                <a:cs typeface="Arial" pitchFamily="34" charset="-120"/>
              </a:rPr>
              <a:t>Living Water map</a:t>
            </a:r>
            <a:endParaRPr lang="en-US" sz="1400" dirty="0"/>
          </a:p>
        </p:txBody>
      </p:sp>
      <p:sp>
        <p:nvSpPr>
          <p:cNvPr id="27" name="Text 25"/>
          <p:cNvSpPr/>
          <p:nvPr/>
        </p:nvSpPr>
        <p:spPr>
          <a:xfrm>
            <a:off x="4297680" y="3767328"/>
            <a:ext cx="7178040" cy="566928"/>
          </a:xfrm>
          <a:prstGeom prst="rect">
            <a:avLst/>
          </a:prstGeom>
          <a:noFill/>
          <a:ln/>
        </p:spPr>
        <p:txBody>
          <a:bodyPr wrap="square" lIns="0" tIns="0" rIns="0" bIns="0" rtlCol="0" anchor="ctr"/>
          <a:lstStyle/>
          <a:p>
            <a:pPr indent="0" marL="0">
              <a:buNone/>
            </a:pPr>
            <a:r>
              <a:rPr lang="en-US" sz="1300" dirty="0">
                <a:solidFill>
                  <a:srgbClr val="4A554C"/>
                </a:solidFill>
                <a:latin typeface="Arial" pitchFamily="34" charset="0"/>
                <a:ea typeface="Arial" pitchFamily="34" charset="-122"/>
                <a:cs typeface="Arial" pitchFamily="34" charset="-120"/>
              </a:rPr>
              <a:t>Trace school water. Interview facilities. Propose one saving habit.</a:t>
            </a:r>
            <a:endParaRPr lang="en-US" sz="1300" dirty="0"/>
          </a:p>
        </p:txBody>
      </p:sp>
      <p:sp>
        <p:nvSpPr>
          <p:cNvPr id="28" name="Shape 26"/>
          <p:cNvSpPr/>
          <p:nvPr/>
        </p:nvSpPr>
        <p:spPr>
          <a:xfrm>
            <a:off x="502920" y="4334256"/>
            <a:ext cx="11183112" cy="566928"/>
          </a:xfrm>
          <a:prstGeom prst="rect">
            <a:avLst/>
          </a:prstGeom>
          <a:solidFill>
            <a:srgbClr val="EBE4D4"/>
          </a:solidFill>
          <a:ln/>
        </p:spPr>
        <p:txBody>
          <a:bodyPr/>
          <a:p/>
        </p:txBody>
      </p:sp>
      <p:sp>
        <p:nvSpPr>
          <p:cNvPr id="29" name="Text 27"/>
          <p:cNvSpPr/>
          <p:nvPr/>
        </p:nvSpPr>
        <p:spPr>
          <a:xfrm>
            <a:off x="640080" y="4334256"/>
            <a:ext cx="1097280" cy="566928"/>
          </a:xfrm>
          <a:prstGeom prst="rect">
            <a:avLst/>
          </a:prstGeom>
          <a:noFill/>
          <a:ln/>
        </p:spPr>
        <p:txBody>
          <a:bodyPr wrap="square" lIns="0" tIns="0" rIns="0" bIns="0" rtlCol="0" anchor="ctr"/>
          <a:lstStyle/>
          <a:p>
            <a:pPr indent="0" marL="0">
              <a:buNone/>
            </a:pPr>
            <a:r>
              <a:rPr lang="en-US" sz="1300" b="1" dirty="0">
                <a:solidFill>
                  <a:srgbClr val="1B3A2A"/>
                </a:solidFill>
                <a:latin typeface="Arial" pitchFamily="34" charset="0"/>
                <a:ea typeface="Arial" pitchFamily="34" charset="-122"/>
                <a:cs typeface="Arial" pitchFamily="34" charset="-120"/>
              </a:rPr>
              <a:t>3–5</a:t>
            </a:r>
            <a:endParaRPr lang="en-US" sz="1300" dirty="0"/>
          </a:p>
        </p:txBody>
      </p:sp>
      <p:sp>
        <p:nvSpPr>
          <p:cNvPr id="30" name="Text 28"/>
          <p:cNvSpPr/>
          <p:nvPr/>
        </p:nvSpPr>
        <p:spPr>
          <a:xfrm>
            <a:off x="1828800" y="4334256"/>
            <a:ext cx="2377440" cy="566928"/>
          </a:xfrm>
          <a:prstGeom prst="rect">
            <a:avLst/>
          </a:prstGeom>
          <a:noFill/>
          <a:ln/>
        </p:spPr>
        <p:txBody>
          <a:bodyPr wrap="square" lIns="0" tIns="0" rIns="0" bIns="0" rtlCol="0" anchor="ctr"/>
          <a:lstStyle/>
          <a:p>
            <a:pPr indent="0" marL="0">
              <a:buNone/>
            </a:pPr>
            <a:r>
              <a:rPr lang="en-US" sz="1400" dirty="0">
                <a:solidFill>
                  <a:srgbClr val="1F2A24"/>
                </a:solidFill>
                <a:latin typeface="Arial" pitchFamily="34" charset="0"/>
                <a:ea typeface="Arial" pitchFamily="34" charset="-122"/>
                <a:cs typeface="Arial" pitchFamily="34" charset="-120"/>
              </a:rPr>
              <a:t>Song booklet</a:t>
            </a:r>
            <a:endParaRPr lang="en-US" sz="1400" dirty="0"/>
          </a:p>
        </p:txBody>
      </p:sp>
      <p:sp>
        <p:nvSpPr>
          <p:cNvPr id="31" name="Text 29"/>
          <p:cNvSpPr/>
          <p:nvPr/>
        </p:nvSpPr>
        <p:spPr>
          <a:xfrm>
            <a:off x="4297680" y="4334256"/>
            <a:ext cx="7178040" cy="566928"/>
          </a:xfrm>
          <a:prstGeom prst="rect">
            <a:avLst/>
          </a:prstGeom>
          <a:noFill/>
          <a:ln/>
        </p:spPr>
        <p:txBody>
          <a:bodyPr wrap="square" lIns="0" tIns="0" rIns="0" bIns="0" rtlCol="0" anchor="ctr"/>
          <a:lstStyle/>
          <a:p>
            <a:pPr indent="0" marL="0">
              <a:buNone/>
            </a:pPr>
            <a:r>
              <a:rPr lang="en-US" sz="1300" dirty="0">
                <a:solidFill>
                  <a:srgbClr val="4A554C"/>
                </a:solidFill>
                <a:latin typeface="Arial" pitchFamily="34" charset="0"/>
                <a:ea typeface="Arial" pitchFamily="34" charset="-122"/>
                <a:cs typeface="Arial" pitchFamily="34" charset="-120"/>
              </a:rPr>
              <a:t>Each child illustrates one stanza. Bind as a class prayer book.</a:t>
            </a:r>
            <a:endParaRPr lang="en-US" sz="1300" dirty="0"/>
          </a:p>
        </p:txBody>
      </p:sp>
      <p:sp>
        <p:nvSpPr>
          <p:cNvPr id="32" name="Shape 30"/>
          <p:cNvSpPr/>
          <p:nvPr/>
        </p:nvSpPr>
        <p:spPr>
          <a:xfrm>
            <a:off x="502920" y="4901184"/>
            <a:ext cx="11183112" cy="566928"/>
          </a:xfrm>
          <a:prstGeom prst="rect">
            <a:avLst/>
          </a:prstGeom>
          <a:solidFill>
            <a:srgbClr val="FFFBF3"/>
          </a:solidFill>
          <a:ln/>
        </p:spPr>
        <p:txBody>
          <a:bodyPr/>
          <a:p/>
        </p:txBody>
      </p:sp>
      <p:sp>
        <p:nvSpPr>
          <p:cNvPr id="33" name="Text 31"/>
          <p:cNvSpPr/>
          <p:nvPr/>
        </p:nvSpPr>
        <p:spPr>
          <a:xfrm>
            <a:off x="640080" y="4901184"/>
            <a:ext cx="1097280" cy="566928"/>
          </a:xfrm>
          <a:prstGeom prst="rect">
            <a:avLst/>
          </a:prstGeom>
          <a:noFill/>
          <a:ln/>
        </p:spPr>
        <p:txBody>
          <a:bodyPr wrap="square" lIns="0" tIns="0" rIns="0" bIns="0" rtlCol="0" anchor="ctr"/>
          <a:lstStyle/>
          <a:p>
            <a:pPr indent="0" marL="0">
              <a:buNone/>
            </a:pPr>
            <a:r>
              <a:rPr lang="en-US" sz="1300" b="1" dirty="0">
                <a:solidFill>
                  <a:srgbClr val="1B3A2A"/>
                </a:solidFill>
                <a:latin typeface="Arial" pitchFamily="34" charset="0"/>
                <a:ea typeface="Arial" pitchFamily="34" charset="-122"/>
                <a:cs typeface="Arial" pitchFamily="34" charset="-120"/>
              </a:rPr>
              <a:t>K–5</a:t>
            </a:r>
            <a:endParaRPr lang="en-US" sz="1300" dirty="0"/>
          </a:p>
        </p:txBody>
      </p:sp>
      <p:sp>
        <p:nvSpPr>
          <p:cNvPr id="34" name="Text 32"/>
          <p:cNvSpPr/>
          <p:nvPr/>
        </p:nvSpPr>
        <p:spPr>
          <a:xfrm>
            <a:off x="1828800" y="4901184"/>
            <a:ext cx="2377440" cy="566928"/>
          </a:xfrm>
          <a:prstGeom prst="rect">
            <a:avLst/>
          </a:prstGeom>
          <a:noFill/>
          <a:ln/>
        </p:spPr>
        <p:txBody>
          <a:bodyPr wrap="square" lIns="0" tIns="0" rIns="0" bIns="0" rtlCol="0" anchor="ctr"/>
          <a:lstStyle/>
          <a:p>
            <a:pPr indent="0" marL="0">
              <a:buNone/>
            </a:pPr>
            <a:r>
              <a:rPr lang="en-US" sz="1400" dirty="0">
                <a:solidFill>
                  <a:srgbClr val="1F2A24"/>
                </a:solidFill>
                <a:latin typeface="Arial" pitchFamily="34" charset="0"/>
                <a:ea typeface="Arial" pitchFamily="34" charset="-122"/>
                <a:cs typeface="Arial" pitchFamily="34" charset="-120"/>
              </a:rPr>
              <a:t>Steward of the week</a:t>
            </a:r>
            <a:endParaRPr lang="en-US" sz="1400" dirty="0"/>
          </a:p>
        </p:txBody>
      </p:sp>
      <p:sp>
        <p:nvSpPr>
          <p:cNvPr id="35" name="Text 33"/>
          <p:cNvSpPr/>
          <p:nvPr/>
        </p:nvSpPr>
        <p:spPr>
          <a:xfrm>
            <a:off x="4297680" y="4901184"/>
            <a:ext cx="7178040" cy="566928"/>
          </a:xfrm>
          <a:prstGeom prst="rect">
            <a:avLst/>
          </a:prstGeom>
          <a:noFill/>
          <a:ln/>
        </p:spPr>
        <p:txBody>
          <a:bodyPr wrap="square" lIns="0" tIns="0" rIns="0" bIns="0" rtlCol="0" anchor="ctr"/>
          <a:lstStyle/>
          <a:p>
            <a:pPr indent="0" marL="0">
              <a:buNone/>
            </a:pPr>
            <a:r>
              <a:rPr lang="en-US" sz="1300" dirty="0">
                <a:solidFill>
                  <a:srgbClr val="4A554C"/>
                </a:solidFill>
                <a:latin typeface="Arial" pitchFamily="34" charset="0"/>
                <a:ea typeface="Arial" pitchFamily="34" charset="-122"/>
                <a:cs typeface="Arial" pitchFamily="34" charset="-120"/>
              </a:rPr>
              <a:t>A real job, a badge, a 30-second report on Friday.</a:t>
            </a:r>
            <a:endParaRPr lang="en-US" sz="1300" dirty="0"/>
          </a:p>
        </p:txBody>
      </p:sp>
      <p:sp>
        <p:nvSpPr>
          <p:cNvPr id="36" name="Shape 34"/>
          <p:cNvSpPr/>
          <p:nvPr/>
        </p:nvSpPr>
        <p:spPr>
          <a:xfrm>
            <a:off x="502920" y="5468112"/>
            <a:ext cx="11183112" cy="566928"/>
          </a:xfrm>
          <a:prstGeom prst="rect">
            <a:avLst/>
          </a:prstGeom>
          <a:solidFill>
            <a:srgbClr val="EBE4D4"/>
          </a:solidFill>
          <a:ln/>
        </p:spPr>
        <p:txBody>
          <a:bodyPr/>
          <a:p/>
        </p:txBody>
      </p:sp>
      <p:sp>
        <p:nvSpPr>
          <p:cNvPr id="37" name="Text 35"/>
          <p:cNvSpPr/>
          <p:nvPr/>
        </p:nvSpPr>
        <p:spPr>
          <a:xfrm>
            <a:off x="640080" y="5468112"/>
            <a:ext cx="1097280" cy="566928"/>
          </a:xfrm>
          <a:prstGeom prst="rect">
            <a:avLst/>
          </a:prstGeom>
          <a:noFill/>
          <a:ln/>
        </p:spPr>
        <p:txBody>
          <a:bodyPr wrap="square" lIns="0" tIns="0" rIns="0" bIns="0" rtlCol="0" anchor="ctr"/>
          <a:lstStyle/>
          <a:p>
            <a:pPr indent="0" marL="0">
              <a:buNone/>
            </a:pPr>
            <a:r>
              <a:rPr lang="en-US" sz="1300" b="1" dirty="0">
                <a:solidFill>
                  <a:srgbClr val="1B3A2A"/>
                </a:solidFill>
                <a:latin typeface="Arial" pitchFamily="34" charset="0"/>
                <a:ea typeface="Arial" pitchFamily="34" charset="-122"/>
                <a:cs typeface="Arial" pitchFamily="34" charset="-120"/>
              </a:rPr>
              <a:t>K–5</a:t>
            </a:r>
            <a:endParaRPr lang="en-US" sz="1300" dirty="0"/>
          </a:p>
        </p:txBody>
      </p:sp>
      <p:sp>
        <p:nvSpPr>
          <p:cNvPr id="38" name="Text 36"/>
          <p:cNvSpPr/>
          <p:nvPr/>
        </p:nvSpPr>
        <p:spPr>
          <a:xfrm>
            <a:off x="1828800" y="5468112"/>
            <a:ext cx="2377440" cy="566928"/>
          </a:xfrm>
          <a:prstGeom prst="rect">
            <a:avLst/>
          </a:prstGeom>
          <a:noFill/>
          <a:ln/>
        </p:spPr>
        <p:txBody>
          <a:bodyPr wrap="square" lIns="0" tIns="0" rIns="0" bIns="0" rtlCol="0" anchor="ctr"/>
          <a:lstStyle/>
          <a:p>
            <a:pPr indent="0" marL="0">
              <a:buNone/>
            </a:pPr>
            <a:r>
              <a:rPr lang="en-US" sz="1400" dirty="0">
                <a:solidFill>
                  <a:srgbClr val="1F2A24"/>
                </a:solidFill>
                <a:latin typeface="Arial" pitchFamily="34" charset="0"/>
                <a:ea typeface="Arial" pitchFamily="34" charset="-122"/>
                <a:cs typeface="Arial" pitchFamily="34" charset="-120"/>
              </a:rPr>
              <a:t>Outdoor Rosary</a:t>
            </a:r>
            <a:endParaRPr lang="en-US" sz="1400" dirty="0"/>
          </a:p>
        </p:txBody>
      </p:sp>
      <p:sp>
        <p:nvSpPr>
          <p:cNvPr id="39" name="Text 37"/>
          <p:cNvSpPr/>
          <p:nvPr/>
        </p:nvSpPr>
        <p:spPr>
          <a:xfrm>
            <a:off x="4297680" y="5468112"/>
            <a:ext cx="7178040" cy="566928"/>
          </a:xfrm>
          <a:prstGeom prst="rect">
            <a:avLst/>
          </a:prstGeom>
          <a:noFill/>
          <a:ln/>
        </p:spPr>
        <p:txBody>
          <a:bodyPr wrap="square" lIns="0" tIns="0" rIns="0" bIns="0" rtlCol="0" anchor="ctr"/>
          <a:lstStyle/>
          <a:p>
            <a:pPr indent="0" marL="0">
              <a:buNone/>
            </a:pPr>
            <a:r>
              <a:rPr lang="en-US" sz="1300" dirty="0">
                <a:solidFill>
                  <a:srgbClr val="4A554C"/>
                </a:solidFill>
                <a:latin typeface="Arial" pitchFamily="34" charset="0"/>
                <a:ea typeface="Arial" pitchFamily="34" charset="-122"/>
                <a:cs typeface="Arial" pitchFamily="34" charset="-120"/>
              </a:rPr>
              <a:t>One decade. Intention: our common home and children who go without water.</a:t>
            </a:r>
            <a:endParaRPr lang="en-US" sz="1300" dirty="0"/>
          </a:p>
        </p:txBody>
      </p:sp>
      <p:sp>
        <p:nvSpPr>
          <p:cNvPr id="40" name="Shape 38"/>
          <p:cNvSpPr/>
          <p:nvPr/>
        </p:nvSpPr>
        <p:spPr>
          <a:xfrm>
            <a:off x="502920" y="6510528"/>
            <a:ext cx="11183112" cy="0"/>
          </a:xfrm>
          <a:prstGeom prst="line">
            <a:avLst/>
          </a:prstGeom>
          <a:noFill/>
          <a:ln w="7620">
            <a:solidFill>
              <a:srgbClr val="C9C0A8"/>
            </a:solidFill>
            <a:prstDash val="solid"/>
          </a:ln>
        </p:spPr>
        <p:txBody>
          <a:bodyPr/>
          <a:p/>
        </p:txBody>
      </p:sp>
      <p:sp>
        <p:nvSpPr>
          <p:cNvPr id="41" name="Text 39"/>
          <p:cNvSpPr/>
          <p:nvPr/>
        </p:nvSpPr>
        <p:spPr>
          <a:xfrm>
            <a:off x="502920" y="6547104"/>
            <a:ext cx="8412480" cy="237744"/>
          </a:xfrm>
          <a:prstGeom prst="rect">
            <a:avLst/>
          </a:prstGeom>
          <a:noFill/>
          <a:ln/>
        </p:spPr>
        <p:txBody>
          <a:bodyPr wrap="square" lIns="0" tIns="0" rIns="0" bIns="0" rtlCol="0" anchor="ctr"/>
          <a:lstStyle/>
          <a:p>
            <a:pPr indent="0" marL="0">
              <a:buNone/>
            </a:pPr>
            <a:r>
              <a:rPr lang="en-US" sz="900" spc="120" kern="0" dirty="0">
                <a:solidFill>
                  <a:srgbClr val="6B736C"/>
                </a:solidFill>
                <a:latin typeface="Arial" pitchFamily="34" charset="0"/>
                <a:ea typeface="Arial" pitchFamily="34" charset="-122"/>
                <a:cs typeface="Arial" pitchFamily="34" charset="-120"/>
              </a:rPr>
              <a:t>CREATION CARE IN THE CLASSROOM  ·  K–5 CATHOLIC TEACHERS</a:t>
            </a:r>
            <a:endParaRPr lang="en-US" sz="900" dirty="0"/>
          </a:p>
        </p:txBody>
      </p:sp>
      <p:sp>
        <p:nvSpPr>
          <p:cNvPr id="42" name="Text 40"/>
          <p:cNvSpPr/>
          <p:nvPr/>
        </p:nvSpPr>
        <p:spPr>
          <a:xfrm>
            <a:off x="9509760" y="6547104"/>
            <a:ext cx="2176272" cy="237744"/>
          </a:xfrm>
          <a:prstGeom prst="rect">
            <a:avLst/>
          </a:prstGeom>
          <a:noFill/>
          <a:ln/>
        </p:spPr>
        <p:txBody>
          <a:bodyPr wrap="square" lIns="0" tIns="0" rIns="0" bIns="0" rtlCol="0" anchor="ctr"/>
          <a:lstStyle/>
          <a:p>
            <a:pPr algn="r" indent="0" marL="0">
              <a:buNone/>
            </a:pPr>
            <a:r>
              <a:rPr lang="en-US" sz="900" dirty="0">
                <a:solidFill>
                  <a:srgbClr val="6B736C"/>
                </a:solidFill>
                <a:latin typeface="Arial" pitchFamily="34" charset="0"/>
                <a:ea typeface="Arial" pitchFamily="34" charset="-122"/>
                <a:cs typeface="Arial" pitchFamily="34" charset="-120"/>
              </a:rPr>
              <a:t>22  /  30</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1">
    <p:bg>
      <p:bgPr>
        <a:solidFill>
          <a:srgbClr val="F4EFE2"/>
        </a:solidFill>
      </p:bgPr>
    </p:bg>
    <p:spTree>
      <p:nvGrpSpPr>
        <p:cNvPr id="1" name=""/>
        <p:cNvGrpSpPr/>
        <p:nvPr/>
      </p:nvGrpSpPr>
      <p:grpSpPr>
        <a:xfrm>
          <a:off x="0" y="0"/>
          <a:ext cx="0" cy="0"/>
          <a:chOff x="0" y="0"/>
          <a:chExt cx="0" cy="0"/>
        </a:xfrm>
      </p:grpSpPr>
      <p:sp>
        <p:nvSpPr>
          <p:cNvPr id="2" name="Text 0"/>
          <p:cNvSpPr/>
          <p:nvPr/>
        </p:nvSpPr>
        <p:spPr>
          <a:xfrm>
            <a:off x="502920" y="256032"/>
            <a:ext cx="11155680" cy="219456"/>
          </a:xfrm>
          <a:prstGeom prst="rect">
            <a:avLst/>
          </a:prstGeom>
          <a:noFill/>
          <a:ln/>
        </p:spPr>
        <p:txBody>
          <a:bodyPr wrap="square" lIns="0" tIns="0" rIns="0" bIns="0" rtlCol="0" anchor="ctr"/>
          <a:lstStyle/>
          <a:p>
            <a:pPr indent="0" marL="0">
              <a:buNone/>
            </a:pPr>
            <a:r>
              <a:rPr lang="en-US" sz="1100" b="1" spc="220" kern="0" dirty="0">
                <a:solidFill>
                  <a:srgbClr val="4F7A5C"/>
                </a:solidFill>
                <a:latin typeface="Arial" pitchFamily="34" charset="0"/>
                <a:ea typeface="Arial" pitchFamily="34" charset="-122"/>
                <a:cs typeface="Arial" pitchFamily="34" charset="-120"/>
              </a:rPr>
              <a:t>20  ·  START SMALL, FINISH THE MONTH</a:t>
            </a:r>
            <a:endParaRPr lang="en-US" sz="1100" dirty="0"/>
          </a:p>
        </p:txBody>
      </p:sp>
      <p:sp>
        <p:nvSpPr>
          <p:cNvPr id="3" name="Text 1"/>
          <p:cNvSpPr/>
          <p:nvPr/>
        </p:nvSpPr>
        <p:spPr>
          <a:xfrm>
            <a:off x="502920" y="475488"/>
            <a:ext cx="11155680" cy="475488"/>
          </a:xfrm>
          <a:prstGeom prst="rect">
            <a:avLst/>
          </a:prstGeom>
          <a:noFill/>
          <a:ln/>
        </p:spPr>
        <p:txBody>
          <a:bodyPr wrap="square" lIns="0" tIns="0" rIns="0" bIns="0" rtlCol="0" anchor="ctr"/>
          <a:lstStyle/>
          <a:p>
            <a:pPr indent="0" marL="0">
              <a:buNone/>
            </a:pPr>
            <a:r>
              <a:rPr lang="en-US" sz="2600" dirty="0">
                <a:solidFill>
                  <a:srgbClr val="1B3A2A"/>
                </a:solidFill>
                <a:latin typeface="Georgia" pitchFamily="34" charset="0"/>
                <a:ea typeface="Georgia" pitchFamily="34" charset="-122"/>
                <a:cs typeface="Georgia" pitchFamily="34" charset="-120"/>
              </a:rPr>
              <a:t>A 30-day classroom plan</a:t>
            </a:r>
            <a:endParaRPr lang="en-US" sz="2600" dirty="0"/>
          </a:p>
        </p:txBody>
      </p:sp>
      <p:sp>
        <p:nvSpPr>
          <p:cNvPr id="4" name="Shape 2"/>
          <p:cNvSpPr/>
          <p:nvPr/>
        </p:nvSpPr>
        <p:spPr>
          <a:xfrm>
            <a:off x="502920" y="1115568"/>
            <a:ext cx="11183112" cy="1097280"/>
          </a:xfrm>
          <a:prstGeom prst="roundRect">
            <a:avLst>
              <a:gd name="adj" fmla="val 5000"/>
            </a:avLst>
          </a:prstGeom>
          <a:solidFill>
            <a:srgbClr val="FFFBF3"/>
          </a:solidFill>
          <a:ln/>
        </p:spPr>
        <p:txBody>
          <a:bodyPr/>
          <a:p/>
        </p:txBody>
      </p:sp>
      <p:sp>
        <p:nvSpPr>
          <p:cNvPr id="5" name="Shape 3"/>
          <p:cNvSpPr/>
          <p:nvPr/>
        </p:nvSpPr>
        <p:spPr>
          <a:xfrm>
            <a:off x="685800" y="1371600"/>
            <a:ext cx="1737360" cy="585216"/>
          </a:xfrm>
          <a:prstGeom prst="roundRect">
            <a:avLst>
              <a:gd name="adj" fmla="val 9375"/>
            </a:avLst>
          </a:prstGeom>
          <a:solidFill>
            <a:srgbClr val="1B3A2A"/>
          </a:solidFill>
          <a:ln/>
        </p:spPr>
        <p:txBody>
          <a:bodyPr/>
          <a:p/>
        </p:txBody>
      </p:sp>
      <p:sp>
        <p:nvSpPr>
          <p:cNvPr id="6" name="Text 4"/>
          <p:cNvSpPr/>
          <p:nvPr/>
        </p:nvSpPr>
        <p:spPr>
          <a:xfrm>
            <a:off x="685800" y="1371600"/>
            <a:ext cx="1737360" cy="585216"/>
          </a:xfrm>
          <a:prstGeom prst="rect">
            <a:avLst/>
          </a:prstGeom>
          <a:noFill/>
          <a:ln/>
        </p:spPr>
        <p:txBody>
          <a:bodyPr wrap="square" lIns="0" tIns="0" rIns="0" bIns="0" rtlCol="0" anchor="ctr"/>
          <a:lstStyle/>
          <a:p>
            <a:pPr algn="ctr" indent="0" marL="0">
              <a:buNone/>
            </a:pPr>
            <a:r>
              <a:rPr lang="en-US" sz="1300" b="1" dirty="0">
                <a:solidFill>
                  <a:srgbClr val="F4EFE2"/>
                </a:solidFill>
                <a:latin typeface="Arial" pitchFamily="34" charset="0"/>
                <a:ea typeface="Arial" pitchFamily="34" charset="-122"/>
                <a:cs typeface="Arial" pitchFamily="34" charset="-120"/>
              </a:rPr>
              <a:t>Days 1–7</a:t>
            </a:r>
            <a:endParaRPr lang="en-US" sz="1300" dirty="0"/>
          </a:p>
        </p:txBody>
      </p:sp>
      <p:sp>
        <p:nvSpPr>
          <p:cNvPr id="7" name="Text 5"/>
          <p:cNvSpPr/>
          <p:nvPr/>
        </p:nvSpPr>
        <p:spPr>
          <a:xfrm>
            <a:off x="2651760" y="1280160"/>
            <a:ext cx="2194560" cy="768096"/>
          </a:xfrm>
          <a:prstGeom prst="rect">
            <a:avLst/>
          </a:prstGeom>
          <a:noFill/>
          <a:ln/>
        </p:spPr>
        <p:txBody>
          <a:bodyPr wrap="square" lIns="0" tIns="0" rIns="0" bIns="0" rtlCol="0" anchor="ctr"/>
          <a:lstStyle/>
          <a:p>
            <a:pPr indent="0" marL="0">
              <a:buNone/>
            </a:pPr>
            <a:r>
              <a:rPr lang="en-US" sz="2200" dirty="0">
                <a:solidFill>
                  <a:srgbClr val="1B3A2A"/>
                </a:solidFill>
                <a:latin typeface="Georgia" pitchFamily="34" charset="0"/>
                <a:ea typeface="Georgia" pitchFamily="34" charset="-122"/>
                <a:cs typeface="Georgia" pitchFamily="34" charset="-120"/>
              </a:rPr>
              <a:t>Wonder</a:t>
            </a:r>
            <a:endParaRPr lang="en-US" sz="2200" dirty="0"/>
          </a:p>
        </p:txBody>
      </p:sp>
      <p:sp>
        <p:nvSpPr>
          <p:cNvPr id="8" name="Text 6"/>
          <p:cNvSpPr/>
          <p:nvPr/>
        </p:nvSpPr>
        <p:spPr>
          <a:xfrm>
            <a:off x="4937760" y="1280160"/>
            <a:ext cx="6492240" cy="768096"/>
          </a:xfrm>
          <a:prstGeom prst="rect">
            <a:avLst/>
          </a:prstGeom>
          <a:noFill/>
          <a:ln/>
        </p:spPr>
        <p:txBody>
          <a:bodyPr wrap="square" lIns="0" tIns="0" rIns="0" bIns="0" rtlCol="0" anchor="ctr"/>
          <a:lstStyle/>
          <a:p>
            <a:pPr indent="0" marL="0">
              <a:buNone/>
            </a:pPr>
            <a:r>
              <a:rPr lang="en-US" sz="1600" dirty="0">
                <a:solidFill>
                  <a:srgbClr val="4A554C"/>
                </a:solidFill>
                <a:latin typeface="Arial" pitchFamily="34" charset="0"/>
                <a:ea typeface="Arial" pitchFamily="34" charset="-122"/>
                <a:cs typeface="Arial" pitchFamily="34" charset="-120"/>
              </a:rPr>
              <a:t>Pray the verse daily. Take two short noticing walks. Start a class creation shelf.</a:t>
            </a:r>
            <a:endParaRPr lang="en-US" sz="1600" dirty="0"/>
          </a:p>
        </p:txBody>
      </p:sp>
      <p:sp>
        <p:nvSpPr>
          <p:cNvPr id="9" name="Shape 7"/>
          <p:cNvSpPr/>
          <p:nvPr/>
        </p:nvSpPr>
        <p:spPr>
          <a:xfrm>
            <a:off x="502920" y="2322576"/>
            <a:ext cx="11183112" cy="1097280"/>
          </a:xfrm>
          <a:prstGeom prst="roundRect">
            <a:avLst>
              <a:gd name="adj" fmla="val 5000"/>
            </a:avLst>
          </a:prstGeom>
          <a:solidFill>
            <a:srgbClr val="FFFBF3"/>
          </a:solidFill>
          <a:ln/>
        </p:spPr>
        <p:txBody>
          <a:bodyPr/>
          <a:p/>
        </p:txBody>
      </p:sp>
      <p:sp>
        <p:nvSpPr>
          <p:cNvPr id="10" name="Shape 8"/>
          <p:cNvSpPr/>
          <p:nvPr/>
        </p:nvSpPr>
        <p:spPr>
          <a:xfrm>
            <a:off x="685800" y="2578608"/>
            <a:ext cx="1737360" cy="585216"/>
          </a:xfrm>
          <a:prstGeom prst="roundRect">
            <a:avLst>
              <a:gd name="adj" fmla="val 9375"/>
            </a:avLst>
          </a:prstGeom>
          <a:solidFill>
            <a:srgbClr val="1B3A2A"/>
          </a:solidFill>
          <a:ln/>
        </p:spPr>
        <p:txBody>
          <a:bodyPr/>
          <a:p/>
        </p:txBody>
      </p:sp>
      <p:sp>
        <p:nvSpPr>
          <p:cNvPr id="11" name="Text 9"/>
          <p:cNvSpPr/>
          <p:nvPr/>
        </p:nvSpPr>
        <p:spPr>
          <a:xfrm>
            <a:off x="685800" y="2578608"/>
            <a:ext cx="1737360" cy="585216"/>
          </a:xfrm>
          <a:prstGeom prst="rect">
            <a:avLst/>
          </a:prstGeom>
          <a:noFill/>
          <a:ln/>
        </p:spPr>
        <p:txBody>
          <a:bodyPr wrap="square" lIns="0" tIns="0" rIns="0" bIns="0" rtlCol="0" anchor="ctr"/>
          <a:lstStyle/>
          <a:p>
            <a:pPr algn="ctr" indent="0" marL="0">
              <a:buNone/>
            </a:pPr>
            <a:r>
              <a:rPr lang="en-US" sz="1300" b="1" dirty="0">
                <a:solidFill>
                  <a:srgbClr val="F4EFE2"/>
                </a:solidFill>
                <a:latin typeface="Arial" pitchFamily="34" charset="0"/>
                <a:ea typeface="Arial" pitchFamily="34" charset="-122"/>
                <a:cs typeface="Arial" pitchFamily="34" charset="-120"/>
              </a:rPr>
              <a:t>Days 8–14</a:t>
            </a:r>
            <a:endParaRPr lang="en-US" sz="1300" dirty="0"/>
          </a:p>
        </p:txBody>
      </p:sp>
      <p:sp>
        <p:nvSpPr>
          <p:cNvPr id="12" name="Text 10"/>
          <p:cNvSpPr/>
          <p:nvPr/>
        </p:nvSpPr>
        <p:spPr>
          <a:xfrm>
            <a:off x="2651760" y="2487168"/>
            <a:ext cx="2194560" cy="768096"/>
          </a:xfrm>
          <a:prstGeom prst="rect">
            <a:avLst/>
          </a:prstGeom>
          <a:noFill/>
          <a:ln/>
        </p:spPr>
        <p:txBody>
          <a:bodyPr wrap="square" lIns="0" tIns="0" rIns="0" bIns="0" rtlCol="0" anchor="ctr"/>
          <a:lstStyle/>
          <a:p>
            <a:pPr indent="0" marL="0">
              <a:buNone/>
            </a:pPr>
            <a:r>
              <a:rPr lang="en-US" sz="2200" dirty="0">
                <a:solidFill>
                  <a:srgbClr val="1B3A2A"/>
                </a:solidFill>
                <a:latin typeface="Georgia" pitchFamily="34" charset="0"/>
                <a:ea typeface="Georgia" pitchFamily="34" charset="-122"/>
                <a:cs typeface="Georgia" pitchFamily="34" charset="-120"/>
              </a:rPr>
              <a:t>Gratitude</a:t>
            </a:r>
            <a:endParaRPr lang="en-US" sz="2200" dirty="0"/>
          </a:p>
        </p:txBody>
      </p:sp>
      <p:sp>
        <p:nvSpPr>
          <p:cNvPr id="13" name="Text 11"/>
          <p:cNvSpPr/>
          <p:nvPr/>
        </p:nvSpPr>
        <p:spPr>
          <a:xfrm>
            <a:off x="4937760" y="2487168"/>
            <a:ext cx="6492240" cy="768096"/>
          </a:xfrm>
          <a:prstGeom prst="rect">
            <a:avLst/>
          </a:prstGeom>
          <a:noFill/>
          <a:ln/>
        </p:spPr>
        <p:txBody>
          <a:bodyPr wrap="square" lIns="0" tIns="0" rIns="0" bIns="0" rtlCol="0" anchor="ctr"/>
          <a:lstStyle/>
          <a:p>
            <a:pPr indent="0" marL="0">
              <a:buNone/>
            </a:pPr>
            <a:r>
              <a:rPr lang="en-US" sz="1600" dirty="0">
                <a:solidFill>
                  <a:srgbClr val="4A554C"/>
                </a:solidFill>
                <a:latin typeface="Arial" pitchFamily="34" charset="0"/>
                <a:ea typeface="Arial" pitchFamily="34" charset="-122"/>
                <a:cs typeface="Arial" pitchFamily="34" charset="-120"/>
              </a:rPr>
              <a:t>Children write or draw thank-yous. Bless the class plant. Send a family noticing card.</a:t>
            </a:r>
            <a:endParaRPr lang="en-US" sz="1600" dirty="0"/>
          </a:p>
        </p:txBody>
      </p:sp>
      <p:sp>
        <p:nvSpPr>
          <p:cNvPr id="14" name="Shape 12"/>
          <p:cNvSpPr/>
          <p:nvPr/>
        </p:nvSpPr>
        <p:spPr>
          <a:xfrm>
            <a:off x="502920" y="3529584"/>
            <a:ext cx="11183112" cy="1097280"/>
          </a:xfrm>
          <a:prstGeom prst="roundRect">
            <a:avLst>
              <a:gd name="adj" fmla="val 5000"/>
            </a:avLst>
          </a:prstGeom>
          <a:solidFill>
            <a:srgbClr val="FFFBF3"/>
          </a:solidFill>
          <a:ln/>
        </p:spPr>
        <p:txBody>
          <a:bodyPr/>
          <a:p/>
        </p:txBody>
      </p:sp>
      <p:sp>
        <p:nvSpPr>
          <p:cNvPr id="15" name="Shape 13"/>
          <p:cNvSpPr/>
          <p:nvPr/>
        </p:nvSpPr>
        <p:spPr>
          <a:xfrm>
            <a:off x="685800" y="3785616"/>
            <a:ext cx="1737360" cy="585216"/>
          </a:xfrm>
          <a:prstGeom prst="roundRect">
            <a:avLst>
              <a:gd name="adj" fmla="val 9375"/>
            </a:avLst>
          </a:prstGeom>
          <a:solidFill>
            <a:srgbClr val="1B3A2A"/>
          </a:solidFill>
          <a:ln/>
        </p:spPr>
        <p:txBody>
          <a:bodyPr/>
          <a:p/>
        </p:txBody>
      </p:sp>
      <p:sp>
        <p:nvSpPr>
          <p:cNvPr id="16" name="Text 14"/>
          <p:cNvSpPr/>
          <p:nvPr/>
        </p:nvSpPr>
        <p:spPr>
          <a:xfrm>
            <a:off x="685800" y="3785616"/>
            <a:ext cx="1737360" cy="585216"/>
          </a:xfrm>
          <a:prstGeom prst="rect">
            <a:avLst/>
          </a:prstGeom>
          <a:noFill/>
          <a:ln/>
        </p:spPr>
        <p:txBody>
          <a:bodyPr wrap="square" lIns="0" tIns="0" rIns="0" bIns="0" rtlCol="0" anchor="ctr"/>
          <a:lstStyle/>
          <a:p>
            <a:pPr algn="ctr" indent="0" marL="0">
              <a:buNone/>
            </a:pPr>
            <a:r>
              <a:rPr lang="en-US" sz="1300" b="1" dirty="0">
                <a:solidFill>
                  <a:srgbClr val="F4EFE2"/>
                </a:solidFill>
                <a:latin typeface="Arial" pitchFamily="34" charset="0"/>
                <a:ea typeface="Arial" pitchFamily="34" charset="-122"/>
                <a:cs typeface="Arial" pitchFamily="34" charset="-120"/>
              </a:rPr>
              <a:t>Days 15–21</a:t>
            </a:r>
            <a:endParaRPr lang="en-US" sz="1300" dirty="0"/>
          </a:p>
        </p:txBody>
      </p:sp>
      <p:sp>
        <p:nvSpPr>
          <p:cNvPr id="17" name="Text 15"/>
          <p:cNvSpPr/>
          <p:nvPr/>
        </p:nvSpPr>
        <p:spPr>
          <a:xfrm>
            <a:off x="2651760" y="3694176"/>
            <a:ext cx="2194560" cy="768096"/>
          </a:xfrm>
          <a:prstGeom prst="rect">
            <a:avLst/>
          </a:prstGeom>
          <a:noFill/>
          <a:ln/>
        </p:spPr>
        <p:txBody>
          <a:bodyPr wrap="square" lIns="0" tIns="0" rIns="0" bIns="0" rtlCol="0" anchor="ctr"/>
          <a:lstStyle/>
          <a:p>
            <a:pPr indent="0" marL="0">
              <a:buNone/>
            </a:pPr>
            <a:r>
              <a:rPr lang="en-US" sz="2200" dirty="0">
                <a:solidFill>
                  <a:srgbClr val="1B3A2A"/>
                </a:solidFill>
                <a:latin typeface="Georgia" pitchFamily="34" charset="0"/>
                <a:ea typeface="Georgia" pitchFamily="34" charset="-122"/>
                <a:cs typeface="Georgia" pitchFamily="34" charset="-120"/>
              </a:rPr>
              <a:t>Stewardship</a:t>
            </a:r>
            <a:endParaRPr lang="en-US" sz="2200" dirty="0"/>
          </a:p>
        </p:txBody>
      </p:sp>
      <p:sp>
        <p:nvSpPr>
          <p:cNvPr id="18" name="Text 16"/>
          <p:cNvSpPr/>
          <p:nvPr/>
        </p:nvSpPr>
        <p:spPr>
          <a:xfrm>
            <a:off x="4937760" y="3694176"/>
            <a:ext cx="6492240" cy="768096"/>
          </a:xfrm>
          <a:prstGeom prst="rect">
            <a:avLst/>
          </a:prstGeom>
          <a:noFill/>
          <a:ln/>
        </p:spPr>
        <p:txBody>
          <a:bodyPr wrap="square" lIns="0" tIns="0" rIns="0" bIns="0" rtlCol="0" anchor="ctr"/>
          <a:lstStyle/>
          <a:p>
            <a:pPr indent="0" marL="0">
              <a:buNone/>
            </a:pPr>
            <a:r>
              <a:rPr lang="en-US" sz="1600" dirty="0">
                <a:solidFill>
                  <a:srgbClr val="4A554C"/>
                </a:solidFill>
                <a:latin typeface="Arial" pitchFamily="34" charset="0"/>
                <a:ea typeface="Arial" pitchFamily="34" charset="-122"/>
                <a:cs typeface="Arial" pitchFamily="34" charset="-120"/>
              </a:rPr>
              <a:t>Assign steward jobs. Do one lunch or paper audit. Meet the custodian.</a:t>
            </a:r>
            <a:endParaRPr lang="en-US" sz="1600" dirty="0"/>
          </a:p>
        </p:txBody>
      </p:sp>
      <p:sp>
        <p:nvSpPr>
          <p:cNvPr id="19" name="Shape 17"/>
          <p:cNvSpPr/>
          <p:nvPr/>
        </p:nvSpPr>
        <p:spPr>
          <a:xfrm>
            <a:off x="502920" y="4736592"/>
            <a:ext cx="11183112" cy="1097280"/>
          </a:xfrm>
          <a:prstGeom prst="roundRect">
            <a:avLst>
              <a:gd name="adj" fmla="val 5000"/>
            </a:avLst>
          </a:prstGeom>
          <a:solidFill>
            <a:srgbClr val="FFFBF3"/>
          </a:solidFill>
          <a:ln/>
        </p:spPr>
        <p:txBody>
          <a:bodyPr/>
          <a:p/>
        </p:txBody>
      </p:sp>
      <p:sp>
        <p:nvSpPr>
          <p:cNvPr id="20" name="Shape 18"/>
          <p:cNvSpPr/>
          <p:nvPr/>
        </p:nvSpPr>
        <p:spPr>
          <a:xfrm>
            <a:off x="685800" y="4992624"/>
            <a:ext cx="1737360" cy="585216"/>
          </a:xfrm>
          <a:prstGeom prst="roundRect">
            <a:avLst>
              <a:gd name="adj" fmla="val 9375"/>
            </a:avLst>
          </a:prstGeom>
          <a:solidFill>
            <a:srgbClr val="1B3A2A"/>
          </a:solidFill>
          <a:ln/>
        </p:spPr>
        <p:txBody>
          <a:bodyPr/>
          <a:p/>
        </p:txBody>
      </p:sp>
      <p:sp>
        <p:nvSpPr>
          <p:cNvPr id="21" name="Text 19"/>
          <p:cNvSpPr/>
          <p:nvPr/>
        </p:nvSpPr>
        <p:spPr>
          <a:xfrm>
            <a:off x="685800" y="4992624"/>
            <a:ext cx="1737360" cy="585216"/>
          </a:xfrm>
          <a:prstGeom prst="rect">
            <a:avLst/>
          </a:prstGeom>
          <a:noFill/>
          <a:ln/>
        </p:spPr>
        <p:txBody>
          <a:bodyPr wrap="square" lIns="0" tIns="0" rIns="0" bIns="0" rtlCol="0" anchor="ctr"/>
          <a:lstStyle/>
          <a:p>
            <a:pPr algn="ctr" indent="0" marL="0">
              <a:buNone/>
            </a:pPr>
            <a:r>
              <a:rPr lang="en-US" sz="1300" b="1" dirty="0">
                <a:solidFill>
                  <a:srgbClr val="F4EFE2"/>
                </a:solidFill>
                <a:latin typeface="Arial" pitchFamily="34" charset="0"/>
                <a:ea typeface="Arial" pitchFamily="34" charset="-122"/>
                <a:cs typeface="Arial" pitchFamily="34" charset="-120"/>
              </a:rPr>
              <a:t>Days 22–30</a:t>
            </a:r>
            <a:endParaRPr lang="en-US" sz="1300" dirty="0"/>
          </a:p>
        </p:txBody>
      </p:sp>
      <p:sp>
        <p:nvSpPr>
          <p:cNvPr id="22" name="Text 20"/>
          <p:cNvSpPr/>
          <p:nvPr/>
        </p:nvSpPr>
        <p:spPr>
          <a:xfrm>
            <a:off x="2651760" y="4901184"/>
            <a:ext cx="2194560" cy="768096"/>
          </a:xfrm>
          <a:prstGeom prst="rect">
            <a:avLst/>
          </a:prstGeom>
          <a:noFill/>
          <a:ln/>
        </p:spPr>
        <p:txBody>
          <a:bodyPr wrap="square" lIns="0" tIns="0" rIns="0" bIns="0" rtlCol="0" anchor="ctr"/>
          <a:lstStyle/>
          <a:p>
            <a:pPr indent="0" marL="0">
              <a:buNone/>
            </a:pPr>
            <a:r>
              <a:rPr lang="en-US" sz="2200" dirty="0">
                <a:solidFill>
                  <a:srgbClr val="1B3A2A"/>
                </a:solidFill>
                <a:latin typeface="Georgia" pitchFamily="34" charset="0"/>
                <a:ea typeface="Georgia" pitchFamily="34" charset="-122"/>
                <a:cs typeface="Georgia" pitchFamily="34" charset="-120"/>
              </a:rPr>
              <a:t>Action</a:t>
            </a:r>
            <a:endParaRPr lang="en-US" sz="2200" dirty="0"/>
          </a:p>
        </p:txBody>
      </p:sp>
      <p:sp>
        <p:nvSpPr>
          <p:cNvPr id="23" name="Text 21"/>
          <p:cNvSpPr/>
          <p:nvPr/>
        </p:nvSpPr>
        <p:spPr>
          <a:xfrm>
            <a:off x="4937760" y="4901184"/>
            <a:ext cx="6492240" cy="768096"/>
          </a:xfrm>
          <a:prstGeom prst="rect">
            <a:avLst/>
          </a:prstGeom>
          <a:noFill/>
          <a:ln/>
        </p:spPr>
        <p:txBody>
          <a:bodyPr wrap="square" lIns="0" tIns="0" rIns="0" bIns="0" rtlCol="0" anchor="ctr"/>
          <a:lstStyle/>
          <a:p>
            <a:pPr indent="0" marL="0">
              <a:buNone/>
            </a:pPr>
            <a:r>
              <a:rPr lang="en-US" sz="1600" dirty="0">
                <a:solidFill>
                  <a:srgbClr val="4A554C"/>
                </a:solidFill>
                <a:latin typeface="Arial" pitchFamily="34" charset="0"/>
                <a:ea typeface="Arial" pitchFamily="34" charset="-122"/>
                <a:cs typeface="Arial" pitchFamily="34" charset="-120"/>
              </a:rPr>
              <a:t>Choose one lasting change. Celebrate St. Francis. Share the story at assembly or with families.</a:t>
            </a:r>
            <a:endParaRPr lang="en-US" sz="1600" dirty="0"/>
          </a:p>
        </p:txBody>
      </p:sp>
      <p:sp>
        <p:nvSpPr>
          <p:cNvPr id="24" name="Shape 22"/>
          <p:cNvSpPr/>
          <p:nvPr/>
        </p:nvSpPr>
        <p:spPr>
          <a:xfrm>
            <a:off x="502920" y="6510528"/>
            <a:ext cx="11183112" cy="0"/>
          </a:xfrm>
          <a:prstGeom prst="line">
            <a:avLst/>
          </a:prstGeom>
          <a:noFill/>
          <a:ln w="7620">
            <a:solidFill>
              <a:srgbClr val="C9C0A8"/>
            </a:solidFill>
            <a:prstDash val="solid"/>
          </a:ln>
        </p:spPr>
        <p:txBody>
          <a:bodyPr/>
          <a:p/>
        </p:txBody>
      </p:sp>
      <p:sp>
        <p:nvSpPr>
          <p:cNvPr id="25" name="Text 23"/>
          <p:cNvSpPr/>
          <p:nvPr/>
        </p:nvSpPr>
        <p:spPr>
          <a:xfrm>
            <a:off x="502920" y="6547104"/>
            <a:ext cx="8412480" cy="237744"/>
          </a:xfrm>
          <a:prstGeom prst="rect">
            <a:avLst/>
          </a:prstGeom>
          <a:noFill/>
          <a:ln/>
        </p:spPr>
        <p:txBody>
          <a:bodyPr wrap="square" lIns="0" tIns="0" rIns="0" bIns="0" rtlCol="0" anchor="ctr"/>
          <a:lstStyle/>
          <a:p>
            <a:pPr indent="0" marL="0">
              <a:buNone/>
            </a:pPr>
            <a:r>
              <a:rPr lang="en-US" sz="900" spc="120" kern="0" dirty="0">
                <a:solidFill>
                  <a:srgbClr val="6B736C"/>
                </a:solidFill>
                <a:latin typeface="Arial" pitchFamily="34" charset="0"/>
                <a:ea typeface="Arial" pitchFamily="34" charset="-122"/>
                <a:cs typeface="Arial" pitchFamily="34" charset="-120"/>
              </a:rPr>
              <a:t>CREATION CARE IN THE CLASSROOM  ·  K–5 CATHOLIC TEACHERS</a:t>
            </a:r>
            <a:endParaRPr lang="en-US" sz="900" dirty="0"/>
          </a:p>
        </p:txBody>
      </p:sp>
      <p:sp>
        <p:nvSpPr>
          <p:cNvPr id="26" name="Text 24"/>
          <p:cNvSpPr/>
          <p:nvPr/>
        </p:nvSpPr>
        <p:spPr>
          <a:xfrm>
            <a:off x="9509760" y="6547104"/>
            <a:ext cx="2176272" cy="237744"/>
          </a:xfrm>
          <a:prstGeom prst="rect">
            <a:avLst/>
          </a:prstGeom>
          <a:noFill/>
          <a:ln/>
        </p:spPr>
        <p:txBody>
          <a:bodyPr wrap="square" lIns="0" tIns="0" rIns="0" bIns="0" rtlCol="0" anchor="ctr"/>
          <a:lstStyle/>
          <a:p>
            <a:pPr algn="r" indent="0" marL="0">
              <a:buNone/>
            </a:pPr>
            <a:r>
              <a:rPr lang="en-US" sz="900" dirty="0">
                <a:solidFill>
                  <a:srgbClr val="6B736C"/>
                </a:solidFill>
                <a:latin typeface="Arial" pitchFamily="34" charset="0"/>
                <a:ea typeface="Arial" pitchFamily="34" charset="-122"/>
                <a:cs typeface="Arial" pitchFamily="34" charset="-120"/>
              </a:rPr>
              <a:t>23  /  30</a:t>
            </a:r>
            <a:endParaRPr lang="en-US" sz="900" dirty="0"/>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4EFE2"/>
        </a:solidFill>
      </p:bgPr>
    </p:bg>
    <p:spTree>
      <p:nvGrpSpPr>
        <p:cNvPr id="1" name=""/>
        <p:cNvGrpSpPr/>
        <p:nvPr/>
      </p:nvGrpSpPr>
      <p:grpSpPr/>
      <p:sp>
        <p:nvSpPr>
          <p:cNvPr id="2" name="Text 0"/>
          <p:cNvSpPr/>
          <p:nvPr/>
        </p:nvSpPr>
        <p:spPr>
          <a:xfrm>
            <a:off x="502920" y="256032"/>
            <a:ext cx="11155680" cy="219456"/>
          </a:xfrm>
          <a:prstGeom prst="rect">
            <a:avLst/>
          </a:prstGeom>
          <a:noFill/>
          <a:ln/>
        </p:spPr>
        <p:txBody>
          <a:bodyPr wrap="square" lIns="0" tIns="0" rIns="0" bIns="0" rtlCol="0" anchor="ctr"/>
          <a:lstStyle/>
          <a:p>
            <a:pPr indent="0" marL="0">
              <a:buNone/>
            </a:pPr>
            <a:r>
              <a:rPr sz="1100" b="1">
                <a:solidFill>
                  <a:srgbClr val="4F7A5C"/>
                </a:solidFill>
                <a:latin typeface="Arial"/>
              </a:rPr>
              <a:t>OUR SCHOOL  ·  CLICK TO OPEN</a:t>
            </a:r>
            <a:endParaRPr lang="en-US" sz="1100" dirty="0"/>
          </a:p>
        </p:txBody>
      </p:sp>
      <p:sp>
        <p:nvSpPr>
          <p:cNvPr id="3" name="Text 1"/>
          <p:cNvSpPr/>
          <p:nvPr/>
        </p:nvSpPr>
        <p:spPr>
          <a:xfrm>
            <a:off x="502920" y="475488"/>
            <a:ext cx="11155680" cy="475488"/>
          </a:xfrm>
          <a:prstGeom prst="rect">
            <a:avLst/>
          </a:prstGeom>
          <a:noFill/>
          <a:ln/>
        </p:spPr>
        <p:txBody>
          <a:bodyPr wrap="square" lIns="0" tIns="0" rIns="0" bIns="0" rtlCol="0" anchor="ctr"/>
          <a:lstStyle/>
          <a:p>
            <a:pPr indent="0" marL="0">
              <a:buNone/>
            </a:pPr>
            <a:r>
              <a:rPr sz="2600">
                <a:solidFill>
                  <a:srgbClr val="1B3A2A"/>
                </a:solidFill>
                <a:latin typeface="Georgia"/>
              </a:rPr>
              <a:t>Plan the work. Aim for the award.</a:t>
            </a:r>
            <a:endParaRPr lang="en-US" sz="2600" dirty="0"/>
          </a:p>
        </p:txBody>
      </p:sp>
      <p:sp>
        <p:nvSpPr>
          <p:cNvPr id="4" name="Shape 2"/>
          <p:cNvSpPr/>
          <p:nvPr/>
        </p:nvSpPr>
        <p:spPr>
          <a:xfrm>
            <a:off x="502920" y="1115568"/>
            <a:ext cx="5623560" cy="1517904"/>
          </a:xfrm>
          <a:prstGeom prst="roundRect">
            <a:avLst>
              <a:gd name="adj" fmla="val 3614"/>
            </a:avLst>
          </a:prstGeom>
          <a:solidFill>
            <a:srgbClr val="FFFBF3"/>
          </a:solidFill>
          <a:ln/>
        </p:spPr>
        <p:txBody>
          <a:bodyPr/>
          <a:p/>
        </p:txBody>
      </p:sp>
      <p:sp>
        <p:nvSpPr>
          <p:cNvPr id="5" name="Text 3"/>
          <p:cNvSpPr/>
          <p:nvPr/>
        </p:nvSpPr>
        <p:spPr>
          <a:xfrm>
            <a:off x="731520" y="1298448"/>
            <a:ext cx="5212080" cy="347472"/>
          </a:xfrm>
          <a:prstGeom prst="rect">
            <a:avLst/>
          </a:prstGeom>
          <a:noFill/>
          <a:ln/>
        </p:spPr>
        <p:txBody>
          <a:bodyPr wrap="square" lIns="0" tIns="0" rIns="0" bIns="0" rtlCol="0" anchor="ctr"/>
          <a:lstStyle/>
          <a:p>
            <a:pPr indent="0" marL="0">
              <a:buNone/>
            </a:pPr>
            <a:r>
              <a:rPr sz="1600">
                <a:solidFill>
                  <a:srgbClr val="C4A35A"/>
                </a:solidFill>
                <a:latin typeface="Georgia"/>
              </a:rPr>
              <a:t>School Action Plan</a:t>
            </a:r>
            <a:endParaRPr lang="en-US" sz="1600" dirty="0"/>
          </a:p>
        </p:txBody>
      </p:sp>
      <p:sp>
        <p:nvSpPr>
          <p:cNvPr id="6" name="Text 4"/>
          <p:cNvSpPr/>
          <p:nvPr/>
        </p:nvSpPr>
        <p:spPr>
          <a:xfrm>
            <a:off x="731520" y="1682496"/>
            <a:ext cx="5212080" cy="749808"/>
          </a:xfrm>
          <a:prstGeom prst="rect">
            <a:avLst/>
          </a:prstGeom>
          <a:noFill/>
          <a:ln/>
        </p:spPr>
        <p:txBody>
          <a:bodyPr wrap="square" lIns="0" tIns="0" rIns="0" bIns="0" rtlCol="0" anchor="ctr"/>
          <a:lstStyle/>
          <a:p>
            <a:pPr indent="0" marL="0">
              <a:buNone/>
            </a:pPr>
            <a:r>
              <a:rPr sz="1300" b="0">
                <a:solidFill>
                  <a:srgbClr val="4A554C"/>
                </a:solidFill>
                <a:latin typeface="Arial"/>
              </a:rPr>
              <a:t>How Creation Care lives here — not a one-day lesson. Find one item you can run in your room this month.</a:t>
            </a:r>
            <a:endParaRPr lang="en-US" sz="1400" dirty="0"/>
          </a:p>
          <a:p>
            <a:r>
              <a:rPr sz="1200" b="1">
                <a:solidFill>
                  <a:srgbClr val="C4A35A"/>
                </a:solidFill>
                <a:latin typeface="Arial"/>
                <a:hlinkClick r:id="rId2"/>
              </a:rPr>
              <a:t>Open the school action plan →</a:t>
            </a:r>
          </a:p>
        </p:txBody>
      </p:sp>
      <p:sp>
        <p:nvSpPr>
          <p:cNvPr id="7" name="Shape 5"/>
          <p:cNvSpPr/>
          <p:nvPr/>
        </p:nvSpPr>
        <p:spPr>
          <a:xfrm>
            <a:off x="6309360" y="1115568"/>
            <a:ext cx="5623560" cy="1517904"/>
          </a:xfrm>
          <a:prstGeom prst="roundRect">
            <a:avLst>
              <a:gd name="adj" fmla="val 3614"/>
            </a:avLst>
          </a:prstGeom>
          <a:solidFill>
            <a:srgbClr val="FFFBF3"/>
          </a:solidFill>
          <a:ln/>
        </p:spPr>
        <p:txBody>
          <a:bodyPr/>
          <a:p/>
        </p:txBody>
      </p:sp>
      <p:sp>
        <p:nvSpPr>
          <p:cNvPr id="8" name="Text 6"/>
          <p:cNvSpPr/>
          <p:nvPr/>
        </p:nvSpPr>
        <p:spPr>
          <a:xfrm>
            <a:off x="6537960" y="1298448"/>
            <a:ext cx="5212080" cy="347472"/>
          </a:xfrm>
          <a:prstGeom prst="rect">
            <a:avLst/>
          </a:prstGeom>
          <a:noFill/>
          <a:ln/>
        </p:spPr>
        <p:txBody>
          <a:bodyPr wrap="square" lIns="0" tIns="0" rIns="0" bIns="0" rtlCol="0" anchor="ctr"/>
          <a:lstStyle/>
          <a:p>
            <a:pPr indent="0" marL="0">
              <a:buNone/>
            </a:pPr>
            <a:r>
              <a:rPr sz="1600">
                <a:solidFill>
                  <a:srgbClr val="C4A35A"/>
                </a:solidFill>
                <a:latin typeface="Georgia"/>
              </a:rPr>
              <a:t>Creation Care Award</a:t>
            </a:r>
            <a:endParaRPr lang="en-US" sz="1600" dirty="0"/>
          </a:p>
        </p:txBody>
      </p:sp>
      <p:sp>
        <p:nvSpPr>
          <p:cNvPr id="9" name="Text 7"/>
          <p:cNvSpPr/>
          <p:nvPr/>
        </p:nvSpPr>
        <p:spPr>
          <a:xfrm>
            <a:off x="6537960" y="1682496"/>
            <a:ext cx="5212080" cy="749808"/>
          </a:xfrm>
          <a:prstGeom prst="rect">
            <a:avLst/>
          </a:prstGeom>
          <a:noFill/>
          <a:ln/>
        </p:spPr>
        <p:txBody>
          <a:bodyPr wrap="square" lIns="0" tIns="0" rIns="0" bIns="0" rtlCol="0" anchor="ctr"/>
          <a:lstStyle/>
          <a:p>
            <a:pPr indent="0" marL="0">
              <a:buNone/>
            </a:pPr>
            <a:r>
              <a:rPr sz="1300" b="0">
                <a:solidFill>
                  <a:srgbClr val="4A554C"/>
                </a:solidFill>
                <a:latin typeface="Arial"/>
              </a:rPr>
              <a:t>The award our school is working toward. Classroom moves from this session count toward it.</a:t>
            </a:r>
            <a:endParaRPr lang="en-US" sz="1400" dirty="0"/>
          </a:p>
          <a:p>
            <a:r>
              <a:rPr sz="1200" b="1">
                <a:solidFill>
                  <a:srgbClr val="C4A35A"/>
                </a:solidFill>
                <a:latin typeface="Arial"/>
                <a:hlinkClick r:id="rId3"/>
              </a:rPr>
              <a:t>See the award file →</a:t>
            </a:r>
          </a:p>
        </p:txBody>
      </p:sp>
      <p:sp>
        <p:nvSpPr>
          <p:cNvPr id="10" name="Shape 8"/>
          <p:cNvSpPr/>
          <p:nvPr/>
        </p:nvSpPr>
        <p:spPr>
          <a:xfrm>
            <a:off x="502920" y="2761488"/>
            <a:ext cx="5623560" cy="1517904"/>
          </a:xfrm>
          <a:prstGeom prst="roundRect">
            <a:avLst>
              <a:gd name="adj" fmla="val 3614"/>
            </a:avLst>
          </a:prstGeom>
          <a:solidFill>
            <a:srgbClr val="FFFBF3"/>
          </a:solidFill>
          <a:ln/>
        </p:spPr>
        <p:txBody>
          <a:bodyPr/>
          <a:p/>
        </p:txBody>
      </p:sp>
      <p:sp>
        <p:nvSpPr>
          <p:cNvPr id="11" name="Text 9"/>
          <p:cNvSpPr/>
          <p:nvPr/>
        </p:nvSpPr>
        <p:spPr>
          <a:xfrm>
            <a:off x="731520" y="2944368"/>
            <a:ext cx="5212080" cy="347472"/>
          </a:xfrm>
          <a:prstGeom prst="rect">
            <a:avLst/>
          </a:prstGeom>
          <a:noFill/>
          <a:ln/>
        </p:spPr>
        <p:txBody>
          <a:bodyPr wrap="square" lIns="0" tIns="0" rIns="0" bIns="0" rtlCol="0" anchor="ctr"/>
          <a:lstStyle/>
          <a:p>
            <a:pPr indent="0" marL="0">
              <a:buNone/>
            </a:pPr>
            <a:r>
              <a:rPr sz="1600">
                <a:solidFill>
                  <a:srgbClr val="C4A35A"/>
                </a:solidFill>
                <a:latin typeface="Georgia"/>
              </a:rPr>
              <a:t>How to use these</a:t>
            </a:r>
            <a:endParaRPr lang="en-US" sz="1600" dirty="0"/>
          </a:p>
        </p:txBody>
      </p:sp>
      <p:sp>
        <p:nvSpPr>
          <p:cNvPr id="12" name="Text 10"/>
          <p:cNvSpPr/>
          <p:nvPr/>
        </p:nvSpPr>
        <p:spPr>
          <a:xfrm>
            <a:off x="731520" y="3328416"/>
            <a:ext cx="5212080" cy="749808"/>
          </a:xfrm>
          <a:prstGeom prst="rect">
            <a:avLst/>
          </a:prstGeom>
          <a:noFill/>
          <a:ln/>
        </p:spPr>
        <p:txBody>
          <a:bodyPr wrap="square" lIns="0" tIns="0" rIns="0" bIns="0" rtlCol="0" anchor="ctr"/>
          <a:lstStyle/>
          <a:p>
            <a:pPr indent="0" marL="0">
              <a:buNone/>
            </a:pPr>
            <a:r>
              <a:rPr sz="1300" b="0">
                <a:solidFill>
                  <a:srgbClr val="4A554C"/>
                </a:solidFill>
                <a:latin typeface="Arial"/>
              </a:rPr>
              <a:t>After strategies, send teachers here. Plan = the work. Award = the recognition. Keep the ask small: one item, one room, this month.</a:t>
            </a:r>
            <a:endParaRPr lang="en-US" sz="1400" dirty="0"/>
          </a:p>
          <a:p>
            <a:r>
              <a:rPr sz="1300" b="0">
                <a:solidFill>
                  <a:srgbClr val="4A554C"/>
                </a:solidFill>
                <a:latin typeface="Arial"/>
              </a:rPr>
              <a:t>Both links open after the session.</a:t>
            </a:r>
          </a:p>
        </p:txBody>
      </p:sp>
      <p:sp>
        <p:nvSpPr>
          <p:cNvPr id="13" name="Shape 11"/>
          <p:cNvSpPr/>
          <p:nvPr/>
        </p:nvSpPr>
        <p:spPr>
          <a:xfrm>
            <a:off x="6309360" y="2761488"/>
            <a:ext cx="5623560" cy="1517904"/>
          </a:xfrm>
          <a:prstGeom prst="roundRect">
            <a:avLst>
              <a:gd name="adj" fmla="val 3614"/>
            </a:avLst>
          </a:prstGeom>
          <a:solidFill>
            <a:srgbClr val="FFFBF3"/>
          </a:solidFill>
          <a:ln/>
        </p:spPr>
        <p:txBody>
          <a:bodyPr/>
          <a:p/>
        </p:txBody>
      </p:sp>
      <p:sp>
        <p:nvSpPr>
          <p:cNvPr id="14" name="Text 12"/>
          <p:cNvSpPr/>
          <p:nvPr/>
        </p:nvSpPr>
        <p:spPr>
          <a:xfrm>
            <a:off x="6537960" y="2944368"/>
            <a:ext cx="5212080" cy="347472"/>
          </a:xfrm>
          <a:prstGeom prst="rect">
            <a:avLst/>
          </a:prstGeom>
          <a:noFill/>
          <a:ln/>
        </p:spPr>
        <p:txBody>
          <a:bodyPr wrap="square" lIns="0" tIns="0" rIns="0" bIns="0" rtlCol="0" anchor="ctr"/>
          <a:lstStyle/>
          <a:p>
            <a:pPr indent="0" marL="0">
              <a:buNone/>
            </a:pPr>
            <a:r>
              <a:rPr sz="1600">
                <a:solidFill>
                  <a:srgbClr val="C4A35A"/>
                </a:solidFill>
                <a:latin typeface="Georgia"/>
              </a:rPr>
              <a:t>Say this out loud</a:t>
            </a:r>
            <a:endParaRPr lang="en-US" sz="1600" dirty="0"/>
          </a:p>
        </p:txBody>
      </p:sp>
      <p:sp>
        <p:nvSpPr>
          <p:cNvPr id="15" name="Text 13"/>
          <p:cNvSpPr/>
          <p:nvPr/>
        </p:nvSpPr>
        <p:spPr>
          <a:xfrm>
            <a:off x="6537960" y="3328416"/>
            <a:ext cx="5212080" cy="749808"/>
          </a:xfrm>
          <a:prstGeom prst="rect">
            <a:avLst/>
          </a:prstGeom>
          <a:noFill/>
          <a:ln/>
        </p:spPr>
        <p:txBody>
          <a:bodyPr wrap="square" lIns="0" tIns="0" rIns="0" bIns="0" rtlCol="0" anchor="ctr"/>
          <a:lstStyle/>
          <a:p>
            <a:pPr indent="0" marL="0">
              <a:buNone/>
            </a:pPr>
            <a:r>
              <a:rPr sz="1300" b="0">
                <a:solidFill>
                  <a:srgbClr val="4A554C"/>
                </a:solidFill>
                <a:latin typeface="Arial"/>
              </a:rPr>
              <a:t>“Here is our school plan. Here is the award we are aiming for. Pick one classroom move that helps both.”</a:t>
            </a:r>
            <a:endParaRPr lang="en-US" sz="1400" dirty="0"/>
          </a:p>
          <a:p>
            <a:r>
              <a:rPr sz="1300" b="0">
                <a:solidFill>
                  <a:srgbClr val="4A554C"/>
                </a:solidFill>
                <a:latin typeface="Arial"/>
              </a:rPr>
              <a:t>Then point back to the 30-day plan.</a:t>
            </a:r>
          </a:p>
        </p:txBody>
      </p:sp>
      <p:sp>
        <p:nvSpPr>
          <p:cNvPr id="16" name="TextBox 15"/>
          <p:cNvSpPr txBox="1"/>
          <p:nvPr/>
        </p:nvSpPr>
        <p:spPr>
          <a:xfrm>
            <a:off x="502920" y="6547104"/>
            <a:ext cx="8412480" cy="237744"/>
          </a:xfrm>
          <a:prstGeom prst="rect">
            <a:avLst/>
          </a:prstGeom>
          <a:noFill/>
        </p:spPr>
        <p:txBody>
          <a:bodyPr wrap="none">
            <a:spAutoFit/>
          </a:bodyPr>
          <a:lstStyle/>
          <a:p>
            <a:r>
              <a:rPr sz="900">
                <a:solidFill>
                  <a:srgbClr val="6B736C"/>
                </a:solidFill>
                <a:latin typeface="Arial"/>
              </a:rPr>
              <a:t>CREATION CARE IN THE CLASSROOM  ·  K–5 CATHOLIC TEACHERS</a:t>
            </a:r>
          </a:p>
        </p:txBody>
      </p:sp>
      <p:sp>
        <p:nvSpPr>
          <p:cNvPr id="17" name="TextBox 16"/>
          <p:cNvSpPr txBox="1"/>
          <p:nvPr/>
        </p:nvSpPr>
        <p:spPr>
          <a:xfrm>
            <a:off x="9509760" y="6547104"/>
            <a:ext cx="2176272" cy="237744"/>
          </a:xfrm>
          <a:prstGeom prst="rect">
            <a:avLst/>
          </a:prstGeom>
          <a:noFill/>
        </p:spPr>
        <p:txBody>
          <a:bodyPr wrap="none">
            <a:spAutoFit/>
          </a:bodyPr>
          <a:lstStyle/>
          <a:p>
            <a:r>
              <a:rPr sz="900">
                <a:solidFill>
                  <a:srgbClr val="6B736C"/>
                </a:solidFill>
                <a:latin typeface="Arial"/>
              </a:rPr>
              <a:t>24  /  30</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2">
    <p:bg>
      <p:bgPr>
        <a:solidFill>
          <a:srgbClr val="F4EFE2"/>
        </a:solidFill>
      </p:bgPr>
    </p:bg>
    <p:spTree>
      <p:nvGrpSpPr>
        <p:cNvPr id="1" name=""/>
        <p:cNvGrpSpPr/>
        <p:nvPr/>
      </p:nvGrpSpPr>
      <p:grpSpPr>
        <a:xfrm>
          <a:off x="0" y="0"/>
          <a:ext cx="0" cy="0"/>
          <a:chOff x="0" y="0"/>
          <a:chExt cx="0" cy="0"/>
        </a:xfrm>
      </p:grpSpPr>
      <p:sp>
        <p:nvSpPr>
          <p:cNvPr id="2" name="Text 0"/>
          <p:cNvSpPr/>
          <p:nvPr/>
        </p:nvSpPr>
        <p:spPr>
          <a:xfrm>
            <a:off x="502920" y="256032"/>
            <a:ext cx="11155680" cy="219456"/>
          </a:xfrm>
          <a:prstGeom prst="rect">
            <a:avLst/>
          </a:prstGeom>
          <a:noFill/>
          <a:ln/>
        </p:spPr>
        <p:txBody>
          <a:bodyPr wrap="square" lIns="0" tIns="0" rIns="0" bIns="0" rtlCol="0" anchor="ctr"/>
          <a:lstStyle/>
          <a:p>
            <a:pPr indent="0" marL="0">
              <a:buNone/>
            </a:pPr>
            <a:r>
              <a:rPr lang="en-US" sz="1100" b="1" spc="220" kern="0" dirty="0">
                <a:solidFill>
                  <a:srgbClr val="4F7A5C"/>
                </a:solidFill>
                <a:latin typeface="Arial" pitchFamily="34" charset="0"/>
                <a:ea typeface="Arial" pitchFamily="34" charset="-122"/>
                <a:cs typeface="Arial" pitchFamily="34" charset="-120"/>
              </a:rPr>
              <a:t>21  ·  CLICK ANY TITLE OR ADDRESS TO OPEN</a:t>
            </a:r>
            <a:endParaRPr lang="en-US" sz="1100" dirty="0"/>
          </a:p>
        </p:txBody>
      </p:sp>
      <p:sp>
        <p:nvSpPr>
          <p:cNvPr id="3" name="Text 1"/>
          <p:cNvSpPr/>
          <p:nvPr/>
        </p:nvSpPr>
        <p:spPr>
          <a:xfrm>
            <a:off x="502920" y="475488"/>
            <a:ext cx="11155680" cy="475488"/>
          </a:xfrm>
          <a:prstGeom prst="rect">
            <a:avLst/>
          </a:prstGeom>
          <a:noFill/>
          <a:ln/>
        </p:spPr>
        <p:txBody>
          <a:bodyPr wrap="square" lIns="0" tIns="0" rIns="0" bIns="0" rtlCol="0" anchor="ctr"/>
          <a:lstStyle/>
          <a:p>
            <a:pPr indent="0" marL="0">
              <a:buNone/>
            </a:pPr>
            <a:r>
              <a:rPr lang="en-US" sz="2600" dirty="0">
                <a:solidFill>
                  <a:srgbClr val="1B3A2A"/>
                </a:solidFill>
                <a:latin typeface="Georgia" pitchFamily="34" charset="0"/>
                <a:ea typeface="Georgia" pitchFamily="34" charset="-122"/>
                <a:cs typeface="Georgia" pitchFamily="34" charset="-120"/>
              </a:rPr>
              <a:t>Monday-ready resources</a:t>
            </a:r>
            <a:endParaRPr lang="en-US" sz="2600" dirty="0"/>
          </a:p>
        </p:txBody>
      </p:sp>
      <p:sp>
        <p:nvSpPr>
          <p:cNvPr id="4" name="Shape 2"/>
          <p:cNvSpPr/>
          <p:nvPr/>
        </p:nvSpPr>
        <p:spPr>
          <a:xfrm>
            <a:off x="502920" y="1115568"/>
            <a:ext cx="5623560" cy="1517904"/>
          </a:xfrm>
          <a:prstGeom prst="roundRect">
            <a:avLst>
              <a:gd name="adj" fmla="val 3614"/>
            </a:avLst>
          </a:prstGeom>
          <a:solidFill>
            <a:srgbClr val="FFFBF3"/>
          </a:solidFill>
          <a:ln/>
        </p:spPr>
        <p:txBody>
          <a:bodyPr/>
          <a:p/>
        </p:txBody>
      </p:sp>
      <p:sp>
        <p:nvSpPr>
          <p:cNvPr id="5" name="Text 3"/>
          <p:cNvSpPr/>
          <p:nvPr/>
        </p:nvSpPr>
        <p:spPr>
          <a:xfrm>
            <a:off x="731520" y="1298448"/>
            <a:ext cx="5212080" cy="347472"/>
          </a:xfrm>
          <a:prstGeom prst="rect">
            <a:avLst/>
          </a:prstGeom>
          <a:noFill/>
          <a:ln/>
        </p:spPr>
        <p:txBody>
          <a:bodyPr wrap="square" lIns="0" tIns="0" rIns="0" bIns="0" rtlCol="0" anchor="ctr"/>
          <a:lstStyle/>
          <a:p>
            <a:pPr indent="0" marL="0">
              <a:buNone/>
            </a:pPr>
            <a:r>
              <a:rPr lang="en-US" sz="1600" dirty="0" u="sng">
                <a:solidFill>
                  <a:srgbClr val="C4A35A"/>
                </a:solidFill>
                <a:latin typeface="Georgia" pitchFamily="34" charset="0"/>
                <a:ea typeface="Georgia" pitchFamily="34" charset="-122"/>
                <a:cs typeface="Georgia" pitchFamily="34" charset="-120"/>
                <a:hlinkClick r:id="rId3"/>
              </a:rPr>
              <a:t>Catholic Climate Covenant</a:t>
            </a:r>
            <a:endParaRPr lang="en-US" sz="1600" dirty="0"/>
          </a:p>
        </p:txBody>
      </p:sp>
      <p:sp>
        <p:nvSpPr>
          <p:cNvPr id="6" name="Text 4"/>
          <p:cNvSpPr/>
          <p:nvPr/>
        </p:nvSpPr>
        <p:spPr>
          <a:xfrm>
            <a:off x="731520" y="1682496"/>
            <a:ext cx="5212080" cy="749808"/>
          </a:xfrm>
          <a:prstGeom prst="rect">
            <a:avLst/>
          </a:prstGeom>
          <a:noFill/>
          <a:ln/>
        </p:spPr>
        <p:txBody>
          <a:bodyPr wrap="square" lIns="0" tIns="0" rIns="0" bIns="0" rtlCol="0" anchor="ctr"/>
          <a:lstStyle/>
          <a:p>
            <a:pPr indent="0" marL="0">
              <a:buNone/>
            </a:pPr>
            <a:r>
              <a:rPr sz="1300">
                <a:solidFill>
                  <a:srgbClr val="4A554C"/>
                </a:solidFill>
                <a:latin typeface="Arial"/>
              </a:rPr>
              <a:t>St. Francis Pledge, Feast of Francis programs, and God’s Creation Waits workbook for grades 2–5.</a:t>
            </a:r>
            <a:endParaRPr lang="en-US" sz="1400" dirty="0"/>
          </a:p>
          <a:p>
            <a:r>
              <a:rPr sz="1200" b="1" u="sng">
                <a:solidFill>
                  <a:srgbClr val="C4A35A"/>
                </a:solidFill>
                <a:latin typeface="Arial"/>
                <a:hlinkClick r:id="rId3"/>
              </a:rPr>
              <a:t>catholicclimatecovenant.org</a:t>
            </a:r>
          </a:p>
        </p:txBody>
      </p:sp>
      <p:sp>
        <p:nvSpPr>
          <p:cNvPr id="7" name="Shape 5"/>
          <p:cNvSpPr/>
          <p:nvPr/>
        </p:nvSpPr>
        <p:spPr>
          <a:xfrm>
            <a:off x="6309360" y="1115568"/>
            <a:ext cx="5623560" cy="1517904"/>
          </a:xfrm>
          <a:prstGeom prst="roundRect">
            <a:avLst>
              <a:gd name="adj" fmla="val 3614"/>
            </a:avLst>
          </a:prstGeom>
          <a:solidFill>
            <a:srgbClr val="FFFBF3"/>
          </a:solidFill>
          <a:ln/>
        </p:spPr>
        <p:txBody>
          <a:bodyPr/>
          <a:p/>
        </p:txBody>
      </p:sp>
      <p:sp>
        <p:nvSpPr>
          <p:cNvPr id="8" name="Text 6"/>
          <p:cNvSpPr/>
          <p:nvPr/>
        </p:nvSpPr>
        <p:spPr>
          <a:xfrm>
            <a:off x="6537960" y="1298448"/>
            <a:ext cx="5212080" cy="347472"/>
          </a:xfrm>
          <a:prstGeom prst="rect">
            <a:avLst/>
          </a:prstGeom>
          <a:noFill/>
          <a:ln/>
        </p:spPr>
        <p:txBody>
          <a:bodyPr wrap="square" lIns="0" tIns="0" rIns="0" bIns="0" rtlCol="0" anchor="ctr"/>
          <a:lstStyle/>
          <a:p>
            <a:pPr indent="0" marL="0">
              <a:buNone/>
            </a:pPr>
            <a:r>
              <a:rPr lang="en-US" sz="1600" dirty="0" u="sng">
                <a:solidFill>
                  <a:srgbClr val="C4A35A"/>
                </a:solidFill>
                <a:latin typeface="Georgia" pitchFamily="34" charset="0"/>
                <a:ea typeface="Georgia" pitchFamily="34" charset="-122"/>
                <a:cs typeface="Georgia" pitchFamily="34" charset="-120"/>
                <a:hlinkClick r:id="rId4"/>
              </a:rPr>
              <a:t>Archdiocese of New York</a:t>
            </a:r>
            <a:endParaRPr lang="en-US" sz="1600" dirty="0"/>
          </a:p>
        </p:txBody>
      </p:sp>
      <p:sp>
        <p:nvSpPr>
          <p:cNvPr id="9" name="Text 7"/>
          <p:cNvSpPr/>
          <p:nvPr/>
        </p:nvSpPr>
        <p:spPr>
          <a:xfrm>
            <a:off x="6537960" y="1682496"/>
            <a:ext cx="5212080" cy="749808"/>
          </a:xfrm>
          <a:prstGeom prst="rect">
            <a:avLst/>
          </a:prstGeom>
          <a:noFill/>
          <a:ln/>
        </p:spPr>
        <p:txBody>
          <a:bodyPr wrap="square" lIns="0" tIns="0" rIns="0" bIns="0" rtlCol="0" anchor="ctr"/>
          <a:lstStyle/>
          <a:p>
            <a:pPr indent="0" marL="0">
              <a:buNone/>
            </a:pPr>
            <a:r>
              <a:rPr sz="1300">
                <a:solidFill>
                  <a:srgbClr val="4A554C"/>
                </a:solidFill>
                <a:latin typeface="Arial"/>
              </a:rPr>
              <a:t>Free Caring for Creation lesson plans for PK–K, grades 1–3, and grades 4–6.</a:t>
            </a:r>
            <a:endParaRPr lang="en-US" sz="1400" dirty="0"/>
          </a:p>
          <a:p>
            <a:r>
              <a:rPr sz="1200" b="1" u="sng">
                <a:solidFill>
                  <a:srgbClr val="C4A35A"/>
                </a:solidFill>
                <a:latin typeface="Arial"/>
                <a:hlinkClick r:id="rId4"/>
              </a:rPr>
              <a:t>archny.org/caring-for-creation</a:t>
            </a:r>
          </a:p>
        </p:txBody>
      </p:sp>
      <p:sp>
        <p:nvSpPr>
          <p:cNvPr id="10" name="Shape 8"/>
          <p:cNvSpPr/>
          <p:nvPr/>
        </p:nvSpPr>
        <p:spPr>
          <a:xfrm>
            <a:off x="502920" y="2761488"/>
            <a:ext cx="5623560" cy="1517904"/>
          </a:xfrm>
          <a:prstGeom prst="roundRect">
            <a:avLst>
              <a:gd name="adj" fmla="val 3614"/>
            </a:avLst>
          </a:prstGeom>
          <a:solidFill>
            <a:srgbClr val="FFFBF3"/>
          </a:solidFill>
          <a:ln/>
        </p:spPr>
        <p:txBody>
          <a:bodyPr/>
          <a:p/>
        </p:txBody>
      </p:sp>
      <p:sp>
        <p:nvSpPr>
          <p:cNvPr id="11" name="Text 9"/>
          <p:cNvSpPr/>
          <p:nvPr/>
        </p:nvSpPr>
        <p:spPr>
          <a:xfrm>
            <a:off x="731520" y="2944368"/>
            <a:ext cx="5212080" cy="347472"/>
          </a:xfrm>
          <a:prstGeom prst="rect">
            <a:avLst/>
          </a:prstGeom>
          <a:noFill/>
          <a:ln/>
        </p:spPr>
        <p:txBody>
          <a:bodyPr wrap="square" lIns="0" tIns="0" rIns="0" bIns="0" rtlCol="0" anchor="ctr"/>
          <a:lstStyle/>
          <a:p>
            <a:pPr indent="0" marL="0">
              <a:buNone/>
            </a:pPr>
            <a:r>
              <a:rPr lang="en-US" sz="1600" dirty="0" u="sng">
                <a:solidFill>
                  <a:srgbClr val="C4A35A"/>
                </a:solidFill>
                <a:latin typeface="Georgia" pitchFamily="34" charset="0"/>
                <a:ea typeface="Georgia" pitchFamily="34" charset="-122"/>
                <a:cs typeface="Georgia" pitchFamily="34" charset="-120"/>
                <a:hlinkClick r:id="rId5"/>
              </a:rPr>
              <a:t>Alliance for Catholic Education</a:t>
            </a:r>
            <a:endParaRPr lang="en-US" sz="1600" dirty="0"/>
          </a:p>
        </p:txBody>
      </p:sp>
      <p:sp>
        <p:nvSpPr>
          <p:cNvPr id="12" name="Text 10"/>
          <p:cNvSpPr/>
          <p:nvPr/>
        </p:nvSpPr>
        <p:spPr>
          <a:xfrm>
            <a:off x="731520" y="3328416"/>
            <a:ext cx="5212080" cy="749808"/>
          </a:xfrm>
          <a:prstGeom prst="rect">
            <a:avLst/>
          </a:prstGeom>
          <a:noFill/>
          <a:ln/>
        </p:spPr>
        <p:txBody>
          <a:bodyPr wrap="square" lIns="0" tIns="0" rIns="0" bIns="0" rtlCol="0" anchor="ctr"/>
          <a:lstStyle/>
          <a:p>
            <a:pPr indent="0" marL="0">
              <a:buNone/>
            </a:pPr>
            <a:r>
              <a:rPr sz="1300">
                <a:solidFill>
                  <a:srgbClr val="4A554C"/>
                </a:solidFill>
                <a:latin typeface="Arial"/>
              </a:rPr>
              <a:t>Notre Dame guidance for bringing Laudato Si’ into daily classroom life.</a:t>
            </a:r>
            <a:endParaRPr lang="en-US" sz="1400" dirty="0"/>
          </a:p>
          <a:p>
            <a:r>
              <a:rPr sz="1200" b="1" u="sng">
                <a:solidFill>
                  <a:srgbClr val="C4A35A"/>
                </a:solidFill>
                <a:latin typeface="Arial"/>
                <a:hlinkClick r:id="rId5"/>
              </a:rPr>
              <a:t>ace.nd.edu</a:t>
            </a:r>
          </a:p>
        </p:txBody>
      </p:sp>
      <p:sp>
        <p:nvSpPr>
          <p:cNvPr id="13" name="Shape 11"/>
          <p:cNvSpPr/>
          <p:nvPr/>
        </p:nvSpPr>
        <p:spPr>
          <a:xfrm>
            <a:off x="6309360" y="2761488"/>
            <a:ext cx="5623560" cy="1517904"/>
          </a:xfrm>
          <a:prstGeom prst="roundRect">
            <a:avLst>
              <a:gd name="adj" fmla="val 3614"/>
            </a:avLst>
          </a:prstGeom>
          <a:solidFill>
            <a:srgbClr val="FFFBF3"/>
          </a:solidFill>
          <a:ln/>
        </p:spPr>
        <p:txBody>
          <a:bodyPr/>
          <a:p/>
        </p:txBody>
      </p:sp>
      <p:sp>
        <p:nvSpPr>
          <p:cNvPr id="14" name="Text 12"/>
          <p:cNvSpPr/>
          <p:nvPr/>
        </p:nvSpPr>
        <p:spPr>
          <a:xfrm>
            <a:off x="6537960" y="2944368"/>
            <a:ext cx="5212080" cy="347472"/>
          </a:xfrm>
          <a:prstGeom prst="rect">
            <a:avLst/>
          </a:prstGeom>
          <a:noFill/>
          <a:ln/>
        </p:spPr>
        <p:txBody>
          <a:bodyPr wrap="square" lIns="0" tIns="0" rIns="0" bIns="0" rtlCol="0" anchor="ctr"/>
          <a:lstStyle/>
          <a:p>
            <a:pPr indent="0" marL="0">
              <a:buNone/>
            </a:pPr>
            <a:r>
              <a:rPr lang="en-US" sz="1600" dirty="0" u="sng">
                <a:solidFill>
                  <a:srgbClr val="C4A35A"/>
                </a:solidFill>
                <a:latin typeface="Georgia" pitchFamily="34" charset="0"/>
                <a:ea typeface="Georgia" pitchFamily="34" charset="-122"/>
                <a:cs typeface="Georgia" pitchFamily="34" charset="-120"/>
                <a:hlinkClick r:id="rId6"/>
              </a:rPr>
              <a:t>Caritas / CAFOD</a:t>
            </a:r>
            <a:endParaRPr lang="en-US" sz="1600" dirty="0"/>
          </a:p>
        </p:txBody>
      </p:sp>
      <p:sp>
        <p:nvSpPr>
          <p:cNvPr id="15" name="Text 13"/>
          <p:cNvSpPr/>
          <p:nvPr/>
        </p:nvSpPr>
        <p:spPr>
          <a:xfrm>
            <a:off x="6537960" y="3328416"/>
            <a:ext cx="5212080" cy="749808"/>
          </a:xfrm>
          <a:prstGeom prst="rect">
            <a:avLst/>
          </a:prstGeom>
          <a:noFill/>
          <a:ln/>
        </p:spPr>
        <p:txBody>
          <a:bodyPr wrap="square" lIns="0" tIns="0" rIns="0" bIns="0" rtlCol="0" anchor="ctr"/>
          <a:lstStyle/>
          <a:p>
            <a:pPr indent="0" marL="0">
              <a:buNone/>
            </a:pPr>
            <a:r>
              <a:rPr sz="1300">
                <a:solidFill>
                  <a:srgbClr val="4A554C"/>
                </a:solidFill>
                <a:latin typeface="Arial"/>
              </a:rPr>
              <a:t>See-Judge-Act units and primary Laudato Si’ Goals slides written for children.</a:t>
            </a:r>
            <a:endParaRPr lang="en-US" sz="1400" dirty="0"/>
          </a:p>
          <a:p>
            <a:r>
              <a:rPr sz="1200" b="1" u="sng">
                <a:solidFill>
                  <a:srgbClr val="C4A35A"/>
                </a:solidFill>
                <a:latin typeface="Arial"/>
                <a:hlinkClick r:id="rId6"/>
              </a:rPr>
              <a:t>caritas.org.au/resources/school-resources</a:t>
            </a:r>
          </a:p>
        </p:txBody>
      </p:sp>
      <p:sp>
        <p:nvSpPr>
          <p:cNvPr id="16" name="Shape 14"/>
          <p:cNvSpPr/>
          <p:nvPr/>
        </p:nvSpPr>
        <p:spPr>
          <a:xfrm>
            <a:off x="502920" y="4407408"/>
            <a:ext cx="5623560" cy="1517904"/>
          </a:xfrm>
          <a:prstGeom prst="roundRect">
            <a:avLst>
              <a:gd name="adj" fmla="val 3614"/>
            </a:avLst>
          </a:prstGeom>
          <a:solidFill>
            <a:srgbClr val="FFFBF3"/>
          </a:solidFill>
          <a:ln/>
        </p:spPr>
        <p:txBody>
          <a:bodyPr/>
          <a:p/>
        </p:txBody>
      </p:sp>
      <p:sp>
        <p:nvSpPr>
          <p:cNvPr id="17" name="Text 15"/>
          <p:cNvSpPr/>
          <p:nvPr/>
        </p:nvSpPr>
        <p:spPr>
          <a:xfrm>
            <a:off x="731520" y="4590288"/>
            <a:ext cx="5212080" cy="347472"/>
          </a:xfrm>
          <a:prstGeom prst="rect">
            <a:avLst/>
          </a:prstGeom>
          <a:noFill/>
          <a:ln/>
        </p:spPr>
        <p:txBody>
          <a:bodyPr wrap="square" lIns="0" tIns="0" rIns="0" bIns="0" rtlCol="0" anchor="ctr"/>
          <a:lstStyle/>
          <a:p>
            <a:pPr indent="0" marL="0">
              <a:buNone/>
            </a:pPr>
            <a:r>
              <a:rPr lang="en-US" sz="1600" dirty="0" u="sng">
                <a:solidFill>
                  <a:srgbClr val="C4A35A"/>
                </a:solidFill>
                <a:latin typeface="Georgia" pitchFamily="34" charset="0"/>
                <a:ea typeface="Georgia" pitchFamily="34" charset="-122"/>
                <a:cs typeface="Georgia" pitchFamily="34" charset="-120"/>
                <a:hlinkClick r:id="rId7"/>
              </a:rPr>
              <a:t>USCCB</a:t>
            </a:r>
            <a:endParaRPr lang="en-US" sz="1600" dirty="0"/>
          </a:p>
        </p:txBody>
      </p:sp>
      <p:sp>
        <p:nvSpPr>
          <p:cNvPr id="18" name="Text 16"/>
          <p:cNvSpPr/>
          <p:nvPr/>
        </p:nvSpPr>
        <p:spPr>
          <a:xfrm>
            <a:off x="731520" y="4974336"/>
            <a:ext cx="5212080" cy="749808"/>
          </a:xfrm>
          <a:prstGeom prst="rect">
            <a:avLst/>
          </a:prstGeom>
          <a:noFill/>
          <a:ln/>
        </p:spPr>
        <p:txBody>
          <a:bodyPr wrap="square" lIns="0" tIns="0" rIns="0" bIns="0" rtlCol="0" anchor="ctr"/>
          <a:lstStyle/>
          <a:p>
            <a:pPr indent="0" marL="0">
              <a:buNone/>
            </a:pPr>
            <a:r>
              <a:rPr sz="1300">
                <a:solidFill>
                  <a:srgbClr val="4A554C"/>
                </a:solidFill>
                <a:latin typeface="Arial"/>
              </a:rPr>
              <a:t>Mass for the Care of Creation texts, now confirmed in English and Spanish.</a:t>
            </a:r>
            <a:endParaRPr lang="en-US" sz="1400" dirty="0"/>
          </a:p>
          <a:p>
            <a:r>
              <a:rPr sz="1200" b="1" u="sng">
                <a:solidFill>
                  <a:srgbClr val="C4A35A"/>
                </a:solidFill>
                <a:latin typeface="Arial"/>
                <a:hlinkClick r:id="rId7"/>
              </a:rPr>
              <a:t>usccb.org/resources/mass-for-the-care-of-creation</a:t>
            </a:r>
          </a:p>
        </p:txBody>
      </p:sp>
      <p:sp>
        <p:nvSpPr>
          <p:cNvPr id="19" name="Shape 17"/>
          <p:cNvSpPr/>
          <p:nvPr/>
        </p:nvSpPr>
        <p:spPr>
          <a:xfrm>
            <a:off x="6309360" y="4407408"/>
            <a:ext cx="5623560" cy="1517904"/>
          </a:xfrm>
          <a:prstGeom prst="roundRect">
            <a:avLst>
              <a:gd name="adj" fmla="val 3614"/>
            </a:avLst>
          </a:prstGeom>
          <a:solidFill>
            <a:srgbClr val="FFFBF3"/>
          </a:solidFill>
          <a:ln/>
        </p:spPr>
        <p:txBody>
          <a:bodyPr/>
          <a:p/>
        </p:txBody>
      </p:sp>
      <p:sp>
        <p:nvSpPr>
          <p:cNvPr id="20" name="Text 18"/>
          <p:cNvSpPr/>
          <p:nvPr/>
        </p:nvSpPr>
        <p:spPr>
          <a:xfrm>
            <a:off x="6537960" y="4590288"/>
            <a:ext cx="5212080" cy="347472"/>
          </a:xfrm>
          <a:prstGeom prst="rect">
            <a:avLst/>
          </a:prstGeom>
          <a:noFill/>
          <a:ln/>
        </p:spPr>
        <p:txBody>
          <a:bodyPr wrap="square" lIns="0" tIns="0" rIns="0" bIns="0" rtlCol="0" anchor="ctr"/>
          <a:lstStyle/>
          <a:p>
            <a:pPr indent="0" marL="0">
              <a:buNone/>
            </a:pPr>
            <a:r>
              <a:rPr lang="en-US" sz="1600" dirty="0" u="sng">
                <a:solidFill>
                  <a:srgbClr val="C4A35A"/>
                </a:solidFill>
                <a:latin typeface="Georgia" pitchFamily="34" charset="0"/>
                <a:ea typeface="Georgia" pitchFamily="34" charset="-122"/>
                <a:cs typeface="Georgia" pitchFamily="34" charset="-120"/>
                <a:hlinkClick r:id="rId8"/>
              </a:rPr>
              <a:t>Season of Creation</a:t>
            </a:r>
            <a:endParaRPr lang="en-US" sz="1600" dirty="0"/>
          </a:p>
        </p:txBody>
      </p:sp>
      <p:sp>
        <p:nvSpPr>
          <p:cNvPr id="21" name="Text 19"/>
          <p:cNvSpPr/>
          <p:nvPr/>
        </p:nvSpPr>
        <p:spPr>
          <a:xfrm>
            <a:off x="6537960" y="4974336"/>
            <a:ext cx="5212080" cy="749808"/>
          </a:xfrm>
          <a:prstGeom prst="rect">
            <a:avLst/>
          </a:prstGeom>
          <a:noFill/>
          <a:ln/>
        </p:spPr>
        <p:txBody>
          <a:bodyPr wrap="square" lIns="0" tIns="0" rIns="0" bIns="0" rtlCol="0" anchor="ctr"/>
          <a:lstStyle/>
          <a:p>
            <a:pPr indent="0" marL="0">
              <a:buNone/>
            </a:pPr>
            <a:r>
              <a:rPr sz="1300">
                <a:solidFill>
                  <a:srgbClr val="4A554C"/>
                </a:solidFill>
                <a:latin typeface="Arial"/>
              </a:rPr>
              <a:t>2026 Celebration Guide and Living Water theme materials.</a:t>
            </a:r>
            <a:endParaRPr lang="en-US" sz="1400" dirty="0"/>
          </a:p>
          <a:p>
            <a:r>
              <a:rPr sz="1200" b="1" u="sng">
                <a:solidFill>
                  <a:srgbClr val="C4A35A"/>
                </a:solidFill>
                <a:latin typeface="Arial"/>
                <a:hlinkClick r:id="rId8"/>
              </a:rPr>
              <a:t>seasonofcreation.org/resources</a:t>
            </a:r>
          </a:p>
        </p:txBody>
      </p:sp>
      <p:sp>
        <p:nvSpPr>
          <p:cNvPr id="22" name="Shape 20"/>
          <p:cNvSpPr/>
          <p:nvPr/>
        </p:nvSpPr>
        <p:spPr>
          <a:xfrm>
            <a:off x="502920" y="6510528"/>
            <a:ext cx="11183112" cy="0"/>
          </a:xfrm>
          <a:prstGeom prst="line">
            <a:avLst/>
          </a:prstGeom>
          <a:noFill/>
          <a:ln w="7620">
            <a:solidFill>
              <a:srgbClr val="C9C0A8"/>
            </a:solidFill>
            <a:prstDash val="solid"/>
          </a:ln>
        </p:spPr>
        <p:txBody>
          <a:bodyPr/>
          <a:p/>
        </p:txBody>
      </p:sp>
      <p:sp>
        <p:nvSpPr>
          <p:cNvPr id="23" name="Text 21"/>
          <p:cNvSpPr/>
          <p:nvPr/>
        </p:nvSpPr>
        <p:spPr>
          <a:xfrm>
            <a:off x="502920" y="6547104"/>
            <a:ext cx="8412480" cy="237744"/>
          </a:xfrm>
          <a:prstGeom prst="rect">
            <a:avLst/>
          </a:prstGeom>
          <a:noFill/>
          <a:ln/>
        </p:spPr>
        <p:txBody>
          <a:bodyPr wrap="square" lIns="0" tIns="0" rIns="0" bIns="0" rtlCol="0" anchor="ctr"/>
          <a:lstStyle/>
          <a:p>
            <a:pPr indent="0" marL="0">
              <a:buNone/>
            </a:pPr>
            <a:r>
              <a:rPr lang="en-US" sz="900" spc="120" kern="0" dirty="0">
                <a:solidFill>
                  <a:srgbClr val="6B736C"/>
                </a:solidFill>
                <a:latin typeface="Arial" pitchFamily="34" charset="0"/>
                <a:ea typeface="Arial" pitchFamily="34" charset="-122"/>
                <a:cs typeface="Arial" pitchFamily="34" charset="-120"/>
              </a:rPr>
              <a:t>CREATION CARE IN THE CLASSROOM  ·  K–5 CATHOLIC TEACHERS</a:t>
            </a:r>
            <a:endParaRPr lang="en-US" sz="900" dirty="0"/>
          </a:p>
        </p:txBody>
      </p:sp>
      <p:sp>
        <p:nvSpPr>
          <p:cNvPr id="24" name="Text 22"/>
          <p:cNvSpPr/>
          <p:nvPr/>
        </p:nvSpPr>
        <p:spPr>
          <a:xfrm>
            <a:off x="9509760" y="6547104"/>
            <a:ext cx="2176272" cy="237744"/>
          </a:xfrm>
          <a:prstGeom prst="rect">
            <a:avLst/>
          </a:prstGeom>
          <a:noFill/>
          <a:ln/>
        </p:spPr>
        <p:txBody>
          <a:bodyPr wrap="square" lIns="0" tIns="0" rIns="0" bIns="0" rtlCol="0" anchor="ctr"/>
          <a:lstStyle/>
          <a:p>
            <a:pPr algn="r" indent="0" marL="0">
              <a:buNone/>
            </a:pPr>
            <a:r>
              <a:rPr lang="en-US" sz="900" dirty="0">
                <a:solidFill>
                  <a:srgbClr val="6B736C"/>
                </a:solidFill>
                <a:latin typeface="Arial" pitchFamily="34" charset="0"/>
                <a:ea typeface="Arial" pitchFamily="34" charset="-122"/>
                <a:cs typeface="Arial" pitchFamily="34" charset="-120"/>
              </a:rPr>
              <a:t>25  /  30</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3">
    <p:bg>
      <p:bgPr>
        <a:solidFill>
          <a:srgbClr val="F4EFE2"/>
        </a:solidFill>
      </p:bgPr>
    </p:bg>
    <p:spTree>
      <p:nvGrpSpPr>
        <p:cNvPr id="1" name=""/>
        <p:cNvGrpSpPr/>
        <p:nvPr/>
      </p:nvGrpSpPr>
      <p:grpSpPr>
        <a:xfrm>
          <a:off x="0" y="0"/>
          <a:ext cx="0" cy="0"/>
          <a:chOff x="0" y="0"/>
          <a:chExt cx="0" cy="0"/>
        </a:xfrm>
      </p:grpSpPr>
      <p:sp>
        <p:nvSpPr>
          <p:cNvPr id="2" name="Text 0"/>
          <p:cNvSpPr/>
          <p:nvPr/>
        </p:nvSpPr>
        <p:spPr>
          <a:xfrm>
            <a:off x="502920" y="256032"/>
            <a:ext cx="11155680" cy="219456"/>
          </a:xfrm>
          <a:prstGeom prst="rect">
            <a:avLst/>
          </a:prstGeom>
          <a:noFill/>
          <a:ln/>
        </p:spPr>
        <p:txBody>
          <a:bodyPr wrap="square" lIns="0" tIns="0" rIns="0" bIns="0" rtlCol="0" anchor="ctr"/>
          <a:lstStyle/>
          <a:p>
            <a:pPr indent="0" marL="0">
              <a:buNone/>
            </a:pPr>
            <a:r>
              <a:rPr lang="en-US" sz="1100" b="1" spc="220" kern="0" dirty="0">
                <a:solidFill>
                  <a:srgbClr val="4F7A5C"/>
                </a:solidFill>
                <a:latin typeface="Arial" pitchFamily="34" charset="0"/>
                <a:ea typeface="Arial" pitchFamily="34" charset="-122"/>
                <a:cs typeface="Arial" pitchFamily="34" charset="-120"/>
              </a:rPr>
              <a:t>22  ·  A CHILD-SIZED COVENANT</a:t>
            </a:r>
            <a:endParaRPr lang="en-US" sz="1100" dirty="0"/>
          </a:p>
        </p:txBody>
      </p:sp>
      <p:sp>
        <p:nvSpPr>
          <p:cNvPr id="3" name="Text 1"/>
          <p:cNvSpPr/>
          <p:nvPr/>
        </p:nvSpPr>
        <p:spPr>
          <a:xfrm>
            <a:off x="502920" y="475488"/>
            <a:ext cx="11155680" cy="475488"/>
          </a:xfrm>
          <a:prstGeom prst="rect">
            <a:avLst/>
          </a:prstGeom>
          <a:noFill/>
          <a:ln/>
        </p:spPr>
        <p:txBody>
          <a:bodyPr wrap="square" lIns="0" tIns="0" rIns="0" bIns="0" rtlCol="0" anchor="ctr"/>
          <a:lstStyle/>
          <a:p>
            <a:pPr indent="0" marL="0">
              <a:buNone/>
            </a:pPr>
            <a:r>
              <a:rPr lang="en-US" sz="2600" dirty="0">
                <a:solidFill>
                  <a:srgbClr val="1B3A2A"/>
                </a:solidFill>
                <a:latin typeface="Georgia" pitchFamily="34" charset="0"/>
                <a:ea typeface="Georgia" pitchFamily="34" charset="-122"/>
                <a:cs typeface="Georgia" pitchFamily="34" charset="-120"/>
              </a:rPr>
              <a:t>A classroom St. Francis Pledge</a:t>
            </a:r>
            <a:endParaRPr lang="en-US" sz="2600" dirty="0"/>
          </a:p>
        </p:txBody>
      </p:sp>
      <p:sp>
        <p:nvSpPr>
          <p:cNvPr id="4" name="Shape 2"/>
          <p:cNvSpPr/>
          <p:nvPr/>
        </p:nvSpPr>
        <p:spPr>
          <a:xfrm>
            <a:off x="502920" y="1097280"/>
            <a:ext cx="11183112" cy="4800600"/>
          </a:xfrm>
          <a:prstGeom prst="roundRect">
            <a:avLst>
              <a:gd name="adj" fmla="val 1524"/>
            </a:avLst>
          </a:prstGeom>
          <a:solidFill>
            <a:srgbClr val="1B3A2A"/>
          </a:solidFill>
          <a:ln/>
        </p:spPr>
        <p:txBody>
          <a:bodyPr/>
          <a:p/>
        </p:txBody>
      </p:sp>
      <p:sp>
        <p:nvSpPr>
          <p:cNvPr id="5" name="Text 3"/>
          <p:cNvSpPr/>
          <p:nvPr/>
        </p:nvSpPr>
        <p:spPr>
          <a:xfrm>
            <a:off x="822960" y="1325880"/>
            <a:ext cx="10515600" cy="365760"/>
          </a:xfrm>
          <a:prstGeom prst="rect">
            <a:avLst/>
          </a:prstGeom>
          <a:noFill/>
          <a:ln/>
        </p:spPr>
        <p:txBody>
          <a:bodyPr wrap="square" lIns="0" tIns="0" rIns="0" bIns="0" rtlCol="0" anchor="ctr"/>
          <a:lstStyle/>
          <a:p>
            <a:pPr indent="0" marL="0">
              <a:buNone/>
            </a:pPr>
            <a:r>
              <a:rPr lang="en-US" sz="2000" i="1" dirty="0">
                <a:solidFill>
                  <a:srgbClr val="C4A35A"/>
                </a:solidFill>
                <a:latin typeface="Georgia" pitchFamily="34" charset="0"/>
                <a:ea typeface="Georgia" pitchFamily="34" charset="-122"/>
                <a:cs typeface="Georgia" pitchFamily="34" charset="-120"/>
              </a:rPr>
              <a:t>As friends of Jesus and of St. Francis, we promise to:</a:t>
            </a:r>
            <a:endParaRPr lang="en-US" sz="2000" dirty="0"/>
          </a:p>
        </p:txBody>
      </p:sp>
      <p:sp>
        <p:nvSpPr>
          <p:cNvPr id="6" name="Text 4"/>
          <p:cNvSpPr/>
          <p:nvPr/>
        </p:nvSpPr>
        <p:spPr>
          <a:xfrm>
            <a:off x="868680" y="1828800"/>
            <a:ext cx="1645920" cy="594360"/>
          </a:xfrm>
          <a:prstGeom prst="rect">
            <a:avLst/>
          </a:prstGeom>
          <a:noFill/>
          <a:ln/>
        </p:spPr>
        <p:txBody>
          <a:bodyPr wrap="square" lIns="0" tIns="0" rIns="0" bIns="0" rtlCol="0" anchor="ctr"/>
          <a:lstStyle/>
          <a:p>
            <a:pPr indent="0" marL="0">
              <a:buNone/>
            </a:pPr>
            <a:r>
              <a:rPr lang="en-US" sz="2000" dirty="0">
                <a:solidFill>
                  <a:srgbClr val="C4A35A"/>
                </a:solidFill>
                <a:latin typeface="Georgia" pitchFamily="34" charset="0"/>
                <a:ea typeface="Georgia" pitchFamily="34" charset="-122"/>
                <a:cs typeface="Georgia" pitchFamily="34" charset="-120"/>
              </a:rPr>
              <a:t>Pray</a:t>
            </a:r>
            <a:endParaRPr lang="en-US" sz="2000" dirty="0"/>
          </a:p>
        </p:txBody>
      </p:sp>
      <p:sp>
        <p:nvSpPr>
          <p:cNvPr id="7" name="Text 5"/>
          <p:cNvSpPr/>
          <p:nvPr/>
        </p:nvSpPr>
        <p:spPr>
          <a:xfrm>
            <a:off x="2651760" y="1828800"/>
            <a:ext cx="8595360" cy="594360"/>
          </a:xfrm>
          <a:prstGeom prst="rect">
            <a:avLst/>
          </a:prstGeom>
          <a:noFill/>
          <a:ln/>
        </p:spPr>
        <p:txBody>
          <a:bodyPr wrap="square" lIns="0" tIns="0" rIns="0" bIns="0" rtlCol="0" anchor="ctr"/>
          <a:lstStyle/>
          <a:p>
            <a:pPr indent="0" marL="0">
              <a:buNone/>
            </a:pPr>
            <a:r>
              <a:rPr lang="en-US" sz="1800" dirty="0">
                <a:solidFill>
                  <a:srgbClr val="F4EFE2"/>
                </a:solidFill>
                <a:latin typeface="Arial" pitchFamily="34" charset="0"/>
                <a:ea typeface="Arial" pitchFamily="34" charset="-122"/>
                <a:cs typeface="Arial" pitchFamily="34" charset="-120"/>
              </a:rPr>
              <a:t>Thank God every day for the world He made.</a:t>
            </a:r>
            <a:endParaRPr lang="en-US" sz="1800" dirty="0"/>
          </a:p>
        </p:txBody>
      </p:sp>
      <p:sp>
        <p:nvSpPr>
          <p:cNvPr id="8" name="Text 6"/>
          <p:cNvSpPr/>
          <p:nvPr/>
        </p:nvSpPr>
        <p:spPr>
          <a:xfrm>
            <a:off x="868680" y="2542032"/>
            <a:ext cx="1645920" cy="594360"/>
          </a:xfrm>
          <a:prstGeom prst="rect">
            <a:avLst/>
          </a:prstGeom>
          <a:noFill/>
          <a:ln/>
        </p:spPr>
        <p:txBody>
          <a:bodyPr wrap="square" lIns="0" tIns="0" rIns="0" bIns="0" rtlCol="0" anchor="ctr"/>
          <a:lstStyle/>
          <a:p>
            <a:pPr indent="0" marL="0">
              <a:buNone/>
            </a:pPr>
            <a:r>
              <a:rPr lang="en-US" sz="2000" dirty="0">
                <a:solidFill>
                  <a:srgbClr val="C4A35A"/>
                </a:solidFill>
                <a:latin typeface="Georgia" pitchFamily="34" charset="0"/>
                <a:ea typeface="Georgia" pitchFamily="34" charset="-122"/>
                <a:cs typeface="Georgia" pitchFamily="34" charset="-120"/>
              </a:rPr>
              <a:t>Notice</a:t>
            </a:r>
            <a:endParaRPr lang="en-US" sz="2000" dirty="0"/>
          </a:p>
        </p:txBody>
      </p:sp>
      <p:sp>
        <p:nvSpPr>
          <p:cNvPr id="9" name="Text 7"/>
          <p:cNvSpPr/>
          <p:nvPr/>
        </p:nvSpPr>
        <p:spPr>
          <a:xfrm>
            <a:off x="2651760" y="2542032"/>
            <a:ext cx="8595360" cy="594360"/>
          </a:xfrm>
          <a:prstGeom prst="rect">
            <a:avLst/>
          </a:prstGeom>
          <a:noFill/>
          <a:ln/>
        </p:spPr>
        <p:txBody>
          <a:bodyPr wrap="square" lIns="0" tIns="0" rIns="0" bIns="0" rtlCol="0" anchor="ctr"/>
          <a:lstStyle/>
          <a:p>
            <a:pPr indent="0" marL="0">
              <a:buNone/>
            </a:pPr>
            <a:r>
              <a:rPr lang="en-US" sz="1800" dirty="0">
                <a:solidFill>
                  <a:srgbClr val="F4EFE2"/>
                </a:solidFill>
                <a:latin typeface="Arial" pitchFamily="34" charset="0"/>
                <a:ea typeface="Arial" pitchFamily="34" charset="-122"/>
                <a:cs typeface="Arial" pitchFamily="34" charset="-120"/>
              </a:rPr>
              <a:t>Look closely at creatures, weather, water, and one another.</a:t>
            </a:r>
            <a:endParaRPr lang="en-US" sz="1800" dirty="0"/>
          </a:p>
        </p:txBody>
      </p:sp>
      <p:sp>
        <p:nvSpPr>
          <p:cNvPr id="10" name="Text 8"/>
          <p:cNvSpPr/>
          <p:nvPr/>
        </p:nvSpPr>
        <p:spPr>
          <a:xfrm>
            <a:off x="868680" y="3255264"/>
            <a:ext cx="1645920" cy="594360"/>
          </a:xfrm>
          <a:prstGeom prst="rect">
            <a:avLst/>
          </a:prstGeom>
          <a:noFill/>
          <a:ln/>
        </p:spPr>
        <p:txBody>
          <a:bodyPr wrap="square" lIns="0" tIns="0" rIns="0" bIns="0" rtlCol="0" anchor="ctr"/>
          <a:lstStyle/>
          <a:p>
            <a:pPr indent="0" marL="0">
              <a:buNone/>
            </a:pPr>
            <a:r>
              <a:rPr lang="en-US" sz="2000" dirty="0">
                <a:solidFill>
                  <a:srgbClr val="C4A35A"/>
                </a:solidFill>
                <a:latin typeface="Georgia" pitchFamily="34" charset="0"/>
                <a:ea typeface="Georgia" pitchFamily="34" charset="-122"/>
                <a:cs typeface="Georgia" pitchFamily="34" charset="-120"/>
              </a:rPr>
              <a:t>Care</a:t>
            </a:r>
            <a:endParaRPr lang="en-US" sz="2000" dirty="0"/>
          </a:p>
        </p:txBody>
      </p:sp>
      <p:sp>
        <p:nvSpPr>
          <p:cNvPr id="11" name="Text 9"/>
          <p:cNvSpPr/>
          <p:nvPr/>
        </p:nvSpPr>
        <p:spPr>
          <a:xfrm>
            <a:off x="2651760" y="3255264"/>
            <a:ext cx="8595360" cy="594360"/>
          </a:xfrm>
          <a:prstGeom prst="rect">
            <a:avLst/>
          </a:prstGeom>
          <a:noFill/>
          <a:ln/>
        </p:spPr>
        <p:txBody>
          <a:bodyPr wrap="square" lIns="0" tIns="0" rIns="0" bIns="0" rtlCol="0" anchor="ctr"/>
          <a:lstStyle/>
          <a:p>
            <a:pPr indent="0" marL="0">
              <a:buNone/>
            </a:pPr>
            <a:r>
              <a:rPr lang="en-US" sz="1800" dirty="0">
                <a:solidFill>
                  <a:srgbClr val="F4EFE2"/>
                </a:solidFill>
                <a:latin typeface="Arial" pitchFamily="34" charset="0"/>
                <a:ea typeface="Arial" pitchFamily="34" charset="-122"/>
                <a:cs typeface="Arial" pitchFamily="34" charset="-120"/>
              </a:rPr>
              <a:t>Treat our classroom, campus, and supplies as gifts on loan.</a:t>
            </a:r>
            <a:endParaRPr lang="en-US" sz="1800" dirty="0"/>
          </a:p>
        </p:txBody>
      </p:sp>
      <p:sp>
        <p:nvSpPr>
          <p:cNvPr id="12" name="Text 10"/>
          <p:cNvSpPr/>
          <p:nvPr/>
        </p:nvSpPr>
        <p:spPr>
          <a:xfrm>
            <a:off x="868680" y="3968496"/>
            <a:ext cx="1645920" cy="594360"/>
          </a:xfrm>
          <a:prstGeom prst="rect">
            <a:avLst/>
          </a:prstGeom>
          <a:noFill/>
          <a:ln/>
        </p:spPr>
        <p:txBody>
          <a:bodyPr wrap="square" lIns="0" tIns="0" rIns="0" bIns="0" rtlCol="0" anchor="ctr"/>
          <a:lstStyle/>
          <a:p>
            <a:pPr indent="0" marL="0">
              <a:buNone/>
            </a:pPr>
            <a:r>
              <a:rPr lang="en-US" sz="2000" dirty="0">
                <a:solidFill>
                  <a:srgbClr val="C4A35A"/>
                </a:solidFill>
                <a:latin typeface="Georgia" pitchFamily="34" charset="0"/>
                <a:ea typeface="Georgia" pitchFamily="34" charset="-122"/>
                <a:cs typeface="Georgia" pitchFamily="34" charset="-120"/>
              </a:rPr>
              <a:t>Share</a:t>
            </a:r>
            <a:endParaRPr lang="en-US" sz="2000" dirty="0"/>
          </a:p>
        </p:txBody>
      </p:sp>
      <p:sp>
        <p:nvSpPr>
          <p:cNvPr id="13" name="Text 11"/>
          <p:cNvSpPr/>
          <p:nvPr/>
        </p:nvSpPr>
        <p:spPr>
          <a:xfrm>
            <a:off x="2651760" y="3968496"/>
            <a:ext cx="8595360" cy="594360"/>
          </a:xfrm>
          <a:prstGeom prst="rect">
            <a:avLst/>
          </a:prstGeom>
          <a:noFill/>
          <a:ln/>
        </p:spPr>
        <p:txBody>
          <a:bodyPr wrap="square" lIns="0" tIns="0" rIns="0" bIns="0" rtlCol="0" anchor="ctr"/>
          <a:lstStyle/>
          <a:p>
            <a:pPr indent="0" marL="0">
              <a:buNone/>
            </a:pPr>
            <a:r>
              <a:rPr lang="en-US" sz="1800" dirty="0">
                <a:solidFill>
                  <a:srgbClr val="F4EFE2"/>
                </a:solidFill>
                <a:latin typeface="Arial" pitchFamily="34" charset="0"/>
                <a:ea typeface="Arial" pitchFamily="34" charset="-122"/>
                <a:cs typeface="Arial" pitchFamily="34" charset="-120"/>
              </a:rPr>
              <a:t>Remember children and families who have less than we do.</a:t>
            </a:r>
            <a:endParaRPr lang="en-US" sz="1800" dirty="0"/>
          </a:p>
        </p:txBody>
      </p:sp>
      <p:sp>
        <p:nvSpPr>
          <p:cNvPr id="14" name="Text 12"/>
          <p:cNvSpPr/>
          <p:nvPr/>
        </p:nvSpPr>
        <p:spPr>
          <a:xfrm>
            <a:off x="868680" y="4681728"/>
            <a:ext cx="1645920" cy="594360"/>
          </a:xfrm>
          <a:prstGeom prst="rect">
            <a:avLst/>
          </a:prstGeom>
          <a:noFill/>
          <a:ln/>
        </p:spPr>
        <p:txBody>
          <a:bodyPr wrap="square" lIns="0" tIns="0" rIns="0" bIns="0" rtlCol="0" anchor="ctr"/>
          <a:lstStyle/>
          <a:p>
            <a:pPr indent="0" marL="0">
              <a:buNone/>
            </a:pPr>
            <a:r>
              <a:rPr lang="en-US" sz="2000" dirty="0">
                <a:solidFill>
                  <a:srgbClr val="C4A35A"/>
                </a:solidFill>
                <a:latin typeface="Georgia" pitchFamily="34" charset="0"/>
                <a:ea typeface="Georgia" pitchFamily="34" charset="-122"/>
                <a:cs typeface="Georgia" pitchFamily="34" charset="-120"/>
              </a:rPr>
              <a:t>Act</a:t>
            </a:r>
            <a:endParaRPr lang="en-US" sz="2000" dirty="0"/>
          </a:p>
        </p:txBody>
      </p:sp>
      <p:sp>
        <p:nvSpPr>
          <p:cNvPr id="15" name="Text 13"/>
          <p:cNvSpPr/>
          <p:nvPr/>
        </p:nvSpPr>
        <p:spPr>
          <a:xfrm>
            <a:off x="2651760" y="4681728"/>
            <a:ext cx="8595360" cy="594360"/>
          </a:xfrm>
          <a:prstGeom prst="rect">
            <a:avLst/>
          </a:prstGeom>
          <a:noFill/>
          <a:ln/>
        </p:spPr>
        <p:txBody>
          <a:bodyPr wrap="square" lIns="0" tIns="0" rIns="0" bIns="0" rtlCol="0" anchor="ctr"/>
          <a:lstStyle/>
          <a:p>
            <a:pPr indent="0" marL="0">
              <a:buNone/>
            </a:pPr>
            <a:r>
              <a:rPr lang="en-US" sz="1800" dirty="0">
                <a:solidFill>
                  <a:srgbClr val="F4EFE2"/>
                </a:solidFill>
                <a:latin typeface="Arial" pitchFamily="34" charset="0"/>
                <a:ea typeface="Arial" pitchFamily="34" charset="-122"/>
                <a:cs typeface="Arial" pitchFamily="34" charset="-120"/>
              </a:rPr>
              <a:t>Do one small good thing for creation and keep doing it.</a:t>
            </a:r>
            <a:endParaRPr lang="en-US" sz="1800" dirty="0"/>
          </a:p>
        </p:txBody>
      </p:sp>
      <p:sp>
        <p:nvSpPr>
          <p:cNvPr id="16" name="Shape 14"/>
          <p:cNvSpPr/>
          <p:nvPr/>
        </p:nvSpPr>
        <p:spPr>
          <a:xfrm>
            <a:off x="502920" y="6510528"/>
            <a:ext cx="11183112" cy="0"/>
          </a:xfrm>
          <a:prstGeom prst="line">
            <a:avLst/>
          </a:prstGeom>
          <a:noFill/>
          <a:ln w="7620">
            <a:solidFill>
              <a:srgbClr val="C9C0A8"/>
            </a:solidFill>
            <a:prstDash val="solid"/>
          </a:ln>
        </p:spPr>
        <p:txBody>
          <a:bodyPr/>
          <a:p/>
        </p:txBody>
      </p:sp>
      <p:sp>
        <p:nvSpPr>
          <p:cNvPr id="17" name="Text 15"/>
          <p:cNvSpPr/>
          <p:nvPr/>
        </p:nvSpPr>
        <p:spPr>
          <a:xfrm>
            <a:off x="502920" y="6547104"/>
            <a:ext cx="8412480" cy="237744"/>
          </a:xfrm>
          <a:prstGeom prst="rect">
            <a:avLst/>
          </a:prstGeom>
          <a:noFill/>
          <a:ln/>
        </p:spPr>
        <p:txBody>
          <a:bodyPr wrap="square" lIns="0" tIns="0" rIns="0" bIns="0" rtlCol="0" anchor="ctr"/>
          <a:lstStyle/>
          <a:p>
            <a:pPr indent="0" marL="0">
              <a:buNone/>
            </a:pPr>
            <a:r>
              <a:rPr lang="en-US" sz="900" spc="120" kern="0" dirty="0">
                <a:solidFill>
                  <a:srgbClr val="6B736C"/>
                </a:solidFill>
                <a:latin typeface="Arial" pitchFamily="34" charset="0"/>
                <a:ea typeface="Arial" pitchFamily="34" charset="-122"/>
                <a:cs typeface="Arial" pitchFamily="34" charset="-120"/>
              </a:rPr>
              <a:t>CREATION CARE IN THE CLASSROOM  ·  K–5 CATHOLIC TEACHERS</a:t>
            </a:r>
            <a:endParaRPr lang="en-US" sz="900" dirty="0"/>
          </a:p>
        </p:txBody>
      </p:sp>
      <p:sp>
        <p:nvSpPr>
          <p:cNvPr id="18" name="Text 16"/>
          <p:cNvSpPr/>
          <p:nvPr/>
        </p:nvSpPr>
        <p:spPr>
          <a:xfrm>
            <a:off x="9509760" y="6547104"/>
            <a:ext cx="2176272" cy="237744"/>
          </a:xfrm>
          <a:prstGeom prst="rect">
            <a:avLst/>
          </a:prstGeom>
          <a:noFill/>
          <a:ln/>
        </p:spPr>
        <p:txBody>
          <a:bodyPr wrap="square" lIns="0" tIns="0" rIns="0" bIns="0" rtlCol="0" anchor="ctr"/>
          <a:lstStyle/>
          <a:p>
            <a:pPr algn="r" indent="0" marL="0">
              <a:buNone/>
            </a:pPr>
            <a:r>
              <a:rPr lang="en-US" sz="900" dirty="0">
                <a:solidFill>
                  <a:srgbClr val="6B736C"/>
                </a:solidFill>
                <a:latin typeface="Arial" pitchFamily="34" charset="0"/>
                <a:ea typeface="Arial" pitchFamily="34" charset="-122"/>
                <a:cs typeface="Arial" pitchFamily="34" charset="-120"/>
              </a:rPr>
              <a:t>26  /  30</a:t>
            </a:r>
            <a:endParaRPr lang="en-US" sz="900" dirty="0"/>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2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jpg"/>
          <p:cNvPicPr>
            <a:picLocks noChangeAspect="1"/>
          </p:cNvPicPr>
          <p:nvPr/>
        </p:nvPicPr>
        <p:blipFill>
          <a:blip r:embed="rId4"/>
          <a:stretch>
            <a:fillRect/>
          </a:stretch>
        </p:blipFill>
        <p:spPr>
          <a:xfrm>
            <a:off x="7498079" y="0"/>
            <a:ext cx="4693615" cy="6858000"/>
          </a:xfrm>
          <a:prstGeom prst="rect">
            <a:avLst/>
          </a:prstGeom>
        </p:spPr>
      </p:pic>
      <p:sp>
        <p:nvSpPr>
          <p:cNvPr id="4" name="Rectangle 3"/>
          <p:cNvSpPr/>
          <p:nvPr/>
        </p:nvSpPr>
        <p:spPr>
          <a:xfrm>
            <a:off x="0" y="0"/>
            <a:ext cx="7498079" cy="6858000"/>
          </a:xfrm>
          <a:prstGeom prst="rect">
            <a:avLst/>
          </a:prstGeom>
          <a:solidFill>
            <a:srgbClr val="122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097280"/>
            <a:ext cx="6583680" cy="274320"/>
          </a:xfrm>
          <a:prstGeom prst="rect">
            <a:avLst/>
          </a:prstGeom>
          <a:noFill/>
        </p:spPr>
        <p:txBody>
          <a:bodyPr wrap="square">
            <a:spAutoFit/>
          </a:bodyPr>
          <a:lstStyle/>
          <a:p>
            <a:pPr algn="l"/>
            <a:r>
              <a:rPr sz="1200" b="1" i="0">
                <a:solidFill>
                  <a:srgbClr val="C4A35A"/>
                </a:solidFill>
                <a:latin typeface="Arial"/>
              </a:rPr>
              <a:t>WHY ACTION FIRST</a:t>
            </a:r>
          </a:p>
        </p:txBody>
      </p:sp>
      <p:sp>
        <p:nvSpPr>
          <p:cNvPr id="6" name="TextBox 5"/>
          <p:cNvSpPr txBox="1"/>
          <p:nvPr/>
        </p:nvSpPr>
        <p:spPr>
          <a:xfrm>
            <a:off x="594360" y="1554480"/>
            <a:ext cx="6583680" cy="2560320"/>
          </a:xfrm>
          <a:prstGeom prst="rect">
            <a:avLst/>
          </a:prstGeom>
          <a:noFill/>
        </p:spPr>
        <p:txBody>
          <a:bodyPr wrap="square">
            <a:spAutoFit/>
          </a:bodyPr>
          <a:lstStyle/>
          <a:p>
            <a:pPr algn="l"/>
            <a:r>
              <a:rPr sz="2400" b="0" i="1">
                <a:solidFill>
                  <a:srgbClr val="F4EFE2"/>
                </a:solidFill>
                <a:latin typeface="Georgia"/>
              </a:rPr>
              <a:t>We need heroes. We need to win people over. And you don’t do that by talking. You do it by taking action that improves their lives—now.</a:t>
            </a:r>
          </a:p>
        </p:txBody>
      </p:sp>
      <p:sp>
        <p:nvSpPr>
          <p:cNvPr id="7" name="TextBox 6"/>
          <p:cNvSpPr txBox="1"/>
          <p:nvPr/>
        </p:nvSpPr>
        <p:spPr>
          <a:xfrm>
            <a:off x="594360" y="4297680"/>
            <a:ext cx="6583680" cy="329184"/>
          </a:xfrm>
          <a:prstGeom prst="rect">
            <a:avLst/>
          </a:prstGeom>
          <a:noFill/>
        </p:spPr>
        <p:txBody>
          <a:bodyPr wrap="square">
            <a:spAutoFit/>
          </a:bodyPr>
          <a:lstStyle/>
          <a:p>
            <a:pPr algn="l"/>
            <a:r>
              <a:rPr sz="1500" b="0" i="0">
                <a:solidFill>
                  <a:srgbClr val="D9CFAE"/>
                </a:solidFill>
                <a:latin typeface="Arial"/>
              </a:rPr>
              <a:t>Arnold Schwarzenegger</a:t>
            </a:r>
          </a:p>
        </p:txBody>
      </p:sp>
      <p:sp>
        <p:nvSpPr>
          <p:cNvPr id="8" name="TextBox 7"/>
          <p:cNvSpPr txBox="1"/>
          <p:nvPr/>
        </p:nvSpPr>
        <p:spPr>
          <a:xfrm>
            <a:off x="594360" y="4754880"/>
            <a:ext cx="6583680" cy="914400"/>
          </a:xfrm>
          <a:prstGeom prst="rect">
            <a:avLst/>
          </a:prstGeom>
          <a:noFill/>
        </p:spPr>
        <p:txBody>
          <a:bodyPr wrap="square">
            <a:spAutoFit/>
          </a:bodyPr>
          <a:lstStyle/>
          <a:p>
            <a:pPr algn="l"/>
            <a:r>
              <a:rPr sz="1500" b="0" i="0">
                <a:solidFill>
                  <a:srgbClr val="F4EFE2"/>
                </a:solidFill>
                <a:latin typeface="Arial"/>
              </a:rPr>
              <a:t>The same is true in a K–5 classroom. Children learn to care for creation by doing it—today, with dirt under their nails.</a:t>
            </a:r>
          </a:p>
        </p:txBody>
      </p:sp>
      <p:sp>
        <p:nvSpPr>
          <p:cNvPr id="9" name="Rectangle 8"/>
          <p:cNvSpPr/>
          <p:nvPr/>
        </p:nvSpPr>
        <p:spPr>
          <a:xfrm>
            <a:off x="502920" y="6510528"/>
            <a:ext cx="6766560" cy="13716"/>
          </a:xfrm>
          <a:prstGeom prst="rect">
            <a:avLst/>
          </a:prstGeom>
          <a:solidFill>
            <a:srgbClr val="3A5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6547104"/>
            <a:ext cx="4937760" cy="237744"/>
          </a:xfrm>
          <a:prstGeom prst="rect">
            <a:avLst/>
          </a:prstGeom>
          <a:noFill/>
        </p:spPr>
        <p:txBody>
          <a:bodyPr wrap="square">
            <a:spAutoFit/>
          </a:bodyPr>
          <a:lstStyle/>
          <a:p>
            <a:pPr algn="l"/>
            <a:r>
              <a:rPr sz="900" b="0" i="0">
                <a:solidFill>
                  <a:srgbClr val="D9CFAE"/>
                </a:solidFill>
                <a:latin typeface="Arial"/>
              </a:rPr>
              <a:t>CREATION CARE IN THE CLASSROOM  ·  K–5</a:t>
            </a:r>
          </a:p>
        </p:txBody>
      </p:sp>
      <p:sp>
        <p:nvSpPr>
          <p:cNvPr id="11" name="TextBox 10"/>
          <p:cNvSpPr txBox="1"/>
          <p:nvPr/>
        </p:nvSpPr>
        <p:spPr>
          <a:xfrm>
            <a:off x="5486400" y="6547104"/>
            <a:ext cx="1737360" cy="237744"/>
          </a:xfrm>
          <a:prstGeom prst="rect">
            <a:avLst/>
          </a:prstGeom>
          <a:noFill/>
        </p:spPr>
        <p:txBody>
          <a:bodyPr wrap="square">
            <a:spAutoFit/>
          </a:bodyPr>
          <a:lstStyle/>
          <a:p>
            <a:pPr algn="r"/>
            <a:r>
              <a:rPr sz="900" b="0" i="0">
                <a:solidFill>
                  <a:srgbClr val="D9CFAE"/>
                </a:solidFill>
                <a:latin typeface="Arial"/>
              </a:rPr>
              <a:t>27  /  30</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4">
    <p:bg>
      <p:bgPr>
        <a:solidFill>
          <a:srgbClr val="12261C"/>
        </a:solidFill>
      </p:bgPr>
    </p:bg>
    <p:spTree>
      <p:nvGrpSpPr>
        <p:cNvPr id="1" name=""/>
        <p:cNvGrpSpPr/>
        <p:nvPr/>
      </p:nvGrpSpPr>
      <p:grpSpPr>
        <a:xfrm>
          <a:off x="0" y="0"/>
          <a:ext cx="0" cy="0"/>
          <a:chOff x="0" y="0"/>
          <a:chExt cx="0" cy="0"/>
        </a:xfrm>
      </p:grpSpPr>
      <p:pic>
        <p:nvPicPr>
          <p:cNvPr id="10" name="Picture 9" descr="slide24.jpg"/>
          <p:cNvPicPr>
            <a:picLocks noChangeAspect="1"/>
          </p:cNvPicPr>
          <p:nvPr/>
        </p:nvPicPr>
        <p:blipFill>
          <a:blip r:embed="rId4"/>
          <a:stretch>
            <a:fillRect/>
          </a:stretch>
        </p:blipFill>
        <p:spPr>
          <a:xfrm>
            <a:off x="7498080" y="0"/>
            <a:ext cx="4693615" cy="6858000"/>
          </a:xfrm>
          <a:prstGeom prst="rect">
            <a:avLst/>
          </a:prstGeom>
        </p:spPr>
      </p:pic>
      <p:sp>
        <p:nvSpPr>
          <p:cNvPr id="3" name="Shape 0"/>
          <p:cNvSpPr/>
          <p:nvPr/>
        </p:nvSpPr>
        <p:spPr>
          <a:xfrm>
            <a:off x="0" y="0"/>
            <a:ext cx="7955280" cy="6858000"/>
          </a:xfrm>
          <a:prstGeom prst="rect">
            <a:avLst/>
          </a:prstGeom>
          <a:solidFill>
            <a:srgbClr val="12261C"/>
          </a:solidFill>
          <a:ln/>
        </p:spPr>
        <p:txBody>
          <a:bodyPr/>
          <a:p/>
        </p:txBody>
      </p:sp>
      <p:sp>
        <p:nvSpPr>
          <p:cNvPr id="4" name="Text 1"/>
          <p:cNvSpPr/>
          <p:nvPr/>
        </p:nvSpPr>
        <p:spPr>
          <a:xfrm>
            <a:off x="594360" y="1234440"/>
            <a:ext cx="6949440" cy="256032"/>
          </a:xfrm>
          <a:prstGeom prst="rect">
            <a:avLst/>
          </a:prstGeom>
          <a:noFill/>
          <a:ln/>
        </p:spPr>
        <p:txBody>
          <a:bodyPr wrap="square" lIns="0" tIns="0" rIns="0" bIns="0" rtlCol="0" anchor="ctr"/>
          <a:lstStyle/>
          <a:p>
            <a:pPr indent="0" marL="0">
              <a:buNone/>
            </a:pPr>
            <a:r>
              <a:rPr lang="en-US" sz="1200" b="1" spc="200" kern="0" dirty="0">
                <a:solidFill>
                  <a:srgbClr val="C4A35A"/>
                </a:solidFill>
                <a:latin typeface="Arial" pitchFamily="34" charset="0"/>
                <a:ea typeface="Arial" pitchFamily="34" charset="-122"/>
                <a:cs typeface="Arial" pitchFamily="34" charset="-120"/>
              </a:rPr>
              <a:t>23  ·  SEND FORTH</a:t>
            </a:r>
            <a:endParaRPr lang="en-US" sz="1200" dirty="0"/>
          </a:p>
        </p:txBody>
      </p:sp>
      <p:sp>
        <p:nvSpPr>
          <p:cNvPr id="5" name="Text 2"/>
          <p:cNvSpPr/>
          <p:nvPr/>
        </p:nvSpPr>
        <p:spPr>
          <a:xfrm>
            <a:off x="594360" y="1645920"/>
            <a:ext cx="7040880" cy="2286000"/>
          </a:xfrm>
          <a:prstGeom prst="rect">
            <a:avLst/>
          </a:prstGeom>
          <a:noFill/>
          <a:ln/>
        </p:spPr>
        <p:txBody>
          <a:bodyPr wrap="square" lIns="0" tIns="0" rIns="0" bIns="0" rtlCol="0" anchor="ctr"/>
          <a:lstStyle/>
          <a:p>
            <a:pPr indent="0" marL="0">
              <a:buNone/>
            </a:pPr>
            <a:r>
              <a:rPr lang="en-US" sz="3400" dirty="0">
                <a:solidFill>
                  <a:srgbClr val="F4EFE2"/>
                </a:solidFill>
                <a:latin typeface="Georgia" pitchFamily="34" charset="0"/>
                <a:ea typeface="Georgia" pitchFamily="34" charset="-122"/>
                <a:cs typeface="Georgia" pitchFamily="34" charset="-120"/>
              </a:rPr>
              <a:t>Return creation</a:t>
            </a:r>
            <a:endParaRPr lang="en-US" sz="3400" dirty="0"/>
          </a:p>
          <a:p>
            <a:pPr indent="0" marL="0">
              <a:buNone/>
            </a:pPr>
            <a:r>
              <a:rPr lang="en-US" sz="3400" dirty="0">
                <a:solidFill>
                  <a:srgbClr val="F4EFE2"/>
                </a:solidFill>
                <a:latin typeface="Georgia" pitchFamily="34" charset="0"/>
                <a:ea typeface="Georgia" pitchFamily="34" charset="-122"/>
                <a:cs typeface="Georgia" pitchFamily="34" charset="-120"/>
              </a:rPr>
              <a:t>better than we</a:t>
            </a:r>
            <a:endParaRPr lang="en-US" sz="3400" dirty="0"/>
          </a:p>
          <a:p>
            <a:pPr indent="0" marL="0">
              <a:buNone/>
            </a:pPr>
            <a:r>
              <a:rPr lang="en-US" sz="3400" dirty="0">
                <a:solidFill>
                  <a:srgbClr val="F4EFE2"/>
                </a:solidFill>
                <a:latin typeface="Georgia" pitchFamily="34" charset="0"/>
                <a:ea typeface="Georgia" pitchFamily="34" charset="-122"/>
                <a:cs typeface="Georgia" pitchFamily="34" charset="-120"/>
              </a:rPr>
              <a:t>received it.</a:t>
            </a:r>
            <a:endParaRPr lang="en-US" sz="3400" dirty="0"/>
          </a:p>
        </p:txBody>
      </p:sp>
      <p:sp>
        <p:nvSpPr>
          <p:cNvPr id="6" name="Text 3"/>
          <p:cNvSpPr/>
          <p:nvPr/>
        </p:nvSpPr>
        <p:spPr>
          <a:xfrm>
            <a:off x="594360" y="4114800"/>
            <a:ext cx="6858000" cy="1554480"/>
          </a:xfrm>
          <a:prstGeom prst="rect">
            <a:avLst/>
          </a:prstGeom>
          <a:noFill/>
          <a:ln/>
        </p:spPr>
        <p:txBody>
          <a:bodyPr wrap="square" lIns="0" tIns="0" rIns="0" bIns="0" rtlCol="0" anchor="ctr"/>
          <a:lstStyle/>
          <a:p>
            <a:pPr indent="0" marL="0">
              <a:buNone/>
            </a:pPr>
            <a:r>
              <a:rPr lang="en-US" sz="1600" dirty="0">
                <a:solidFill>
                  <a:srgbClr val="D9CFAE"/>
                </a:solidFill>
                <a:latin typeface="Arial" pitchFamily="34" charset="0"/>
                <a:ea typeface="Arial" pitchFamily="34" charset="-122"/>
                <a:cs typeface="Arial" pitchFamily="34" charset="-120"/>
              </a:rPr>
              <a:t>That Franciscan principle is simple enough for a kindergartner and demanding enough for a faculty.</a:t>
            </a:r>
            <a:endParaRPr lang="en-US" sz="1600" dirty="0"/>
          </a:p>
          <a:p>
            <a:pPr indent="0" marL="0">
              <a:buNone/>
            </a:pPr>
            <a:endParaRPr lang="en-US" sz="1600" dirty="0"/>
          </a:p>
          <a:p>
            <a:pPr indent="0" marL="0">
              <a:buNone/>
            </a:pPr>
            <a:r>
              <a:rPr lang="en-US" sz="1600" dirty="0">
                <a:solidFill>
                  <a:srgbClr val="D9CFAE"/>
                </a:solidFill>
                <a:latin typeface="Arial" pitchFamily="34" charset="0"/>
                <a:ea typeface="Arial" pitchFamily="34" charset="-122"/>
                <a:cs typeface="Arial" pitchFamily="34" charset="-120"/>
              </a:rPr>
              <a:t>The Jubilee Year will end. The children in front of you will not forget the teacher who taught them to praise, to notice, and to keep.</a:t>
            </a:r>
            <a:endParaRPr lang="en-US" sz="1600" dirty="0"/>
          </a:p>
        </p:txBody>
      </p:sp>
      <p:sp>
        <p:nvSpPr>
          <p:cNvPr id="7" name="Shape 4"/>
          <p:cNvSpPr/>
          <p:nvPr/>
        </p:nvSpPr>
        <p:spPr>
          <a:xfrm>
            <a:off x="502920" y="6510528"/>
            <a:ext cx="7223760" cy="0"/>
          </a:xfrm>
          <a:prstGeom prst="line">
            <a:avLst/>
          </a:prstGeom>
          <a:noFill/>
          <a:ln w="7620">
            <a:solidFill>
              <a:srgbClr val="3A5A46"/>
            </a:solidFill>
            <a:prstDash val="solid"/>
          </a:ln>
        </p:spPr>
        <p:txBody>
          <a:bodyPr/>
          <a:p/>
        </p:txBody>
      </p:sp>
      <p:sp>
        <p:nvSpPr>
          <p:cNvPr id="8" name="Text 5"/>
          <p:cNvSpPr/>
          <p:nvPr/>
        </p:nvSpPr>
        <p:spPr>
          <a:xfrm>
            <a:off x="502920" y="6547104"/>
            <a:ext cx="8412480" cy="237744"/>
          </a:xfrm>
          <a:prstGeom prst="rect">
            <a:avLst/>
          </a:prstGeom>
          <a:noFill/>
          <a:ln/>
        </p:spPr>
        <p:txBody>
          <a:bodyPr wrap="square" lIns="0" tIns="0" rIns="0" bIns="0" rtlCol="0" anchor="ctr"/>
          <a:lstStyle/>
          <a:p>
            <a:pPr indent="0" marL="0">
              <a:buNone/>
            </a:pPr>
            <a:r>
              <a:rPr lang="en-US" sz="900" spc="120" kern="0" dirty="0">
                <a:solidFill>
                  <a:srgbClr val="D9CFAE"/>
                </a:solidFill>
                <a:latin typeface="Arial" pitchFamily="34" charset="0"/>
                <a:ea typeface="Arial" pitchFamily="34" charset="-122"/>
                <a:cs typeface="Arial" pitchFamily="34" charset="-120"/>
              </a:rPr>
              <a:t>CREATION CARE IN THE CLASSROOM  ·  K–5 CATHOLIC TEACHERS</a:t>
            </a:r>
            <a:endParaRPr lang="en-US" sz="900" dirty="0"/>
          </a:p>
        </p:txBody>
      </p:sp>
      <p:sp>
        <p:nvSpPr>
          <p:cNvPr id="9" name="Text 6"/>
          <p:cNvSpPr/>
          <p:nvPr/>
        </p:nvSpPr>
        <p:spPr>
          <a:xfrm>
            <a:off x="5669280" y="6547104"/>
            <a:ext cx="1828800" cy="237744"/>
          </a:xfrm>
          <a:prstGeom prst="rect">
            <a:avLst/>
          </a:prstGeom>
          <a:noFill/>
          <a:ln/>
        </p:spPr>
        <p:txBody>
          <a:bodyPr wrap="square" lIns="0" tIns="0" rIns="0" bIns="0" rtlCol="0" anchor="ctr"/>
          <a:lstStyle/>
          <a:p>
            <a:pPr algn="r" indent="0" marL="0">
              <a:buNone/>
            </a:pPr>
            <a:r>
              <a:rPr lang="en-US" sz="900" dirty="0">
                <a:solidFill>
                  <a:srgbClr val="D9CFAE"/>
                </a:solidFill>
                <a:latin typeface="Arial" pitchFamily="34" charset="0"/>
                <a:ea typeface="Arial" pitchFamily="34" charset="-122"/>
                <a:cs typeface="Arial" pitchFamily="34" charset="-120"/>
              </a:rPr>
              <a:t>28  /  30</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5">
    <p:bg>
      <p:bgPr>
        <a:solidFill>
          <a:srgbClr val="F4EFE2"/>
        </a:solidFill>
      </p:bgPr>
    </p:bg>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EF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11064240" cy="640080"/>
          </a:xfrm>
          <a:prstGeom prst="rect">
            <a:avLst/>
          </a:prstGeom>
          <a:noFill/>
        </p:spPr>
        <p:txBody>
          <a:bodyPr wrap="square">
            <a:spAutoFit/>
          </a:bodyPr>
          <a:lstStyle/>
          <a:p>
            <a:r>
              <a:rPr sz="3600" b="0" i="0">
                <a:solidFill>
                  <a:srgbClr val="1B3A2A"/>
                </a:solidFill>
                <a:latin typeface="Georgia"/>
              </a:rPr>
              <a:t>Questions</a:t>
            </a:r>
          </a:p>
        </p:txBody>
      </p:sp>
      <p:sp>
        <p:nvSpPr>
          <p:cNvPr id="4" name="TextBox 3"/>
          <p:cNvSpPr txBox="1"/>
          <p:nvPr/>
        </p:nvSpPr>
        <p:spPr>
          <a:xfrm>
            <a:off x="548640" y="1170432"/>
            <a:ext cx="11064240" cy="329184"/>
          </a:xfrm>
          <a:prstGeom prst="rect">
            <a:avLst/>
          </a:prstGeom>
          <a:noFill/>
        </p:spPr>
        <p:txBody>
          <a:bodyPr wrap="none">
            <a:spAutoFit/>
          </a:bodyPr>
          <a:lstStyle/>
          <a:p>
            <a:r>
              <a:rPr sz="1600" b="0" i="0">
                <a:solidFill>
                  <a:srgbClr val="4F7A5C"/>
                </a:solidFill>
                <a:latin typeface="Arial"/>
              </a:rPr>
              <a:t>If you leave with only three things</a:t>
            </a:r>
          </a:p>
        </p:txBody>
      </p:sp>
      <p:sp>
        <p:nvSpPr>
          <p:cNvPr id="5" name="Rounded Rectangle 4"/>
          <p:cNvSpPr/>
          <p:nvPr/>
        </p:nvSpPr>
        <p:spPr>
          <a:xfrm>
            <a:off x="548640" y="1737360"/>
            <a:ext cx="3611880" cy="3246120"/>
          </a:xfrm>
          <a:prstGeom prst="roundRect">
            <a:avLst>
              <a:gd name="adj" fmla="val 8000"/>
            </a:avLst>
          </a:prstGeom>
          <a:solidFill>
            <a:srgbClr val="FFFB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938528"/>
            <a:ext cx="3611880" cy="329184"/>
          </a:xfrm>
          <a:prstGeom prst="rect">
            <a:avLst/>
          </a:prstGeom>
          <a:noFill/>
        </p:spPr>
        <p:txBody>
          <a:bodyPr wrap="none">
            <a:spAutoFit/>
          </a:bodyPr>
          <a:lstStyle/>
          <a:p>
            <a:pPr algn="ctr"/>
            <a:r>
              <a:rPr sz="1400" b="1" i="0">
                <a:solidFill>
                  <a:srgbClr val="C4A35A"/>
                </a:solidFill>
                <a:latin typeface="Arial"/>
              </a:rPr>
              <a:t>1</a:t>
            </a:r>
          </a:p>
        </p:txBody>
      </p:sp>
      <p:sp>
        <p:nvSpPr>
          <p:cNvPr id="7" name="TextBox 6"/>
          <p:cNvSpPr txBox="1"/>
          <p:nvPr/>
        </p:nvSpPr>
        <p:spPr>
          <a:xfrm>
            <a:off x="731520" y="2304288"/>
            <a:ext cx="3246120" cy="640080"/>
          </a:xfrm>
          <a:prstGeom prst="rect">
            <a:avLst/>
          </a:prstGeom>
          <a:noFill/>
        </p:spPr>
        <p:txBody>
          <a:bodyPr wrap="square">
            <a:spAutoFit/>
          </a:bodyPr>
          <a:lstStyle/>
          <a:p>
            <a:pPr algn="ctr"/>
            <a:r>
              <a:rPr sz="2200" b="0" i="0">
                <a:solidFill>
                  <a:srgbClr val="1B3A2A"/>
                </a:solidFill>
                <a:latin typeface="Georgia"/>
              </a:rPr>
              <a:t>Praise first.</a:t>
            </a:r>
          </a:p>
        </p:txBody>
      </p:sp>
      <p:sp>
        <p:nvSpPr>
          <p:cNvPr id="8" name="TextBox 7"/>
          <p:cNvSpPr txBox="1"/>
          <p:nvPr/>
        </p:nvSpPr>
        <p:spPr>
          <a:xfrm>
            <a:off x="804672" y="3017520"/>
            <a:ext cx="3099816" cy="1645920"/>
          </a:xfrm>
          <a:prstGeom prst="rect">
            <a:avLst/>
          </a:prstGeom>
          <a:noFill/>
        </p:spPr>
        <p:txBody>
          <a:bodyPr wrap="square">
            <a:spAutoFit/>
          </a:bodyPr>
          <a:lstStyle/>
          <a:p>
            <a:pPr algn="ctr"/>
            <a:r>
              <a:rPr sz="1600" b="0" i="0">
                <a:solidFill>
                  <a:srgbClr val="4A554C"/>
                </a:solidFill>
                <a:latin typeface="Arial"/>
              </a:rPr>
              <a:t>Begin with the Song,</a:t>
            </a:r>
          </a:p>
          <a:p>
            <a:pPr algn="ctr"/>
            <a:r>
              <a:rPr sz="1600" b="0" i="0">
                <a:solidFill>
                  <a:srgbClr val="4A554C"/>
                </a:solidFill>
                <a:latin typeface="Arial"/>
              </a:rPr>
              <a:t>not with a crisis.</a:t>
            </a:r>
          </a:p>
        </p:txBody>
      </p:sp>
      <p:sp>
        <p:nvSpPr>
          <p:cNvPr id="9" name="Rounded Rectangle 8"/>
          <p:cNvSpPr/>
          <p:nvPr/>
        </p:nvSpPr>
        <p:spPr>
          <a:xfrm>
            <a:off x="4343400" y="1737360"/>
            <a:ext cx="3611880" cy="3246120"/>
          </a:xfrm>
          <a:prstGeom prst="roundRect">
            <a:avLst>
              <a:gd name="adj" fmla="val 8000"/>
            </a:avLst>
          </a:prstGeom>
          <a:solidFill>
            <a:srgbClr val="FFFB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343400" y="1938528"/>
            <a:ext cx="3611880" cy="329184"/>
          </a:xfrm>
          <a:prstGeom prst="rect">
            <a:avLst/>
          </a:prstGeom>
          <a:noFill/>
        </p:spPr>
        <p:txBody>
          <a:bodyPr wrap="none">
            <a:spAutoFit/>
          </a:bodyPr>
          <a:lstStyle/>
          <a:p>
            <a:pPr algn="ctr"/>
            <a:r>
              <a:rPr sz="1400" b="1" i="0">
                <a:solidFill>
                  <a:srgbClr val="C4A35A"/>
                </a:solidFill>
                <a:latin typeface="Arial"/>
              </a:rPr>
              <a:t>2</a:t>
            </a:r>
          </a:p>
        </p:txBody>
      </p:sp>
      <p:sp>
        <p:nvSpPr>
          <p:cNvPr id="11" name="TextBox 10"/>
          <p:cNvSpPr txBox="1"/>
          <p:nvPr/>
        </p:nvSpPr>
        <p:spPr>
          <a:xfrm>
            <a:off x="4526280" y="2304288"/>
            <a:ext cx="3246120" cy="640080"/>
          </a:xfrm>
          <a:prstGeom prst="rect">
            <a:avLst/>
          </a:prstGeom>
          <a:noFill/>
        </p:spPr>
        <p:txBody>
          <a:bodyPr wrap="square">
            <a:spAutoFit/>
          </a:bodyPr>
          <a:lstStyle/>
          <a:p>
            <a:pPr algn="ctr"/>
            <a:r>
              <a:rPr sz="2200" b="0" i="0">
                <a:solidFill>
                  <a:srgbClr val="1B3A2A"/>
                </a:solidFill>
                <a:latin typeface="Georgia"/>
              </a:rPr>
              <a:t>Practice daily.</a:t>
            </a:r>
          </a:p>
        </p:txBody>
      </p:sp>
      <p:sp>
        <p:nvSpPr>
          <p:cNvPr id="12" name="TextBox 11"/>
          <p:cNvSpPr txBox="1"/>
          <p:nvPr/>
        </p:nvSpPr>
        <p:spPr>
          <a:xfrm>
            <a:off x="4599432" y="3017520"/>
            <a:ext cx="3099816" cy="1645920"/>
          </a:xfrm>
          <a:prstGeom prst="rect">
            <a:avLst/>
          </a:prstGeom>
          <a:noFill/>
        </p:spPr>
        <p:txBody>
          <a:bodyPr wrap="square">
            <a:spAutoFit/>
          </a:bodyPr>
          <a:lstStyle/>
          <a:p>
            <a:pPr algn="ctr"/>
            <a:r>
              <a:rPr sz="1600" b="0" i="0">
                <a:solidFill>
                  <a:srgbClr val="4A554C"/>
                </a:solidFill>
                <a:latin typeface="Arial"/>
              </a:rPr>
              <a:t>A two-minute habit beats</a:t>
            </a:r>
          </a:p>
          <a:p>
            <a:pPr algn="ctr"/>
            <a:r>
              <a:rPr sz="1600" b="0" i="0">
                <a:solidFill>
                  <a:srgbClr val="4A554C"/>
                </a:solidFill>
                <a:latin typeface="Arial"/>
              </a:rPr>
              <a:t>a once-a-year unit.</a:t>
            </a:r>
          </a:p>
        </p:txBody>
      </p:sp>
      <p:sp>
        <p:nvSpPr>
          <p:cNvPr id="13" name="Rounded Rectangle 12"/>
          <p:cNvSpPr/>
          <p:nvPr/>
        </p:nvSpPr>
        <p:spPr>
          <a:xfrm>
            <a:off x="8138160" y="1737360"/>
            <a:ext cx="3611880" cy="3246120"/>
          </a:xfrm>
          <a:prstGeom prst="roundRect">
            <a:avLst>
              <a:gd name="adj" fmla="val 8000"/>
            </a:avLst>
          </a:prstGeom>
          <a:solidFill>
            <a:srgbClr val="FFFB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138160" y="1938528"/>
            <a:ext cx="3611880" cy="329184"/>
          </a:xfrm>
          <a:prstGeom prst="rect">
            <a:avLst/>
          </a:prstGeom>
          <a:noFill/>
        </p:spPr>
        <p:txBody>
          <a:bodyPr wrap="none">
            <a:spAutoFit/>
          </a:bodyPr>
          <a:lstStyle/>
          <a:p>
            <a:pPr algn="ctr"/>
            <a:r>
              <a:rPr sz="1400" b="1" i="0">
                <a:solidFill>
                  <a:srgbClr val="C4A35A"/>
                </a:solidFill>
                <a:latin typeface="Arial"/>
              </a:rPr>
              <a:t>3</a:t>
            </a:r>
          </a:p>
        </p:txBody>
      </p:sp>
      <p:sp>
        <p:nvSpPr>
          <p:cNvPr id="15" name="TextBox 14"/>
          <p:cNvSpPr txBox="1"/>
          <p:nvPr/>
        </p:nvSpPr>
        <p:spPr>
          <a:xfrm>
            <a:off x="8321040" y="2304288"/>
            <a:ext cx="3246120" cy="640080"/>
          </a:xfrm>
          <a:prstGeom prst="rect">
            <a:avLst/>
          </a:prstGeom>
          <a:noFill/>
        </p:spPr>
        <p:txBody>
          <a:bodyPr wrap="square">
            <a:spAutoFit/>
          </a:bodyPr>
          <a:lstStyle/>
          <a:p>
            <a:pPr algn="ctr"/>
            <a:r>
              <a:rPr sz="2200" b="0" i="0">
                <a:solidFill>
                  <a:srgbClr val="1B3A2A"/>
                </a:solidFill>
                <a:latin typeface="Georgia"/>
              </a:rPr>
              <a:t>Keep Christ central.</a:t>
            </a:r>
          </a:p>
        </p:txBody>
      </p:sp>
      <p:sp>
        <p:nvSpPr>
          <p:cNvPr id="16" name="TextBox 15"/>
          <p:cNvSpPr txBox="1"/>
          <p:nvPr/>
        </p:nvSpPr>
        <p:spPr>
          <a:xfrm>
            <a:off x="8394192" y="3017520"/>
            <a:ext cx="3099816" cy="1645920"/>
          </a:xfrm>
          <a:prstGeom prst="rect">
            <a:avLst/>
          </a:prstGeom>
          <a:noFill/>
        </p:spPr>
        <p:txBody>
          <a:bodyPr wrap="square">
            <a:spAutoFit/>
          </a:bodyPr>
          <a:lstStyle/>
          <a:p>
            <a:pPr algn="ctr"/>
            <a:r>
              <a:rPr sz="1600" b="0" i="0">
                <a:solidFill>
                  <a:srgbClr val="4A554C"/>
                </a:solidFill>
                <a:latin typeface="Arial"/>
              </a:rPr>
              <a:t>Francis loved creation</a:t>
            </a:r>
          </a:p>
          <a:p>
            <a:pPr algn="ctr"/>
            <a:r>
              <a:rPr sz="1600" b="0" i="0">
                <a:solidFill>
                  <a:srgbClr val="4A554C"/>
                </a:solidFill>
                <a:latin typeface="Arial"/>
              </a:rPr>
              <a:t>because he loved the Creator.</a:t>
            </a:r>
          </a:p>
        </p:txBody>
      </p:sp>
      <p:sp>
        <p:nvSpPr>
          <p:cNvPr id="17" name="TextBox 16"/>
          <p:cNvSpPr txBox="1"/>
          <p:nvPr/>
        </p:nvSpPr>
        <p:spPr>
          <a:xfrm>
            <a:off x="548640" y="5212080"/>
            <a:ext cx="11064240" cy="457200"/>
          </a:xfrm>
          <a:prstGeom prst="rect">
            <a:avLst/>
          </a:prstGeom>
          <a:noFill/>
        </p:spPr>
        <p:txBody>
          <a:bodyPr wrap="none">
            <a:spAutoFit/>
          </a:bodyPr>
          <a:lstStyle/>
          <a:p>
            <a:r>
              <a:rPr sz="1600" b="0" i="1">
                <a:solidFill>
                  <a:srgbClr val="1B3A2A"/>
                </a:solidFill>
                <a:latin typeface="Georgia"/>
              </a:rPr>
              <a:t>Praised be You, my Lord, through all Your creatures.</a:t>
            </a:r>
          </a:p>
        </p:txBody>
      </p:sp>
      <p:sp>
        <p:nvSpPr>
          <p:cNvPr id="18" name="Rectangle 17"/>
          <p:cNvSpPr/>
          <p:nvPr/>
        </p:nvSpPr>
        <p:spPr>
          <a:xfrm>
            <a:off x="502920" y="6510528"/>
            <a:ext cx="11183112" cy="13716"/>
          </a:xfrm>
          <a:prstGeom prst="rect">
            <a:avLst/>
          </a:prstGeom>
          <a:solidFill>
            <a:srgbClr val="C9C0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2920" y="6547104"/>
            <a:ext cx="8412480" cy="237744"/>
          </a:xfrm>
          <a:prstGeom prst="rect">
            <a:avLst/>
          </a:prstGeom>
          <a:noFill/>
        </p:spPr>
        <p:txBody>
          <a:bodyPr wrap="none">
            <a:spAutoFit/>
          </a:bodyPr>
          <a:lstStyle/>
          <a:p>
            <a:r>
              <a:rPr sz="900" b="0" i="0">
                <a:solidFill>
                  <a:srgbClr val="6B736C"/>
                </a:solidFill>
                <a:latin typeface="Arial"/>
              </a:rPr>
              <a:t>CREATION CARE IN THE CLASSROOM  ·  K–5 CATHOLIC TEACHERS</a:t>
            </a:r>
          </a:p>
        </p:txBody>
      </p:sp>
      <p:sp>
        <p:nvSpPr>
          <p:cNvPr id="20" name="TextBox 19"/>
          <p:cNvSpPr txBox="1"/>
          <p:nvPr/>
        </p:nvSpPr>
        <p:spPr>
          <a:xfrm>
            <a:off x="9509760" y="6547104"/>
            <a:ext cx="2176272" cy="237744"/>
          </a:xfrm>
          <a:prstGeom prst="rect">
            <a:avLst/>
          </a:prstGeom>
          <a:noFill/>
        </p:spPr>
        <p:txBody>
          <a:bodyPr wrap="none">
            <a:spAutoFit/>
          </a:bodyPr>
          <a:lstStyle/>
          <a:p>
            <a:pPr algn="r"/>
            <a:r>
              <a:rPr sz="900" b="0" i="0">
                <a:solidFill>
                  <a:srgbClr val="6B736C"/>
                </a:solidFill>
                <a:latin typeface="Arial"/>
              </a:rPr>
              <a:t>29  /  30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EF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6035040" cy="274320"/>
          </a:xfrm>
          <a:prstGeom prst="rect">
            <a:avLst/>
          </a:prstGeom>
          <a:noFill/>
        </p:spPr>
        <p:txBody>
          <a:bodyPr wrap="square">
            <a:spAutoFit/>
          </a:bodyPr>
          <a:lstStyle/>
          <a:p>
            <a:pPr algn="l"/>
            <a:r>
              <a:rPr sz="1300" b="1" i="0">
                <a:solidFill>
                  <a:srgbClr val="C4A35A"/>
                </a:solidFill>
                <a:latin typeface="Arial"/>
              </a:rPr>
              <a:t>BEFORE YOU GO</a:t>
            </a:r>
          </a:p>
        </p:txBody>
      </p:sp>
      <p:sp>
        <p:nvSpPr>
          <p:cNvPr id="4" name="TextBox 3"/>
          <p:cNvSpPr txBox="1"/>
          <p:nvPr/>
        </p:nvSpPr>
        <p:spPr>
          <a:xfrm>
            <a:off x="548640" y="914400"/>
            <a:ext cx="6035040" cy="1280160"/>
          </a:xfrm>
          <a:prstGeom prst="rect">
            <a:avLst/>
          </a:prstGeom>
          <a:noFill/>
        </p:spPr>
        <p:txBody>
          <a:bodyPr wrap="square">
            <a:spAutoFit/>
          </a:bodyPr>
          <a:lstStyle/>
          <a:p>
            <a:pPr algn="l"/>
            <a:r>
              <a:rPr sz="4000" b="0" i="0">
                <a:solidFill>
                  <a:srgbClr val="1B3A2A"/>
                </a:solidFill>
                <a:latin typeface="Georgia"/>
              </a:rPr>
              <a:t>Please take
the survey</a:t>
            </a:r>
          </a:p>
        </p:txBody>
      </p:sp>
      <p:sp>
        <p:nvSpPr>
          <p:cNvPr id="5" name="TextBox 4"/>
          <p:cNvSpPr txBox="1"/>
          <p:nvPr/>
        </p:nvSpPr>
        <p:spPr>
          <a:xfrm>
            <a:off x="548640" y="2331720"/>
            <a:ext cx="6035040" cy="822960"/>
          </a:xfrm>
          <a:prstGeom prst="rect">
            <a:avLst/>
          </a:prstGeom>
          <a:noFill/>
        </p:spPr>
        <p:txBody>
          <a:bodyPr wrap="square">
            <a:spAutoFit/>
          </a:bodyPr>
          <a:lstStyle/>
          <a:p>
            <a:pPr algn="l"/>
            <a:r>
              <a:rPr sz="1800" b="0" i="0">
                <a:solidFill>
                  <a:srgbClr val="4F7A5C"/>
                </a:solidFill>
                <a:latin typeface="Arial"/>
              </a:rPr>
              <a:t>Scan the code or tap the link.
It takes about one minute.</a:t>
            </a:r>
          </a:p>
        </p:txBody>
      </p:sp>
      <p:sp>
        <p:nvSpPr>
          <p:cNvPr id="6" name="TextBox 5"/>
          <p:cNvSpPr txBox="1"/>
          <p:nvPr/>
        </p:nvSpPr>
        <p:spPr>
          <a:xfrm>
            <a:off x="548640" y="3246120"/>
            <a:ext cx="6035040" cy="640080"/>
          </a:xfrm>
          <a:prstGeom prst="rect">
            <a:avLst/>
          </a:prstGeom>
          <a:noFill/>
        </p:spPr>
        <p:txBody>
          <a:bodyPr wrap="square">
            <a:spAutoFit/>
          </a:bodyPr>
          <a:lstStyle/>
          <a:p>
            <a:pPr algn="l"/>
            <a:r>
              <a:rPr sz="1500" b="0" i="1">
                <a:solidFill>
                  <a:srgbClr val="4A554C"/>
                </a:solidFill>
                <a:latin typeface="Arial"/>
              </a:rPr>
              <a:t>Leave this slide up while colleagues scan.</a:t>
            </a:r>
          </a:p>
        </p:txBody>
      </p:sp>
      <p:sp>
        <p:nvSpPr>
          <p:cNvPr id="7" name="Rounded Rectangle 6">
            <a:hlinkClick r:id="rId2"/>
          </p:cNvPr>
          <p:cNvSpPr/>
          <p:nvPr/>
        </p:nvSpPr>
        <p:spPr>
          <a:xfrm>
            <a:off x="548640" y="4069080"/>
            <a:ext cx="3108960" cy="530352"/>
          </a:xfrm>
          <a:prstGeom prst="roundRect">
            <a:avLst>
              <a:gd name="adj" fmla="val 15000"/>
            </a:avLst>
          </a:prstGeom>
          <a:solidFill>
            <a:srgbClr val="1B3A2A"/>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1" u="none">
                <a:solidFill>
                  <a:srgbClr val="FFFFFF"/>
                </a:solidFill>
                <a:latin typeface="Arial"/>
              </a:rPr>
              <a:t>Open the survey</a:t>
            </a:r>
          </a:p>
        </p:txBody>
      </p:sp>
      <p:sp>
        <p:nvSpPr>
          <p:cNvPr id="8" name="TextBox 7"/>
          <p:cNvSpPr txBox="1"/>
          <p:nvPr/>
        </p:nvSpPr>
        <p:spPr>
          <a:xfrm>
            <a:off x="548640" y="4754880"/>
            <a:ext cx="6035040" cy="822960"/>
          </a:xfrm>
          <a:prstGeom prst="rect">
            <a:avLst/>
          </a:prstGeom>
          <a:noFill/>
        </p:spPr>
        <p:txBody>
          <a:bodyPr wrap="square">
            <a:spAutoFit/>
          </a:bodyPr>
          <a:lstStyle/>
          <a:p>
            <a:pPr algn="l"/>
            <a:r>
              <a:rPr sz="1100" b="0" i="0">
                <a:solidFill>
                  <a:srgbClr val="4F7A5C"/>
                </a:solidFill>
                <a:latin typeface="Arial"/>
                <a:hlinkClick r:id="rId2"/>
              </a:rPr>
              <a:t>https://docs.google.com/forms/d/e/1FAIpQLSd5lC1_X4yT2Uja4ZbCoZG7He5HpTSp-irsQlJRoglL8VqGHA/viewform</a:t>
            </a:r>
          </a:p>
        </p:txBody>
      </p:sp>
      <p:sp>
        <p:nvSpPr>
          <p:cNvPr id="9" name="Rounded Rectangle 8"/>
          <p:cNvSpPr/>
          <p:nvPr/>
        </p:nvSpPr>
        <p:spPr>
          <a:xfrm>
            <a:off x="7040880" y="777240"/>
            <a:ext cx="4526280" cy="5074920"/>
          </a:xfrm>
          <a:prstGeom prst="roundRect">
            <a:avLst>
              <a:gd name="adj" fmla="val 6000"/>
            </a:avLst>
          </a:prstGeom>
          <a:solidFill>
            <a:srgbClr val="FFFFFF"/>
          </a:solidFill>
          <a:ln>
            <a:solidFill>
              <a:srgbClr val="C9C0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survey_qr.png">
            <a:hlinkClick r:id="rId2"/>
          </p:cNvPr>
          <p:cNvPicPr>
            <a:picLocks noChangeAspect="1"/>
          </p:cNvPicPr>
          <p:nvPr/>
        </p:nvPicPr>
        <p:blipFill>
          <a:blip r:embed="rId3"/>
          <a:stretch>
            <a:fillRect/>
          </a:stretch>
        </p:blipFill>
        <p:spPr>
          <a:xfrm>
            <a:off x="7360920" y="1005840"/>
            <a:ext cx="3886200" cy="3886200"/>
          </a:xfrm>
          <a:prstGeom prst="rect">
            <a:avLst/>
          </a:prstGeom>
        </p:spPr>
      </p:pic>
      <p:sp>
        <p:nvSpPr>
          <p:cNvPr id="11" name="TextBox 10"/>
          <p:cNvSpPr txBox="1"/>
          <p:nvPr/>
        </p:nvSpPr>
        <p:spPr>
          <a:xfrm>
            <a:off x="7040880" y="4983480"/>
            <a:ext cx="4526280" cy="502920"/>
          </a:xfrm>
          <a:prstGeom prst="rect">
            <a:avLst/>
          </a:prstGeom>
          <a:noFill/>
        </p:spPr>
        <p:txBody>
          <a:bodyPr wrap="square">
            <a:spAutoFit/>
          </a:bodyPr>
          <a:lstStyle/>
          <a:p>
            <a:pPr algn="ctr"/>
            <a:r>
              <a:rPr sz="1300" b="0" i="0">
                <a:solidFill>
                  <a:srgbClr val="4F7A5C"/>
                </a:solidFill>
                <a:latin typeface="Arial"/>
              </a:rPr>
              <a:t>Scan with your phone camera</a:t>
            </a:r>
          </a:p>
        </p:txBody>
      </p:sp>
      <p:sp>
        <p:nvSpPr>
          <p:cNvPr id="12" name="Rectangle 11"/>
          <p:cNvSpPr/>
          <p:nvPr/>
        </p:nvSpPr>
        <p:spPr>
          <a:xfrm>
            <a:off x="502920" y="6510528"/>
            <a:ext cx="11183112" cy="13716"/>
          </a:xfrm>
          <a:prstGeom prst="rect">
            <a:avLst/>
          </a:prstGeom>
          <a:solidFill>
            <a:srgbClr val="C9C0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6547104"/>
            <a:ext cx="8412480" cy="237744"/>
          </a:xfrm>
          <a:prstGeom prst="rect">
            <a:avLst/>
          </a:prstGeom>
          <a:noFill/>
        </p:spPr>
        <p:txBody>
          <a:bodyPr wrap="square">
            <a:spAutoFit/>
          </a:bodyPr>
          <a:lstStyle/>
          <a:p>
            <a:pPr algn="l"/>
            <a:r>
              <a:rPr sz="900" b="0" i="0">
                <a:solidFill>
                  <a:srgbClr val="6B736C"/>
                </a:solidFill>
                <a:latin typeface="Arial"/>
              </a:rPr>
              <a:t>CREATION CARE IN THE CLASSROOM  ·  K–5 CATHOLIC TEACHERS</a:t>
            </a:r>
          </a:p>
        </p:txBody>
      </p:sp>
      <p:sp>
        <p:nvSpPr>
          <p:cNvPr id="14" name="TextBox 13"/>
          <p:cNvSpPr txBox="1"/>
          <p:nvPr/>
        </p:nvSpPr>
        <p:spPr>
          <a:xfrm>
            <a:off x="9509760" y="6547104"/>
            <a:ext cx="2176272" cy="237744"/>
          </a:xfrm>
          <a:prstGeom prst="rect">
            <a:avLst/>
          </a:prstGeom>
          <a:noFill/>
        </p:spPr>
        <p:txBody>
          <a:bodyPr wrap="square">
            <a:spAutoFit/>
          </a:bodyPr>
          <a:lstStyle/>
          <a:p>
            <a:pPr algn="r"/>
            <a:r>
              <a:rPr sz="900" b="0" i="0">
                <a:solidFill>
                  <a:srgbClr val="6B736C"/>
                </a:solidFill>
                <a:latin typeface="Arial"/>
              </a:rPr>
              <a:t>30  /  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Catholic Elementary Professional Development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Creation Care in the Classroom</dc:title>
  <dc:subject>Tips and strategies for K–5 Catholic teachers, inspired by the Jubilee Year of St. Francis</dc:subject>
  <dc:creator>Lauren Sebastian</dc:creator>
  <cp:lastModifiedBy>Lauren Sebastian</cp:lastModifiedBy>
  <cp:revision>1</cp:revision>
  <dcterms:created xsi:type="dcterms:W3CDTF">2026-08-29T16:44:44Z</dcterms:created>
  <dcterms:modified xsi:type="dcterms:W3CDTF">2026-08-29T16:44:44Z</dcterms:modified>
</cp:coreProperties>
</file>